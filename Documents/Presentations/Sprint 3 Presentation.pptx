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8288000" cy="10287000"/>
  <p:notesSz cx="6858000" cy="9144000"/>
  <p:embeddedFontLst>
    <p:embeddedFont>
      <p:font typeface="Lato" charset="1" panose="020F0502020204030203"/>
      <p:regular r:id="rId50"/>
    </p:embeddedFont>
    <p:embeddedFont>
      <p:font typeface="Helios Extended Bold" charset="1" panose="02000805050000020004"/>
      <p:regular r:id="rId51"/>
    </p:embeddedFont>
    <p:embeddedFont>
      <p:font typeface="Heebo Bold" charset="1" panose="00000800000000000000"/>
      <p:regular r:id="rId52"/>
    </p:embeddedFont>
    <p:embeddedFont>
      <p:font typeface="Arimo" charset="1" panose="020B0604020202020204"/>
      <p:regular r:id="rId53"/>
    </p:embeddedFont>
    <p:embeddedFont>
      <p:font typeface="Lato Bold" charset="1" panose="020F0502020204030203"/>
      <p:regular r:id="rId56"/>
    </p:embeddedFont>
    <p:embeddedFont>
      <p:font typeface="Open Sauce" charset="1" panose="00000500000000000000"/>
      <p:regular r:id="rId57"/>
    </p:embeddedFont>
    <p:embeddedFont>
      <p:font typeface="Open Sauce Bold" charset="1" panose="00000800000000000000"/>
      <p:regular r:id="rId58"/>
    </p:embeddedFont>
    <p:embeddedFont>
      <p:font typeface="Arimo Bold" charset="1" panose="020B0704020202020204"/>
      <p:regular r:id="rId59"/>
    </p:embeddedFont>
    <p:embeddedFont>
      <p:font typeface="Canva Sans Bold" charset="1" panose="020B0803030501040103"/>
      <p:regular r:id="rId60"/>
    </p:embeddedFont>
    <p:embeddedFont>
      <p:font typeface="Canva Sans" charset="1" panose="020B0503030501040103"/>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notesMasters/notesMaster1.xml" Type="http://schemas.openxmlformats.org/officeDocument/2006/relationships/notesMaster"/><Relationship Id="rId48" Target="theme/theme2.xml" Type="http://schemas.openxmlformats.org/officeDocument/2006/relationships/theme"/><Relationship Id="rId49" Target="notesSlides/notesSlide1.xml" Type="http://schemas.openxmlformats.org/officeDocument/2006/relationships/notesSlide"/><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notesSlides/notesSlide2.xml" Type="http://schemas.openxmlformats.org/officeDocument/2006/relationships/notesSlide"/><Relationship Id="rId55" Target="notesSlides/notesSlide3.xml" Type="http://schemas.openxmlformats.org/officeDocument/2006/relationships/notesSlide"/><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still need to choose a logo and replace it with the one here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Are we including Professor Wong like he asked? I did it in case, if not, we can take it out.</a:t>
            </a:r>
          </a:p>
          <a:p>
            <a:r>
              <a:rPr lang="en-US"/>
              <a:t/>
            </a:r>
          </a:p>
          <a:p>
            <a:r>
              <a:rPr lang="en-US"/>
              <a:t>Also we need Sanket's and Sai's roles</a:t>
            </a:r>
          </a:p>
          <a:p>
            <a:r>
              <a:rPr lang="en-US"/>
              <a:t/>
            </a:r>
          </a:p>
          <a:p>
            <a:r>
              <a:rPr lang="en-US"/>
              <a:t>We also need pictures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Used a random sad man's picture to depict mental health, lmk if it works! if not, we can change 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jpeg" Type="http://schemas.openxmlformats.org/officeDocument/2006/relationships/image"/><Relationship Id="rId8"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24.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https://1drv.ms/x/c/c30f4680ccc79b8c/IQC9fztrzBx4Rrh7wy889blgAWKdZ5Khnt9L0mDcJNT6C-c" TargetMode="External" Type="http://schemas.openxmlformats.org/officeDocument/2006/relationships/hyperlink"/></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https://1drv.ms/x/c/c30f4680ccc79b8c/IQC9fztrzBx4Rrh7wy889blgAWKdZ5Khnt9L0mDcJNT6C-c" TargetMode="External" Type="http://schemas.openxmlformats.org/officeDocument/2006/relationships/hyperlink"/></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https://1drv.ms/x/c/c30f4680ccc79b8c/IQC9fztrzBx4Rrh7wy889blgAWKdZ5Khnt9L0mDcJNT6C-c" TargetMode="External" Type="http://schemas.openxmlformats.org/officeDocument/2006/relationships/hyperlink"/></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https://1drv.ms/x/c/c30f4680ccc79b8c/IQC9fztrzBx4Rrh7wy889blgAWKdZ5Khnt9L0mDcJNT6C-c" TargetMode="External" Type="http://schemas.openxmlformats.org/officeDocument/2006/relationships/hyperlink"/></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https://1drv.ms/x/c/c30f4680ccc79b8c/IQC9fztrzBx4Rrh7wy889blgAWKdZ5Khnt9L0mDcJNT6C-c" TargetMode="External" Type="http://schemas.openxmlformats.org/officeDocument/2006/relationships/hyperlink"/><Relationship Id="rId3" Target="../media/image10.png" Type="http://schemas.openxmlformats.org/officeDocument/2006/relationships/image"/><Relationship Id="rId4" Target="../media/image11.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https://1drv.ms/x/c/1b594b77649a33af/IQCfs7pzZLtGQYZFI8LnU_ZEAQQf9Dzxi0fF82KzdsxIdMg?e=AglZhR" TargetMode="External" Type="http://schemas.openxmlformats.org/officeDocument/2006/relationships/hyperlink"/><Relationship Id="rId3" Target="../media/image2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https://1drv.ms/x/c/1b594b77649a33af/IQCfs7pzZLtGQYZFI8LnU_ZEAQQf9Dzxi0fF82KzdsxIdMg?e=AglZhR" TargetMode="External" Type="http://schemas.openxmlformats.org/officeDocument/2006/relationships/hyperlink"/></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https://1drv.ms/x/c/1b594b77649a33af/IQCfs7pzZLtGQYZFI8LnU_ZEAQQf9Dzxi0fF82KzdsxIdMg?e=AglZhR" TargetMode="External" Type="http://schemas.openxmlformats.org/officeDocument/2006/relationships/hyperlink"/></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https://1drv.ms/x/c/c30f4680ccc79b8c/IQC9fztrzBx4Rrh7wy889blgAWKdZ5Khnt9L0mDcJNT6C-c" TargetMode="External" Type="http://schemas.openxmlformats.org/officeDocument/2006/relationships/hyperlink"/></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3.png" Type="http://schemas.openxmlformats.org/officeDocument/2006/relationships/image"/><Relationship Id="rId5" Target="../media/image34.png" Type="http://schemas.openxmlformats.org/officeDocument/2006/relationships/image"/><Relationship Id="rId6" Target="../embeddings/oleObject1.bin" Type="http://schemas.openxmlformats.org/officeDocument/2006/relationships/oleObjec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https://github.com/htmw/2026S-Nexus/wiki" TargetMode="External" Type="http://schemas.openxmlformats.org/officeDocument/2006/relationships/hyperlink"/></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https://youtu.be/KfUrnQxYIyY?si=NbWz5MAF7ZNi5ot7" TargetMode="External" Type="http://schemas.openxmlformats.org/officeDocument/2006/relationships/hyperlink"/></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944078" y="1326430"/>
            <a:ext cx="21203378" cy="7634140"/>
            <a:chOff x="0" y="0"/>
            <a:chExt cx="1128752" cy="406400"/>
          </a:xfrm>
        </p:grpSpPr>
        <p:sp>
          <p:nvSpPr>
            <p:cNvPr name="Freeform 3" id="3"/>
            <p:cNvSpPr/>
            <p:nvPr/>
          </p:nvSpPr>
          <p:spPr>
            <a:xfrm flipH="false" flipV="false" rot="0">
              <a:off x="0" y="0"/>
              <a:ext cx="1128752" cy="406400"/>
            </a:xfrm>
            <a:custGeom>
              <a:avLst/>
              <a:gdLst/>
              <a:ahLst/>
              <a:cxnLst/>
              <a:rect r="r" b="b" t="t" l="l"/>
              <a:pathLst>
                <a:path h="406400" w="1128752">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1128752" cy="4540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600950" y="6932479"/>
            <a:ext cx="3086100" cy="804358"/>
            <a:chOff x="0" y="0"/>
            <a:chExt cx="812800" cy="211847"/>
          </a:xfrm>
        </p:grpSpPr>
        <p:sp>
          <p:nvSpPr>
            <p:cNvPr name="Freeform 6" id="6"/>
            <p:cNvSpPr/>
            <p:nvPr/>
          </p:nvSpPr>
          <p:spPr>
            <a:xfrm flipH="false" flipV="false" rot="0">
              <a:off x="0" y="0"/>
              <a:ext cx="812800" cy="211847"/>
            </a:xfrm>
            <a:custGeom>
              <a:avLst/>
              <a:gdLst/>
              <a:ahLst/>
              <a:cxnLst/>
              <a:rect r="r" b="b" t="t" l="l"/>
              <a:pathLst>
                <a:path h="211847" w="812800">
                  <a:moveTo>
                    <a:pt x="50173" y="0"/>
                  </a:moveTo>
                  <a:lnTo>
                    <a:pt x="762627" y="0"/>
                  </a:lnTo>
                  <a:cubicBezTo>
                    <a:pt x="775934" y="0"/>
                    <a:pt x="788695" y="5286"/>
                    <a:pt x="798105" y="14695"/>
                  </a:cubicBezTo>
                  <a:cubicBezTo>
                    <a:pt x="807514" y="24105"/>
                    <a:pt x="812800" y="36866"/>
                    <a:pt x="812800" y="50173"/>
                  </a:cubicBezTo>
                  <a:lnTo>
                    <a:pt x="812800" y="161675"/>
                  </a:lnTo>
                  <a:cubicBezTo>
                    <a:pt x="812800" y="174981"/>
                    <a:pt x="807514" y="187743"/>
                    <a:pt x="798105" y="197152"/>
                  </a:cubicBezTo>
                  <a:cubicBezTo>
                    <a:pt x="788695" y="206561"/>
                    <a:pt x="775934" y="211847"/>
                    <a:pt x="762627" y="211847"/>
                  </a:cubicBezTo>
                  <a:lnTo>
                    <a:pt x="50173" y="211847"/>
                  </a:lnTo>
                  <a:cubicBezTo>
                    <a:pt x="36866" y="211847"/>
                    <a:pt x="24105" y="206561"/>
                    <a:pt x="14695" y="197152"/>
                  </a:cubicBezTo>
                  <a:cubicBezTo>
                    <a:pt x="5286" y="187743"/>
                    <a:pt x="0" y="174981"/>
                    <a:pt x="0" y="161675"/>
                  </a:cubicBezTo>
                  <a:lnTo>
                    <a:pt x="0" y="50173"/>
                  </a:lnTo>
                  <a:cubicBezTo>
                    <a:pt x="0" y="36866"/>
                    <a:pt x="5286" y="24105"/>
                    <a:pt x="14695" y="14695"/>
                  </a:cubicBezTo>
                  <a:cubicBezTo>
                    <a:pt x="24105" y="5286"/>
                    <a:pt x="36866" y="0"/>
                    <a:pt x="50173" y="0"/>
                  </a:cubicBezTo>
                  <a:close/>
                </a:path>
              </a:pathLst>
            </a:custGeom>
            <a:solidFill>
              <a:srgbClr val="006D77"/>
            </a:solidFill>
          </p:spPr>
        </p:sp>
        <p:sp>
          <p:nvSpPr>
            <p:cNvPr name="TextBox 7" id="7"/>
            <p:cNvSpPr txBox="true"/>
            <p:nvPr/>
          </p:nvSpPr>
          <p:spPr>
            <a:xfrm>
              <a:off x="0" y="-47625"/>
              <a:ext cx="812800" cy="259472"/>
            </a:xfrm>
            <a:prstGeom prst="rect">
              <a:avLst/>
            </a:prstGeom>
          </p:spPr>
          <p:txBody>
            <a:bodyPr anchor="ctr" rtlCol="false" tIns="50800" lIns="50800" bIns="50800" rIns="50800"/>
            <a:lstStyle/>
            <a:p>
              <a:pPr algn="ctr">
                <a:lnSpc>
                  <a:spcPts val="3079"/>
                </a:lnSpc>
              </a:pPr>
              <a:r>
                <a:rPr lang="en-US" sz="2199" spc="219">
                  <a:solidFill>
                    <a:srgbClr val="FFFFFF"/>
                  </a:solidFill>
                  <a:latin typeface="Lato"/>
                  <a:ea typeface="Lato"/>
                  <a:cs typeface="Lato"/>
                  <a:sym typeface="Lato"/>
                </a:rPr>
                <a:t>15 May, 2026</a:t>
              </a:r>
            </a:p>
          </p:txBody>
        </p:sp>
      </p:grpSp>
      <p:sp>
        <p:nvSpPr>
          <p:cNvPr name="Freeform 8" id="8"/>
          <p:cNvSpPr/>
          <p:nvPr/>
        </p:nvSpPr>
        <p:spPr>
          <a:xfrm flipH="false" flipV="false" rot="0">
            <a:off x="7591425" y="1188033"/>
            <a:ext cx="2889609" cy="2889609"/>
          </a:xfrm>
          <a:custGeom>
            <a:avLst/>
            <a:gdLst/>
            <a:ahLst/>
            <a:cxnLst/>
            <a:rect r="r" b="b" t="t" l="l"/>
            <a:pathLst>
              <a:path h="2889609" w="2889609">
                <a:moveTo>
                  <a:pt x="0" y="0"/>
                </a:moveTo>
                <a:lnTo>
                  <a:pt x="2889609" y="0"/>
                </a:lnTo>
                <a:lnTo>
                  <a:pt x="2889609" y="2889609"/>
                </a:lnTo>
                <a:lnTo>
                  <a:pt x="0" y="2889609"/>
                </a:lnTo>
                <a:lnTo>
                  <a:pt x="0" y="0"/>
                </a:lnTo>
                <a:close/>
              </a:path>
            </a:pathLst>
          </a:custGeom>
          <a:blipFill>
            <a:blip r:embed="rId3"/>
            <a:stretch>
              <a:fillRect l="0" t="0" r="0" b="0"/>
            </a:stretch>
          </a:blipFill>
        </p:spPr>
      </p:sp>
      <p:sp>
        <p:nvSpPr>
          <p:cNvPr name="TextBox 9" id="9"/>
          <p:cNvSpPr txBox="true"/>
          <p:nvPr/>
        </p:nvSpPr>
        <p:spPr>
          <a:xfrm rot="0">
            <a:off x="2958126" y="3659446"/>
            <a:ext cx="12371749" cy="21431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AI JOURNAL WITH SENTIMENT ANALYSIS</a:t>
            </a:r>
          </a:p>
        </p:txBody>
      </p:sp>
      <p:sp>
        <p:nvSpPr>
          <p:cNvPr name="TextBox 10" id="10"/>
          <p:cNvSpPr txBox="true"/>
          <p:nvPr/>
        </p:nvSpPr>
        <p:spPr>
          <a:xfrm rot="0">
            <a:off x="2958126" y="6149085"/>
            <a:ext cx="12371749" cy="389255"/>
          </a:xfrm>
          <a:prstGeom prst="rect">
            <a:avLst/>
          </a:prstGeom>
        </p:spPr>
        <p:txBody>
          <a:bodyPr anchor="t" rtlCol="false" tIns="0" lIns="0" bIns="0" rIns="0">
            <a:spAutoFit/>
          </a:bodyPr>
          <a:lstStyle/>
          <a:p>
            <a:pPr algn="ctr" marL="0" indent="0" lvl="0">
              <a:lnSpc>
                <a:spcPts val="3219"/>
              </a:lnSpc>
            </a:pPr>
            <a:r>
              <a:rPr lang="en-US" b="true" sz="2299" spc="229">
                <a:solidFill>
                  <a:srgbClr val="000000"/>
                </a:solidFill>
                <a:latin typeface="Heebo Bold"/>
                <a:ea typeface="Heebo Bold"/>
                <a:cs typeface="Heebo Bold"/>
                <a:sym typeface="Heebo Bold"/>
              </a:rPr>
              <a:t>SPRINT 3</a:t>
            </a:r>
          </a:p>
        </p:txBody>
      </p:sp>
      <p:sp>
        <p:nvSpPr>
          <p:cNvPr name="TextBox 11" id="11"/>
          <p:cNvSpPr txBox="true"/>
          <p:nvPr/>
        </p:nvSpPr>
        <p:spPr>
          <a:xfrm rot="0">
            <a:off x="7591425" y="4039542"/>
            <a:ext cx="2889609" cy="603250"/>
          </a:xfrm>
          <a:prstGeom prst="rect">
            <a:avLst/>
          </a:prstGeom>
        </p:spPr>
        <p:txBody>
          <a:bodyPr anchor="t" rtlCol="false" tIns="0" lIns="0" bIns="0" rIns="0">
            <a:spAutoFit/>
          </a:bodyPr>
          <a:lstStyle/>
          <a:p>
            <a:pPr algn="l">
              <a:lnSpc>
                <a:spcPts val="1679"/>
              </a:lnSpc>
            </a:pPr>
            <a:r>
              <a:rPr lang="en-US" sz="1200">
                <a:solidFill>
                  <a:srgbClr val="000000"/>
                </a:solidFill>
                <a:latin typeface="Arimo"/>
                <a:ea typeface="Arimo"/>
                <a:cs typeface="Arimo"/>
                <a:sym typeface="Arimo"/>
              </a:rPr>
              <a:t> </a:t>
            </a:r>
          </a:p>
          <a:p>
            <a:pPr algn="ctr">
              <a:lnSpc>
                <a:spcPts val="3219"/>
              </a:lnSpc>
              <a:spcBef>
                <a:spcPct val="0"/>
              </a:spcBef>
            </a:pPr>
            <a:r>
              <a:rPr lang="en-US" b="true" sz="2299" spc="229">
                <a:solidFill>
                  <a:srgbClr val="000000"/>
                </a:solidFill>
                <a:latin typeface="Heebo Bold"/>
                <a:ea typeface="Heebo Bold"/>
                <a:cs typeface="Heebo Bold"/>
                <a:sym typeface="Heebo Bold"/>
              </a:rPr>
              <a:t>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82226" y="2026804"/>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01</a:t>
            </a:r>
          </a:p>
        </p:txBody>
      </p:sp>
      <p:sp>
        <p:nvSpPr>
          <p:cNvPr name="TextBox 3" id="3"/>
          <p:cNvSpPr txBox="true"/>
          <p:nvPr/>
        </p:nvSpPr>
        <p:spPr>
          <a:xfrm rot="0">
            <a:off x="11630356" y="2026804"/>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06</a:t>
            </a:r>
          </a:p>
        </p:txBody>
      </p:sp>
      <p:sp>
        <p:nvSpPr>
          <p:cNvPr name="TextBox 4" id="4"/>
          <p:cNvSpPr txBox="true"/>
          <p:nvPr/>
        </p:nvSpPr>
        <p:spPr>
          <a:xfrm rot="0">
            <a:off x="1882226" y="352635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02</a:t>
            </a:r>
          </a:p>
        </p:txBody>
      </p:sp>
      <p:sp>
        <p:nvSpPr>
          <p:cNvPr name="TextBox 5" id="5"/>
          <p:cNvSpPr txBox="true"/>
          <p:nvPr/>
        </p:nvSpPr>
        <p:spPr>
          <a:xfrm rot="0">
            <a:off x="11630356" y="352635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07</a:t>
            </a:r>
          </a:p>
        </p:txBody>
      </p:sp>
      <p:sp>
        <p:nvSpPr>
          <p:cNvPr name="TextBox 6" id="6"/>
          <p:cNvSpPr txBox="true"/>
          <p:nvPr/>
        </p:nvSpPr>
        <p:spPr>
          <a:xfrm rot="0">
            <a:off x="1882226" y="502749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03</a:t>
            </a:r>
          </a:p>
        </p:txBody>
      </p:sp>
      <p:sp>
        <p:nvSpPr>
          <p:cNvPr name="TextBox 7" id="7"/>
          <p:cNvSpPr txBox="true"/>
          <p:nvPr/>
        </p:nvSpPr>
        <p:spPr>
          <a:xfrm rot="0">
            <a:off x="11630356" y="502749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08</a:t>
            </a:r>
          </a:p>
        </p:txBody>
      </p:sp>
      <p:sp>
        <p:nvSpPr>
          <p:cNvPr name="TextBox 8" id="8"/>
          <p:cNvSpPr txBox="true"/>
          <p:nvPr/>
        </p:nvSpPr>
        <p:spPr>
          <a:xfrm rot="0">
            <a:off x="1882226" y="3014228"/>
            <a:ext cx="7558757"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TEAM MEMBER ROLES AND RESPONSIBILITIES</a:t>
            </a:r>
          </a:p>
        </p:txBody>
      </p:sp>
      <p:sp>
        <p:nvSpPr>
          <p:cNvPr name="TextBox 9" id="9"/>
          <p:cNvSpPr txBox="true"/>
          <p:nvPr/>
        </p:nvSpPr>
        <p:spPr>
          <a:xfrm rot="0">
            <a:off x="11630356" y="3014228"/>
            <a:ext cx="5151545"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MVP</a:t>
            </a:r>
          </a:p>
        </p:txBody>
      </p:sp>
      <p:sp>
        <p:nvSpPr>
          <p:cNvPr name="TextBox 10" id="10"/>
          <p:cNvSpPr txBox="true"/>
          <p:nvPr/>
        </p:nvSpPr>
        <p:spPr>
          <a:xfrm rot="0">
            <a:off x="1882226" y="4513781"/>
            <a:ext cx="7558757"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IMP</a:t>
            </a:r>
            <a:r>
              <a:rPr lang="en-US" b="true" sz="1899" spc="189">
                <a:solidFill>
                  <a:srgbClr val="000000"/>
                </a:solidFill>
                <a:latin typeface="Heebo Bold"/>
                <a:ea typeface="Heebo Bold"/>
                <a:cs typeface="Heebo Bold"/>
                <a:sym typeface="Heebo Bold"/>
              </a:rPr>
              <a:t>ROVEMENTS MADE FROM FEEDBACK</a:t>
            </a:r>
          </a:p>
        </p:txBody>
      </p:sp>
      <p:sp>
        <p:nvSpPr>
          <p:cNvPr name="TextBox 11" id="11"/>
          <p:cNvSpPr txBox="true"/>
          <p:nvPr/>
        </p:nvSpPr>
        <p:spPr>
          <a:xfrm rot="0">
            <a:off x="11630356" y="451378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TECHNOLOGIES</a:t>
            </a:r>
          </a:p>
        </p:txBody>
      </p:sp>
      <p:sp>
        <p:nvSpPr>
          <p:cNvPr name="TextBox 12" id="12"/>
          <p:cNvSpPr txBox="true"/>
          <p:nvPr/>
        </p:nvSpPr>
        <p:spPr>
          <a:xfrm rot="0">
            <a:off x="1882226" y="601492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PROJECT DESCRIPTION</a:t>
            </a:r>
          </a:p>
        </p:txBody>
      </p:sp>
      <p:sp>
        <p:nvSpPr>
          <p:cNvPr name="TextBox 13" id="13"/>
          <p:cNvSpPr txBox="true"/>
          <p:nvPr/>
        </p:nvSpPr>
        <p:spPr>
          <a:xfrm rot="0">
            <a:off x="11630356" y="601492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ALGORITHMS</a:t>
            </a:r>
          </a:p>
        </p:txBody>
      </p:sp>
      <p:sp>
        <p:nvSpPr>
          <p:cNvPr name="TextBox 14" id="14"/>
          <p:cNvSpPr txBox="true"/>
          <p:nvPr/>
        </p:nvSpPr>
        <p:spPr>
          <a:xfrm rot="0">
            <a:off x="1882226" y="652863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04</a:t>
            </a:r>
          </a:p>
        </p:txBody>
      </p:sp>
      <p:sp>
        <p:nvSpPr>
          <p:cNvPr name="TextBox 15" id="15"/>
          <p:cNvSpPr txBox="true"/>
          <p:nvPr/>
        </p:nvSpPr>
        <p:spPr>
          <a:xfrm rot="0">
            <a:off x="11630356" y="652863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09</a:t>
            </a:r>
          </a:p>
        </p:txBody>
      </p:sp>
      <p:sp>
        <p:nvSpPr>
          <p:cNvPr name="TextBox 16" id="16"/>
          <p:cNvSpPr txBox="true"/>
          <p:nvPr/>
        </p:nvSpPr>
        <p:spPr>
          <a:xfrm rot="0">
            <a:off x="1882226" y="751606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TEAM WORKING AGREEMENT</a:t>
            </a:r>
          </a:p>
        </p:txBody>
      </p:sp>
      <p:sp>
        <p:nvSpPr>
          <p:cNvPr name="TextBox 17" id="17"/>
          <p:cNvSpPr txBox="true"/>
          <p:nvPr/>
        </p:nvSpPr>
        <p:spPr>
          <a:xfrm rot="0">
            <a:off x="11630356" y="7516061"/>
            <a:ext cx="6204700"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DIAGRAMS</a:t>
            </a:r>
          </a:p>
        </p:txBody>
      </p:sp>
      <p:sp>
        <p:nvSpPr>
          <p:cNvPr name="TextBox 18" id="18"/>
          <p:cNvSpPr txBox="true"/>
          <p:nvPr/>
        </p:nvSpPr>
        <p:spPr>
          <a:xfrm rot="0">
            <a:off x="1882226" y="802977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05</a:t>
            </a:r>
          </a:p>
        </p:txBody>
      </p:sp>
      <p:sp>
        <p:nvSpPr>
          <p:cNvPr name="TextBox 19" id="19"/>
          <p:cNvSpPr txBox="true"/>
          <p:nvPr/>
        </p:nvSpPr>
        <p:spPr>
          <a:xfrm rot="0">
            <a:off x="11630356" y="802977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10</a:t>
            </a:r>
          </a:p>
        </p:txBody>
      </p:sp>
      <p:sp>
        <p:nvSpPr>
          <p:cNvPr name="TextBox 20" id="20"/>
          <p:cNvSpPr txBox="true"/>
          <p:nvPr/>
        </p:nvSpPr>
        <p:spPr>
          <a:xfrm rot="0">
            <a:off x="1882226" y="901720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USER PERSONAS</a:t>
            </a:r>
          </a:p>
        </p:txBody>
      </p:sp>
      <p:sp>
        <p:nvSpPr>
          <p:cNvPr name="TextBox 21" id="21"/>
          <p:cNvSpPr txBox="true"/>
          <p:nvPr/>
        </p:nvSpPr>
        <p:spPr>
          <a:xfrm rot="0">
            <a:off x="11630356" y="901720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SPRINT 2 RECAP</a:t>
            </a:r>
          </a:p>
        </p:txBody>
      </p:sp>
      <p:sp>
        <p:nvSpPr>
          <p:cNvPr name="TextBox 22" id="22"/>
          <p:cNvSpPr txBox="true"/>
          <p:nvPr/>
        </p:nvSpPr>
        <p:spPr>
          <a:xfrm rot="0">
            <a:off x="2179210" y="923925"/>
            <a:ext cx="14523548" cy="741045"/>
          </a:xfrm>
          <a:prstGeom prst="rect">
            <a:avLst/>
          </a:prstGeom>
        </p:spPr>
        <p:txBody>
          <a:bodyPr anchor="t" rtlCol="false" tIns="0" lIns="0" bIns="0" rIns="0">
            <a:spAutoFit/>
          </a:bodyPr>
          <a:lstStyle/>
          <a:p>
            <a:pPr algn="ctr" marL="0" indent="0" lvl="0">
              <a:lnSpc>
                <a:spcPts val="5880"/>
              </a:lnSpc>
            </a:pPr>
            <a:r>
              <a:rPr lang="en-US" b="true" sz="4200" spc="210">
                <a:solidFill>
                  <a:srgbClr val="000000"/>
                </a:solidFill>
                <a:latin typeface="Helios Extended Bold"/>
                <a:ea typeface="Helios Extended Bold"/>
                <a:cs typeface="Helios Extended Bold"/>
                <a:sym typeface="Helios Extended Bold"/>
              </a:rPr>
              <a:t>AGENDA OVERVIEW</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882226" y="2026804"/>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11</a:t>
            </a:r>
          </a:p>
        </p:txBody>
      </p:sp>
      <p:sp>
        <p:nvSpPr>
          <p:cNvPr name="TextBox 3" id="3"/>
          <p:cNvSpPr txBox="true"/>
          <p:nvPr/>
        </p:nvSpPr>
        <p:spPr>
          <a:xfrm rot="0">
            <a:off x="11630356" y="2026804"/>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16</a:t>
            </a:r>
          </a:p>
        </p:txBody>
      </p:sp>
      <p:sp>
        <p:nvSpPr>
          <p:cNvPr name="TextBox 4" id="4"/>
          <p:cNvSpPr txBox="true"/>
          <p:nvPr/>
        </p:nvSpPr>
        <p:spPr>
          <a:xfrm rot="0">
            <a:off x="1882226" y="3633751"/>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12</a:t>
            </a:r>
          </a:p>
        </p:txBody>
      </p:sp>
      <p:sp>
        <p:nvSpPr>
          <p:cNvPr name="TextBox 5" id="5"/>
          <p:cNvSpPr txBox="true"/>
          <p:nvPr/>
        </p:nvSpPr>
        <p:spPr>
          <a:xfrm rot="0">
            <a:off x="11630356" y="352635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17</a:t>
            </a:r>
          </a:p>
        </p:txBody>
      </p:sp>
      <p:sp>
        <p:nvSpPr>
          <p:cNvPr name="TextBox 6" id="6"/>
          <p:cNvSpPr txBox="true"/>
          <p:nvPr/>
        </p:nvSpPr>
        <p:spPr>
          <a:xfrm rot="0">
            <a:off x="1882226" y="502749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13</a:t>
            </a:r>
          </a:p>
        </p:txBody>
      </p:sp>
      <p:sp>
        <p:nvSpPr>
          <p:cNvPr name="TextBox 7" id="7"/>
          <p:cNvSpPr txBox="true"/>
          <p:nvPr/>
        </p:nvSpPr>
        <p:spPr>
          <a:xfrm rot="0">
            <a:off x="11630356" y="502749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18</a:t>
            </a:r>
          </a:p>
        </p:txBody>
      </p:sp>
      <p:sp>
        <p:nvSpPr>
          <p:cNvPr name="TextBox 8" id="8"/>
          <p:cNvSpPr txBox="true"/>
          <p:nvPr/>
        </p:nvSpPr>
        <p:spPr>
          <a:xfrm rot="0">
            <a:off x="1882226" y="3014228"/>
            <a:ext cx="7558757"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PRODUCT BACKLOG</a:t>
            </a:r>
          </a:p>
        </p:txBody>
      </p:sp>
      <p:sp>
        <p:nvSpPr>
          <p:cNvPr name="TextBox 9" id="9"/>
          <p:cNvSpPr txBox="true"/>
          <p:nvPr/>
        </p:nvSpPr>
        <p:spPr>
          <a:xfrm rot="0">
            <a:off x="11630356" y="3014228"/>
            <a:ext cx="5151545"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RETROSPECTIVE</a:t>
            </a:r>
          </a:p>
        </p:txBody>
      </p:sp>
      <p:sp>
        <p:nvSpPr>
          <p:cNvPr name="TextBox 10" id="10"/>
          <p:cNvSpPr txBox="true"/>
          <p:nvPr/>
        </p:nvSpPr>
        <p:spPr>
          <a:xfrm rot="0">
            <a:off x="1778126" y="4407974"/>
            <a:ext cx="7558757"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SPRINT 1 SUMMARY</a:t>
            </a:r>
          </a:p>
        </p:txBody>
      </p:sp>
      <p:sp>
        <p:nvSpPr>
          <p:cNvPr name="TextBox 11" id="11"/>
          <p:cNvSpPr txBox="true"/>
          <p:nvPr/>
        </p:nvSpPr>
        <p:spPr>
          <a:xfrm rot="0">
            <a:off x="11630356" y="451378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PROJECT DEMO</a:t>
            </a:r>
          </a:p>
        </p:txBody>
      </p:sp>
      <p:sp>
        <p:nvSpPr>
          <p:cNvPr name="TextBox 12" id="12"/>
          <p:cNvSpPr txBox="true"/>
          <p:nvPr/>
        </p:nvSpPr>
        <p:spPr>
          <a:xfrm rot="0">
            <a:off x="1882226" y="601492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SPRINT 2 SUMMARY</a:t>
            </a:r>
          </a:p>
        </p:txBody>
      </p:sp>
      <p:sp>
        <p:nvSpPr>
          <p:cNvPr name="TextBox 13" id="13"/>
          <p:cNvSpPr txBox="true"/>
          <p:nvPr/>
        </p:nvSpPr>
        <p:spPr>
          <a:xfrm rot="0">
            <a:off x="11630356" y="601492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GITHUB</a:t>
            </a:r>
          </a:p>
        </p:txBody>
      </p:sp>
      <p:sp>
        <p:nvSpPr>
          <p:cNvPr name="TextBox 14" id="14"/>
          <p:cNvSpPr txBox="true"/>
          <p:nvPr/>
        </p:nvSpPr>
        <p:spPr>
          <a:xfrm rot="0">
            <a:off x="1882226" y="652863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14</a:t>
            </a:r>
          </a:p>
        </p:txBody>
      </p:sp>
      <p:sp>
        <p:nvSpPr>
          <p:cNvPr name="TextBox 15" id="15"/>
          <p:cNvSpPr txBox="true"/>
          <p:nvPr/>
        </p:nvSpPr>
        <p:spPr>
          <a:xfrm rot="0">
            <a:off x="11630356" y="652863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19</a:t>
            </a:r>
          </a:p>
        </p:txBody>
      </p:sp>
      <p:sp>
        <p:nvSpPr>
          <p:cNvPr name="TextBox 16" id="16"/>
          <p:cNvSpPr txBox="true"/>
          <p:nvPr/>
        </p:nvSpPr>
        <p:spPr>
          <a:xfrm rot="0">
            <a:off x="1882226" y="751606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SPRINT 3 BACKLOG</a:t>
            </a:r>
          </a:p>
        </p:txBody>
      </p:sp>
      <p:sp>
        <p:nvSpPr>
          <p:cNvPr name="TextBox 17" id="17"/>
          <p:cNvSpPr txBox="true"/>
          <p:nvPr/>
        </p:nvSpPr>
        <p:spPr>
          <a:xfrm rot="0">
            <a:off x="11630356" y="7516061"/>
            <a:ext cx="6204700"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LIVE APP DEMO</a:t>
            </a:r>
          </a:p>
        </p:txBody>
      </p:sp>
      <p:sp>
        <p:nvSpPr>
          <p:cNvPr name="TextBox 18" id="18"/>
          <p:cNvSpPr txBox="true"/>
          <p:nvPr/>
        </p:nvSpPr>
        <p:spPr>
          <a:xfrm rot="0">
            <a:off x="1882226" y="802977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15</a:t>
            </a:r>
          </a:p>
        </p:txBody>
      </p:sp>
      <p:sp>
        <p:nvSpPr>
          <p:cNvPr name="TextBox 19" id="19"/>
          <p:cNvSpPr txBox="true"/>
          <p:nvPr/>
        </p:nvSpPr>
        <p:spPr>
          <a:xfrm rot="0">
            <a:off x="11630356" y="8029776"/>
            <a:ext cx="4775418" cy="892175"/>
          </a:xfrm>
          <a:prstGeom prst="rect">
            <a:avLst/>
          </a:prstGeom>
        </p:spPr>
        <p:txBody>
          <a:bodyPr anchor="t" rtlCol="false" tIns="0" lIns="0" bIns="0" rIns="0">
            <a:spAutoFit/>
          </a:bodyPr>
          <a:lstStyle/>
          <a:p>
            <a:pPr algn="l" marL="0" indent="0" lvl="0">
              <a:lnSpc>
                <a:spcPts val="7000"/>
              </a:lnSpc>
            </a:pPr>
            <a:r>
              <a:rPr lang="en-US" b="true" sz="5000" spc="250">
                <a:solidFill>
                  <a:srgbClr val="264653"/>
                </a:solidFill>
                <a:latin typeface="Helios Extended Bold"/>
                <a:ea typeface="Helios Extended Bold"/>
                <a:cs typeface="Helios Extended Bold"/>
                <a:sym typeface="Helios Extended Bold"/>
              </a:rPr>
              <a:t>20</a:t>
            </a:r>
          </a:p>
        </p:txBody>
      </p:sp>
      <p:sp>
        <p:nvSpPr>
          <p:cNvPr name="TextBox 20" id="20"/>
          <p:cNvSpPr txBox="true"/>
          <p:nvPr/>
        </p:nvSpPr>
        <p:spPr>
          <a:xfrm rot="0">
            <a:off x="1882226" y="901720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METRICS</a:t>
            </a:r>
          </a:p>
        </p:txBody>
      </p:sp>
      <p:sp>
        <p:nvSpPr>
          <p:cNvPr name="TextBox 21" id="21"/>
          <p:cNvSpPr txBox="true"/>
          <p:nvPr/>
        </p:nvSpPr>
        <p:spPr>
          <a:xfrm rot="0">
            <a:off x="11630356" y="9017201"/>
            <a:ext cx="4775418" cy="332740"/>
          </a:xfrm>
          <a:prstGeom prst="rect">
            <a:avLst/>
          </a:prstGeom>
        </p:spPr>
        <p:txBody>
          <a:bodyPr anchor="t" rtlCol="false" tIns="0" lIns="0" bIns="0" rIns="0">
            <a:spAutoFit/>
          </a:bodyPr>
          <a:lstStyle/>
          <a:p>
            <a:pPr algn="l" marL="0" indent="0" lvl="0">
              <a:lnSpc>
                <a:spcPts val="2659"/>
              </a:lnSpc>
            </a:pPr>
            <a:r>
              <a:rPr lang="en-US" b="true" sz="1899" spc="189">
                <a:solidFill>
                  <a:srgbClr val="000000"/>
                </a:solidFill>
                <a:latin typeface="Heebo Bold"/>
                <a:ea typeface="Heebo Bold"/>
                <a:cs typeface="Heebo Bold"/>
                <a:sym typeface="Heebo Bold"/>
              </a:rPr>
              <a:t>TEAM NEXUS</a:t>
            </a:r>
          </a:p>
        </p:txBody>
      </p:sp>
      <p:sp>
        <p:nvSpPr>
          <p:cNvPr name="TextBox 22" id="22"/>
          <p:cNvSpPr txBox="true"/>
          <p:nvPr/>
        </p:nvSpPr>
        <p:spPr>
          <a:xfrm rot="0">
            <a:off x="1882226" y="923925"/>
            <a:ext cx="14523548" cy="741045"/>
          </a:xfrm>
          <a:prstGeom prst="rect">
            <a:avLst/>
          </a:prstGeom>
        </p:spPr>
        <p:txBody>
          <a:bodyPr anchor="t" rtlCol="false" tIns="0" lIns="0" bIns="0" rIns="0">
            <a:spAutoFit/>
          </a:bodyPr>
          <a:lstStyle/>
          <a:p>
            <a:pPr algn="ctr" marL="0" indent="0" lvl="0">
              <a:lnSpc>
                <a:spcPts val="5880"/>
              </a:lnSpc>
            </a:pPr>
            <a:r>
              <a:rPr lang="en-US" b="true" sz="4200" spc="210">
                <a:solidFill>
                  <a:srgbClr val="000000"/>
                </a:solidFill>
                <a:latin typeface="Helios Extended Bold"/>
                <a:ea typeface="Helios Extended Bold"/>
                <a:cs typeface="Helios Extended Bold"/>
                <a:sym typeface="Helios Extended Bold"/>
              </a:rPr>
              <a:t>AGENDA OVERVIEW CONTD.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37834" y="1947816"/>
            <a:ext cx="13352049" cy="7634140"/>
            <a:chOff x="0" y="0"/>
            <a:chExt cx="710790" cy="406400"/>
          </a:xfrm>
        </p:grpSpPr>
        <p:sp>
          <p:nvSpPr>
            <p:cNvPr name="Freeform 3" id="3"/>
            <p:cNvSpPr/>
            <p:nvPr/>
          </p:nvSpPr>
          <p:spPr>
            <a:xfrm flipH="false" flipV="false" rot="0">
              <a:off x="0" y="0"/>
              <a:ext cx="710790" cy="406400"/>
            </a:xfrm>
            <a:custGeom>
              <a:avLst/>
              <a:gdLst/>
              <a:ahLst/>
              <a:cxnLst/>
              <a:rect r="r" b="b" t="t" l="l"/>
              <a:pathLst>
                <a:path h="406400" w="710790">
                  <a:moveTo>
                    <a:pt x="507590" y="0"/>
                  </a:moveTo>
                  <a:cubicBezTo>
                    <a:pt x="619815" y="0"/>
                    <a:pt x="710790" y="90976"/>
                    <a:pt x="710790" y="203200"/>
                  </a:cubicBezTo>
                  <a:cubicBezTo>
                    <a:pt x="710790" y="315424"/>
                    <a:pt x="619815" y="406400"/>
                    <a:pt x="507590"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710790" cy="4540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906309" y="2822891"/>
            <a:ext cx="2561144" cy="2263492"/>
            <a:chOff x="0" y="0"/>
            <a:chExt cx="516362" cy="456352"/>
          </a:xfrm>
        </p:grpSpPr>
        <p:sp>
          <p:nvSpPr>
            <p:cNvPr name="Freeform 6" id="6"/>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3"/>
              <a:stretch>
                <a:fillRect l="0" t="-26711" r="0" b="-26711"/>
              </a:stretch>
            </a:blipFill>
          </p:spPr>
        </p:sp>
      </p:grpSp>
      <p:grpSp>
        <p:nvGrpSpPr>
          <p:cNvPr name="Group 7" id="7"/>
          <p:cNvGrpSpPr/>
          <p:nvPr/>
        </p:nvGrpSpPr>
        <p:grpSpPr>
          <a:xfrm rot="0">
            <a:off x="4482036" y="2822891"/>
            <a:ext cx="2561144" cy="2263492"/>
            <a:chOff x="0" y="0"/>
            <a:chExt cx="516362" cy="456352"/>
          </a:xfrm>
        </p:grpSpPr>
        <p:sp>
          <p:nvSpPr>
            <p:cNvPr name="Freeform 8" id="8"/>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4"/>
              <a:stretch>
                <a:fillRect l="0" t="-51041" r="0" b="-8"/>
              </a:stretch>
            </a:blipFill>
          </p:spPr>
        </p:sp>
      </p:grpSp>
      <p:grpSp>
        <p:nvGrpSpPr>
          <p:cNvPr name="Group 9" id="9"/>
          <p:cNvGrpSpPr/>
          <p:nvPr/>
        </p:nvGrpSpPr>
        <p:grpSpPr>
          <a:xfrm rot="0">
            <a:off x="8062362" y="2822891"/>
            <a:ext cx="2561144" cy="2263492"/>
            <a:chOff x="0" y="0"/>
            <a:chExt cx="516362" cy="456352"/>
          </a:xfrm>
        </p:grpSpPr>
        <p:sp>
          <p:nvSpPr>
            <p:cNvPr name="Freeform 10" id="10"/>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5"/>
              <a:stretch>
                <a:fillRect l="0" t="-8531" r="0" b="-46662"/>
              </a:stretch>
            </a:blipFill>
          </p:spPr>
        </p:sp>
      </p:grpSp>
      <p:grpSp>
        <p:nvGrpSpPr>
          <p:cNvPr name="Group 11" id="11"/>
          <p:cNvGrpSpPr/>
          <p:nvPr/>
        </p:nvGrpSpPr>
        <p:grpSpPr>
          <a:xfrm rot="0">
            <a:off x="906309" y="6454378"/>
            <a:ext cx="2561144" cy="2263492"/>
            <a:chOff x="0" y="0"/>
            <a:chExt cx="516362" cy="456352"/>
          </a:xfrm>
        </p:grpSpPr>
        <p:sp>
          <p:nvSpPr>
            <p:cNvPr name="Freeform 12" id="12"/>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6"/>
              <a:stretch>
                <a:fillRect l="0" t="-16482" r="0" b="-53552"/>
              </a:stretch>
            </a:blipFill>
          </p:spPr>
        </p:sp>
      </p:grpSp>
      <p:grpSp>
        <p:nvGrpSpPr>
          <p:cNvPr name="Group 13" id="13"/>
          <p:cNvGrpSpPr/>
          <p:nvPr/>
        </p:nvGrpSpPr>
        <p:grpSpPr>
          <a:xfrm rot="0">
            <a:off x="4482036" y="6454378"/>
            <a:ext cx="2561144" cy="2263492"/>
            <a:chOff x="0" y="0"/>
            <a:chExt cx="516362" cy="456352"/>
          </a:xfrm>
        </p:grpSpPr>
        <p:sp>
          <p:nvSpPr>
            <p:cNvPr name="Freeform 14" id="14"/>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7"/>
              <a:stretch>
                <a:fillRect l="-113171" t="-182233" r="-81142" b="-162328"/>
              </a:stretch>
            </a:blipFill>
          </p:spPr>
        </p:sp>
      </p:grpSp>
      <p:grpSp>
        <p:nvGrpSpPr>
          <p:cNvPr name="Group 15" id="15"/>
          <p:cNvGrpSpPr/>
          <p:nvPr/>
        </p:nvGrpSpPr>
        <p:grpSpPr>
          <a:xfrm rot="0">
            <a:off x="8062362" y="6454378"/>
            <a:ext cx="2561144" cy="2263492"/>
            <a:chOff x="0" y="0"/>
            <a:chExt cx="516362" cy="456352"/>
          </a:xfrm>
        </p:grpSpPr>
        <p:sp>
          <p:nvSpPr>
            <p:cNvPr name="Freeform 16" id="16"/>
            <p:cNvSpPr/>
            <p:nvPr/>
          </p:nvSpPr>
          <p:spPr>
            <a:xfrm flipH="false" flipV="false" rot="0">
              <a:off x="0" y="0"/>
              <a:ext cx="516362" cy="456352"/>
            </a:xfrm>
            <a:custGeom>
              <a:avLst/>
              <a:gdLst/>
              <a:ahLst/>
              <a:cxnLst/>
              <a:rect r="r" b="b" t="t" l="l"/>
              <a:pathLst>
                <a:path h="456352" w="516362">
                  <a:moveTo>
                    <a:pt x="0" y="0"/>
                  </a:moveTo>
                  <a:lnTo>
                    <a:pt x="516362" y="0"/>
                  </a:lnTo>
                  <a:lnTo>
                    <a:pt x="516362" y="456352"/>
                  </a:lnTo>
                  <a:lnTo>
                    <a:pt x="0" y="456352"/>
                  </a:lnTo>
                  <a:close/>
                </a:path>
              </a:pathLst>
            </a:custGeom>
            <a:blipFill>
              <a:blip r:embed="rId8"/>
              <a:stretch>
                <a:fillRect l="0" t="-5302" r="0" b="-5302"/>
              </a:stretch>
            </a:blipFill>
          </p:spPr>
        </p:sp>
      </p:grpSp>
      <p:sp>
        <p:nvSpPr>
          <p:cNvPr name="TextBox 17" id="17"/>
          <p:cNvSpPr txBox="true"/>
          <p:nvPr/>
        </p:nvSpPr>
        <p:spPr>
          <a:xfrm rot="0">
            <a:off x="591981" y="8860745"/>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VANESSA AGBUGBA</a:t>
            </a:r>
          </a:p>
        </p:txBody>
      </p:sp>
      <p:sp>
        <p:nvSpPr>
          <p:cNvPr name="TextBox 18" id="18"/>
          <p:cNvSpPr txBox="true"/>
          <p:nvPr/>
        </p:nvSpPr>
        <p:spPr>
          <a:xfrm rot="0">
            <a:off x="4167708" y="8860745"/>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SANKET MATROJA</a:t>
            </a:r>
          </a:p>
        </p:txBody>
      </p:sp>
      <p:sp>
        <p:nvSpPr>
          <p:cNvPr name="TextBox 19" id="19"/>
          <p:cNvSpPr txBox="true"/>
          <p:nvPr/>
        </p:nvSpPr>
        <p:spPr>
          <a:xfrm rot="0">
            <a:off x="591981" y="9197781"/>
            <a:ext cx="3189800" cy="38417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Front End Developer</a:t>
            </a:r>
          </a:p>
        </p:txBody>
      </p:sp>
      <p:sp>
        <p:nvSpPr>
          <p:cNvPr name="TextBox 20" id="20"/>
          <p:cNvSpPr txBox="true"/>
          <p:nvPr/>
        </p:nvSpPr>
        <p:spPr>
          <a:xfrm rot="0">
            <a:off x="4167708" y="9197781"/>
            <a:ext cx="3189800" cy="38417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AI Generalist</a:t>
            </a:r>
          </a:p>
        </p:txBody>
      </p:sp>
      <p:sp>
        <p:nvSpPr>
          <p:cNvPr name="TextBox 21" id="21"/>
          <p:cNvSpPr txBox="true"/>
          <p:nvPr/>
        </p:nvSpPr>
        <p:spPr>
          <a:xfrm rot="0">
            <a:off x="7748033" y="8860745"/>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SAI</a:t>
            </a:r>
          </a:p>
        </p:txBody>
      </p:sp>
      <p:sp>
        <p:nvSpPr>
          <p:cNvPr name="TextBox 22" id="22"/>
          <p:cNvSpPr txBox="true"/>
          <p:nvPr/>
        </p:nvSpPr>
        <p:spPr>
          <a:xfrm rot="0">
            <a:off x="7748033" y="9197781"/>
            <a:ext cx="3189800" cy="38417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Developer</a:t>
            </a:r>
          </a:p>
        </p:txBody>
      </p:sp>
      <p:sp>
        <p:nvSpPr>
          <p:cNvPr name="TextBox 23" id="23"/>
          <p:cNvSpPr txBox="true"/>
          <p:nvPr/>
        </p:nvSpPr>
        <p:spPr>
          <a:xfrm rot="0">
            <a:off x="591981" y="5228578"/>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KRISHNA </a:t>
            </a:r>
          </a:p>
        </p:txBody>
      </p:sp>
      <p:sp>
        <p:nvSpPr>
          <p:cNvPr name="TextBox 24" id="24"/>
          <p:cNvSpPr txBox="true"/>
          <p:nvPr/>
        </p:nvSpPr>
        <p:spPr>
          <a:xfrm rot="0">
            <a:off x="4167708" y="5228578"/>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CHINTAN KOTADIYA </a:t>
            </a:r>
          </a:p>
        </p:txBody>
      </p:sp>
      <p:sp>
        <p:nvSpPr>
          <p:cNvPr name="TextBox 25" id="25"/>
          <p:cNvSpPr txBox="true"/>
          <p:nvPr/>
        </p:nvSpPr>
        <p:spPr>
          <a:xfrm rot="0">
            <a:off x="591981" y="5498939"/>
            <a:ext cx="3189800" cy="78422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Scrum Master | Developer</a:t>
            </a:r>
          </a:p>
        </p:txBody>
      </p:sp>
      <p:sp>
        <p:nvSpPr>
          <p:cNvPr name="TextBox 26" id="26"/>
          <p:cNvSpPr txBox="true"/>
          <p:nvPr/>
        </p:nvSpPr>
        <p:spPr>
          <a:xfrm rot="0">
            <a:off x="4167708" y="5498939"/>
            <a:ext cx="3189800" cy="38417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Developer  | Tester</a:t>
            </a:r>
          </a:p>
        </p:txBody>
      </p:sp>
      <p:sp>
        <p:nvSpPr>
          <p:cNvPr name="TextBox 27" id="27"/>
          <p:cNvSpPr txBox="true"/>
          <p:nvPr/>
        </p:nvSpPr>
        <p:spPr>
          <a:xfrm rot="0">
            <a:off x="7748033" y="5228578"/>
            <a:ext cx="3189800" cy="356235"/>
          </a:xfrm>
          <a:prstGeom prst="rect">
            <a:avLst/>
          </a:prstGeom>
        </p:spPr>
        <p:txBody>
          <a:bodyPr anchor="t" rtlCol="false" tIns="0" lIns="0" bIns="0" rIns="0">
            <a:spAutoFit/>
          </a:bodyPr>
          <a:lstStyle/>
          <a:p>
            <a:pPr algn="ctr" marL="0" indent="0" lvl="0">
              <a:lnSpc>
                <a:spcPts val="2940"/>
              </a:lnSpc>
            </a:pPr>
            <a:r>
              <a:rPr lang="en-US" b="true" sz="2100" spc="210">
                <a:solidFill>
                  <a:srgbClr val="264653"/>
                </a:solidFill>
                <a:latin typeface="Heebo Bold"/>
                <a:ea typeface="Heebo Bold"/>
                <a:cs typeface="Heebo Bold"/>
                <a:sym typeface="Heebo Bold"/>
              </a:rPr>
              <a:t>RAFAELA HOLLANDA</a:t>
            </a:r>
          </a:p>
        </p:txBody>
      </p:sp>
      <p:sp>
        <p:nvSpPr>
          <p:cNvPr name="TextBox 28" id="28"/>
          <p:cNvSpPr txBox="true"/>
          <p:nvPr/>
        </p:nvSpPr>
        <p:spPr>
          <a:xfrm rot="0">
            <a:off x="7748033" y="5498939"/>
            <a:ext cx="3189800" cy="784225"/>
          </a:xfrm>
          <a:prstGeom prst="rect">
            <a:avLst/>
          </a:prstGeom>
        </p:spPr>
        <p:txBody>
          <a:bodyPr anchor="t" rtlCol="false" tIns="0" lIns="0" bIns="0" rIns="0">
            <a:spAutoFit/>
          </a:bodyPr>
          <a:lstStyle/>
          <a:p>
            <a:pPr algn="ctr" marL="0" indent="0" lvl="0">
              <a:lnSpc>
                <a:spcPts val="3200"/>
              </a:lnSpc>
            </a:pPr>
            <a:r>
              <a:rPr lang="en-US" sz="2000" spc="200">
                <a:solidFill>
                  <a:srgbClr val="000000"/>
                </a:solidFill>
                <a:latin typeface="Lato"/>
                <a:ea typeface="Lato"/>
                <a:cs typeface="Lato"/>
                <a:sym typeface="Lato"/>
              </a:rPr>
              <a:t>Team Leader | Developer</a:t>
            </a:r>
          </a:p>
        </p:txBody>
      </p:sp>
      <p:sp>
        <p:nvSpPr>
          <p:cNvPr name="TextBox 29" id="29"/>
          <p:cNvSpPr txBox="true"/>
          <p:nvPr/>
        </p:nvSpPr>
        <p:spPr>
          <a:xfrm rot="0">
            <a:off x="11328359" y="4730589"/>
            <a:ext cx="6410123" cy="2143125"/>
          </a:xfrm>
          <a:prstGeom prst="rect">
            <a:avLst/>
          </a:prstGeom>
        </p:spPr>
        <p:txBody>
          <a:bodyPr anchor="t" rtlCol="false" tIns="0" lIns="0" bIns="0" rIns="0">
            <a:spAutoFit/>
          </a:bodyPr>
          <a:lstStyle/>
          <a:p>
            <a:pPr algn="l" marL="0" indent="0" lvl="0">
              <a:lnSpc>
                <a:spcPts val="8400"/>
              </a:lnSpc>
            </a:pPr>
            <a:r>
              <a:rPr lang="en-US" b="true" sz="6000" spc="300">
                <a:solidFill>
                  <a:srgbClr val="000000"/>
                </a:solidFill>
                <a:latin typeface="Helios Extended Bold"/>
                <a:ea typeface="Helios Extended Bold"/>
                <a:cs typeface="Helios Extended Bold"/>
                <a:sym typeface="Helios Extended Bold"/>
              </a:rPr>
              <a:t>TEAM MEMBERS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23925"/>
            <a:ext cx="16230600" cy="1483995"/>
          </a:xfrm>
          <a:prstGeom prst="rect">
            <a:avLst/>
          </a:prstGeom>
        </p:spPr>
        <p:txBody>
          <a:bodyPr anchor="t" rtlCol="false" tIns="0" lIns="0" bIns="0" rIns="0">
            <a:spAutoFit/>
          </a:bodyPr>
          <a:lstStyle/>
          <a:p>
            <a:pPr algn="ctr">
              <a:lnSpc>
                <a:spcPts val="5880"/>
              </a:lnSpc>
            </a:pPr>
            <a:r>
              <a:rPr lang="en-US" b="true" sz="4200" spc="210">
                <a:solidFill>
                  <a:srgbClr val="000000"/>
                </a:solidFill>
                <a:latin typeface="Helios Extended Bold"/>
                <a:ea typeface="Helios Extended Bold"/>
                <a:cs typeface="Helios Extended Bold"/>
                <a:sym typeface="Helios Extended Bold"/>
              </a:rPr>
              <a:t>IMPROVEMENTS MADE FROM </a:t>
            </a:r>
          </a:p>
          <a:p>
            <a:pPr algn="ctr" marL="0" indent="0" lvl="0">
              <a:lnSpc>
                <a:spcPts val="5880"/>
              </a:lnSpc>
            </a:pPr>
            <a:r>
              <a:rPr lang="en-US" b="true" sz="4200" spc="210">
                <a:solidFill>
                  <a:srgbClr val="000000"/>
                </a:solidFill>
                <a:latin typeface="Helios Extended Bold"/>
                <a:ea typeface="Helios Extended Bold"/>
                <a:cs typeface="Helios Extended Bold"/>
                <a:sym typeface="Helios Extended Bold"/>
              </a:rPr>
              <a:t>PROFESSOR’S FEEDBACK</a:t>
            </a:r>
          </a:p>
        </p:txBody>
      </p:sp>
      <p:sp>
        <p:nvSpPr>
          <p:cNvPr name="Freeform 3" id="3"/>
          <p:cNvSpPr/>
          <p:nvPr/>
        </p:nvSpPr>
        <p:spPr>
          <a:xfrm flipH="false" flipV="false" rot="0">
            <a:off x="4106329" y="2969473"/>
            <a:ext cx="10075342" cy="6288827"/>
          </a:xfrm>
          <a:custGeom>
            <a:avLst/>
            <a:gdLst/>
            <a:ahLst/>
            <a:cxnLst/>
            <a:rect r="r" b="b" t="t" l="l"/>
            <a:pathLst>
              <a:path h="6288827" w="10075342">
                <a:moveTo>
                  <a:pt x="0" y="0"/>
                </a:moveTo>
                <a:lnTo>
                  <a:pt x="10075342" y="0"/>
                </a:lnTo>
                <a:lnTo>
                  <a:pt x="10075342" y="6288827"/>
                </a:lnTo>
                <a:lnTo>
                  <a:pt x="0" y="6288827"/>
                </a:lnTo>
                <a:lnTo>
                  <a:pt x="0" y="0"/>
                </a:lnTo>
                <a:close/>
              </a:path>
            </a:pathLst>
          </a:custGeom>
          <a:blipFill>
            <a:blip r:embed="rId3"/>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01007" y="0"/>
            <a:ext cx="10286993" cy="10287000"/>
            <a:chOff x="0" y="0"/>
            <a:chExt cx="2709331" cy="2709333"/>
          </a:xfrm>
        </p:grpSpPr>
        <p:sp>
          <p:nvSpPr>
            <p:cNvPr name="Freeform 3" id="3"/>
            <p:cNvSpPr/>
            <p:nvPr/>
          </p:nvSpPr>
          <p:spPr>
            <a:xfrm flipH="false" flipV="false" rot="0">
              <a:off x="0" y="0"/>
              <a:ext cx="2709331" cy="2709333"/>
            </a:xfrm>
            <a:custGeom>
              <a:avLst/>
              <a:gdLst/>
              <a:ahLst/>
              <a:cxnLst/>
              <a:rect r="r" b="b" t="t" l="l"/>
              <a:pathLst>
                <a:path h="2709333" w="2709331">
                  <a:moveTo>
                    <a:pt x="0" y="0"/>
                  </a:moveTo>
                  <a:lnTo>
                    <a:pt x="2709331" y="0"/>
                  </a:lnTo>
                  <a:lnTo>
                    <a:pt x="2709331" y="2709333"/>
                  </a:lnTo>
                  <a:lnTo>
                    <a:pt x="0" y="2709333"/>
                  </a:lnTo>
                  <a:close/>
                </a:path>
              </a:pathLst>
            </a:custGeom>
            <a:solidFill>
              <a:srgbClr val="F2F1F1">
                <a:alpha val="80000"/>
              </a:srgbClr>
            </a:solidFill>
          </p:spPr>
        </p:sp>
        <p:sp>
          <p:nvSpPr>
            <p:cNvPr name="TextBox 4" id="4"/>
            <p:cNvSpPr txBox="true"/>
            <p:nvPr/>
          </p:nvSpPr>
          <p:spPr>
            <a:xfrm>
              <a:off x="0" y="-47625"/>
              <a:ext cx="2709331" cy="275695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8001007" y="1640982"/>
            <a:ext cx="10286993" cy="7005036"/>
          </a:xfrm>
          <a:custGeom>
            <a:avLst/>
            <a:gdLst/>
            <a:ahLst/>
            <a:cxnLst/>
            <a:rect r="r" b="b" t="t" l="l"/>
            <a:pathLst>
              <a:path h="7005036" w="10286993">
                <a:moveTo>
                  <a:pt x="0" y="0"/>
                </a:moveTo>
                <a:lnTo>
                  <a:pt x="10286993" y="0"/>
                </a:lnTo>
                <a:lnTo>
                  <a:pt x="10286993" y="7005036"/>
                </a:lnTo>
                <a:lnTo>
                  <a:pt x="0" y="7005036"/>
                </a:lnTo>
                <a:lnTo>
                  <a:pt x="0" y="0"/>
                </a:lnTo>
                <a:close/>
              </a:path>
            </a:pathLst>
          </a:custGeom>
          <a:blipFill>
            <a:blip r:embed="rId2"/>
            <a:stretch>
              <a:fillRect l="0" t="0" r="0" b="0"/>
            </a:stretch>
          </a:blipFill>
        </p:spPr>
      </p:sp>
      <p:sp>
        <p:nvSpPr>
          <p:cNvPr name="TextBox 6" id="6"/>
          <p:cNvSpPr txBox="true"/>
          <p:nvPr/>
        </p:nvSpPr>
        <p:spPr>
          <a:xfrm rot="0">
            <a:off x="758831" y="4349115"/>
            <a:ext cx="6996120" cy="148399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PROJECT DESCRIPTION</a:t>
            </a:r>
          </a:p>
        </p:txBody>
      </p:sp>
      <p:grpSp>
        <p:nvGrpSpPr>
          <p:cNvPr name="Group 7" id="7"/>
          <p:cNvGrpSpPr/>
          <p:nvPr/>
        </p:nvGrpSpPr>
        <p:grpSpPr>
          <a:xfrm rot="0">
            <a:off x="143691" y="9683062"/>
            <a:ext cx="2003497" cy="422688"/>
            <a:chOff x="0" y="0"/>
            <a:chExt cx="2671330" cy="563585"/>
          </a:xfrm>
        </p:grpSpPr>
        <p:sp>
          <p:nvSpPr>
            <p:cNvPr name="Freeform 8" id="8"/>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3574" y="0"/>
            <a:ext cx="10784426" cy="10287000"/>
            <a:chOff x="0" y="0"/>
            <a:chExt cx="2840343" cy="2709333"/>
          </a:xfrm>
        </p:grpSpPr>
        <p:sp>
          <p:nvSpPr>
            <p:cNvPr name="Freeform 3" id="3"/>
            <p:cNvSpPr/>
            <p:nvPr/>
          </p:nvSpPr>
          <p:spPr>
            <a:xfrm flipH="false" flipV="false" rot="0">
              <a:off x="0" y="0"/>
              <a:ext cx="2840343" cy="2709333"/>
            </a:xfrm>
            <a:custGeom>
              <a:avLst/>
              <a:gdLst/>
              <a:ahLst/>
              <a:cxnLst/>
              <a:rect r="r" b="b" t="t" l="l"/>
              <a:pathLst>
                <a:path h="2709333" w="2840343">
                  <a:moveTo>
                    <a:pt x="0" y="0"/>
                  </a:moveTo>
                  <a:lnTo>
                    <a:pt x="2840343" y="0"/>
                  </a:lnTo>
                  <a:lnTo>
                    <a:pt x="2840343" y="2709333"/>
                  </a:lnTo>
                  <a:lnTo>
                    <a:pt x="0" y="2709333"/>
                  </a:lnTo>
                  <a:close/>
                </a:path>
              </a:pathLst>
            </a:custGeom>
            <a:solidFill>
              <a:srgbClr val="F2F1F1">
                <a:alpha val="80000"/>
              </a:srgbClr>
            </a:solidFill>
          </p:spPr>
        </p:sp>
        <p:sp>
          <p:nvSpPr>
            <p:cNvPr name="TextBox 4" id="4"/>
            <p:cNvSpPr txBox="true"/>
            <p:nvPr/>
          </p:nvSpPr>
          <p:spPr>
            <a:xfrm>
              <a:off x="0" y="-47625"/>
              <a:ext cx="2840343" cy="275695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43691" y="9683062"/>
            <a:ext cx="2003497" cy="422688"/>
            <a:chOff x="0" y="0"/>
            <a:chExt cx="2671330" cy="563585"/>
          </a:xfrm>
        </p:grpSpPr>
        <p:sp>
          <p:nvSpPr>
            <p:cNvPr name="Freeform 6" id="6"/>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TextBox 8" id="8"/>
          <p:cNvSpPr txBox="true"/>
          <p:nvPr/>
        </p:nvSpPr>
        <p:spPr>
          <a:xfrm rot="0">
            <a:off x="759143" y="4349115"/>
            <a:ext cx="6235339" cy="148399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TEAM WORKING AGREEMENT </a:t>
            </a:r>
          </a:p>
        </p:txBody>
      </p:sp>
      <p:sp>
        <p:nvSpPr>
          <p:cNvPr name="TextBox 9" id="9"/>
          <p:cNvSpPr txBox="true"/>
          <p:nvPr/>
        </p:nvSpPr>
        <p:spPr>
          <a:xfrm rot="0">
            <a:off x="7705725" y="771525"/>
            <a:ext cx="9990545" cy="4645660"/>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 </a:t>
            </a:r>
            <a:r>
              <a:rPr lang="en-US" sz="2299" spc="229">
                <a:solidFill>
                  <a:srgbClr val="000000"/>
                </a:solidFill>
                <a:latin typeface="Lato"/>
                <a:ea typeface="Lato"/>
                <a:cs typeface="Lato"/>
                <a:sym typeface="Lato"/>
              </a:rPr>
              <a:t>Primary instant meeting platform: WhatsApp </a:t>
            </a:r>
          </a:p>
          <a:p>
            <a:pPr algn="l">
              <a:lnSpc>
                <a:spcPts val="3679"/>
              </a:lnSpc>
            </a:pPr>
            <a:r>
              <a:rPr lang="en-US" sz="2299" spc="229">
                <a:solidFill>
                  <a:srgbClr val="000000"/>
                </a:solidFill>
                <a:latin typeface="Lato"/>
                <a:ea typeface="Lato"/>
                <a:cs typeface="Lato"/>
                <a:sym typeface="Lato"/>
              </a:rPr>
              <a:t>• Video Meeting: Discord </a:t>
            </a:r>
          </a:p>
          <a:p>
            <a:pPr algn="l">
              <a:lnSpc>
                <a:spcPts val="3679"/>
              </a:lnSpc>
            </a:pPr>
          </a:p>
          <a:p>
            <a:pPr algn="l">
              <a:lnSpc>
                <a:spcPts val="3679"/>
              </a:lnSpc>
            </a:pPr>
            <a:r>
              <a:rPr lang="en-US" sz="2299" spc="229">
                <a:solidFill>
                  <a:srgbClr val="000000"/>
                </a:solidFill>
                <a:latin typeface="Lato"/>
                <a:ea typeface="Lato"/>
                <a:cs typeface="Lato"/>
                <a:sym typeface="Lato"/>
              </a:rPr>
              <a:t>Team members are expected to: </a:t>
            </a:r>
          </a:p>
          <a:p>
            <a:pPr algn="l">
              <a:lnSpc>
                <a:spcPts val="3679"/>
              </a:lnSpc>
            </a:pPr>
            <a:r>
              <a:rPr lang="en-US" sz="2299" spc="229">
                <a:solidFill>
                  <a:srgbClr val="000000"/>
                </a:solidFill>
                <a:latin typeface="Lato"/>
                <a:ea typeface="Lato"/>
                <a:cs typeface="Lato"/>
                <a:sym typeface="Lato"/>
              </a:rPr>
              <a:t>• Communicate respectfully and professionally </a:t>
            </a:r>
          </a:p>
          <a:p>
            <a:pPr algn="l">
              <a:lnSpc>
                <a:spcPts val="3679"/>
              </a:lnSpc>
            </a:pPr>
            <a:r>
              <a:rPr lang="en-US" sz="2299" spc="229">
                <a:solidFill>
                  <a:srgbClr val="000000"/>
                </a:solidFill>
                <a:latin typeface="Lato"/>
                <a:ea typeface="Lato"/>
                <a:cs typeface="Lato"/>
                <a:sym typeface="Lato"/>
              </a:rPr>
              <a:t>• Respond to messages within a reasonable time frame (ideally within 24 hours) </a:t>
            </a:r>
          </a:p>
          <a:p>
            <a:pPr algn="l">
              <a:lnSpc>
                <a:spcPts val="3679"/>
              </a:lnSpc>
            </a:pPr>
            <a:r>
              <a:rPr lang="en-US" sz="2299" spc="229">
                <a:solidFill>
                  <a:srgbClr val="000000"/>
                </a:solidFill>
                <a:latin typeface="Lato"/>
                <a:ea typeface="Lato"/>
                <a:cs typeface="Lato"/>
                <a:sym typeface="Lato"/>
              </a:rPr>
              <a:t>• Share progress updates, blockers, and concerns openly </a:t>
            </a:r>
          </a:p>
          <a:p>
            <a:pPr algn="l" marL="0" indent="0" lvl="0">
              <a:lnSpc>
                <a:spcPts val="3679"/>
              </a:lnSpc>
            </a:pPr>
            <a:r>
              <a:rPr lang="en-US" sz="2299" spc="229">
                <a:solidFill>
                  <a:srgbClr val="000000"/>
                </a:solidFill>
                <a:latin typeface="Lato"/>
                <a:ea typeface="Lato"/>
                <a:cs typeface="Lato"/>
                <a:sym typeface="Lato"/>
              </a:rPr>
              <a:t>• Use the agreed communication tools for all project-related discussions</a:t>
            </a:r>
          </a:p>
        </p:txBody>
      </p:sp>
      <p:sp>
        <p:nvSpPr>
          <p:cNvPr name="TextBox 10" id="10"/>
          <p:cNvSpPr txBox="true"/>
          <p:nvPr/>
        </p:nvSpPr>
        <p:spPr>
          <a:xfrm rot="0">
            <a:off x="7705725" y="176546"/>
            <a:ext cx="7100247" cy="547368"/>
          </a:xfrm>
          <a:prstGeom prst="rect">
            <a:avLst/>
          </a:prstGeom>
        </p:spPr>
        <p:txBody>
          <a:bodyPr anchor="t" rtlCol="false" tIns="0" lIns="0" bIns="0" rIns="0">
            <a:spAutoFit/>
          </a:bodyPr>
          <a:lstStyle/>
          <a:p>
            <a:pPr algn="l" marL="0" indent="0" lvl="0">
              <a:lnSpc>
                <a:spcPts val="4480"/>
              </a:lnSpc>
            </a:pPr>
            <a:r>
              <a:rPr lang="en-US" b="true" sz="3200" spc="160">
                <a:solidFill>
                  <a:srgbClr val="000000"/>
                </a:solidFill>
                <a:latin typeface="Lato Bold"/>
                <a:ea typeface="Lato Bold"/>
                <a:cs typeface="Lato Bold"/>
                <a:sym typeface="Lato Bold"/>
              </a:rPr>
              <a:t>COMMUNICATION PLAN</a:t>
            </a:r>
          </a:p>
        </p:txBody>
      </p:sp>
      <p:sp>
        <p:nvSpPr>
          <p:cNvPr name="TextBox 11" id="11"/>
          <p:cNvSpPr txBox="true"/>
          <p:nvPr/>
        </p:nvSpPr>
        <p:spPr>
          <a:xfrm rot="0">
            <a:off x="7705725" y="5660307"/>
            <a:ext cx="7854623" cy="547368"/>
          </a:xfrm>
          <a:prstGeom prst="rect">
            <a:avLst/>
          </a:prstGeom>
        </p:spPr>
        <p:txBody>
          <a:bodyPr anchor="t" rtlCol="false" tIns="0" lIns="0" bIns="0" rIns="0">
            <a:spAutoFit/>
          </a:bodyPr>
          <a:lstStyle/>
          <a:p>
            <a:pPr algn="l" marL="0" indent="0" lvl="0">
              <a:lnSpc>
                <a:spcPts val="4480"/>
              </a:lnSpc>
            </a:pPr>
            <a:r>
              <a:rPr lang="en-US" b="true" sz="3200" spc="160">
                <a:solidFill>
                  <a:srgbClr val="000000"/>
                </a:solidFill>
                <a:latin typeface="Lato Bold"/>
                <a:ea typeface="Lato Bold"/>
                <a:cs typeface="Lato Bold"/>
                <a:sym typeface="Lato Bold"/>
              </a:rPr>
              <a:t>MEETINGS &amp; AVAILABILITY</a:t>
            </a:r>
          </a:p>
        </p:txBody>
      </p:sp>
      <p:sp>
        <p:nvSpPr>
          <p:cNvPr name="TextBox 12" id="12"/>
          <p:cNvSpPr txBox="true"/>
          <p:nvPr/>
        </p:nvSpPr>
        <p:spPr>
          <a:xfrm rot="0">
            <a:off x="7708399" y="6282566"/>
            <a:ext cx="10285073" cy="3712210"/>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The team will hold three regular sync meetings per week: </a:t>
            </a:r>
          </a:p>
          <a:p>
            <a:pPr algn="l">
              <a:lnSpc>
                <a:spcPts val="3679"/>
              </a:lnSpc>
            </a:pPr>
            <a:r>
              <a:rPr lang="en-US" sz="2299" spc="229">
                <a:solidFill>
                  <a:srgbClr val="000000"/>
                </a:solidFill>
                <a:latin typeface="Lato"/>
                <a:ea typeface="Lato"/>
                <a:cs typeface="Lato"/>
                <a:sym typeface="Lato"/>
              </a:rPr>
              <a:t>• Sunday: 10:00 AM • Tuesday: 6:30 PM • Thursday: 9:00 PM </a:t>
            </a:r>
          </a:p>
          <a:p>
            <a:pPr algn="l">
              <a:lnSpc>
                <a:spcPts val="3679"/>
              </a:lnSpc>
            </a:pPr>
          </a:p>
          <a:p>
            <a:pPr algn="l">
              <a:lnSpc>
                <a:spcPts val="3679"/>
              </a:lnSpc>
            </a:pPr>
            <a:r>
              <a:rPr lang="en-US" sz="2299" spc="229">
                <a:solidFill>
                  <a:srgbClr val="000000"/>
                </a:solidFill>
                <a:latin typeface="Lato"/>
                <a:ea typeface="Lato"/>
                <a:cs typeface="Lato"/>
                <a:sym typeface="Lato"/>
              </a:rPr>
              <a:t>Additional meetings may be scheduled as needed based on sprint requirements. Expectations:</a:t>
            </a:r>
          </a:p>
          <a:p>
            <a:pPr algn="l">
              <a:lnSpc>
                <a:spcPts val="3679"/>
              </a:lnSpc>
            </a:pPr>
            <a:r>
              <a:rPr lang="en-US" sz="2299" spc="229">
                <a:solidFill>
                  <a:srgbClr val="000000"/>
                </a:solidFill>
                <a:latin typeface="Lato"/>
                <a:ea typeface="Lato"/>
                <a:cs typeface="Lato"/>
                <a:sym typeface="Lato"/>
              </a:rPr>
              <a:t>• All members should attend scheduled meetings </a:t>
            </a:r>
          </a:p>
          <a:p>
            <a:pPr algn="l">
              <a:lnSpc>
                <a:spcPts val="3679"/>
              </a:lnSpc>
            </a:pPr>
            <a:r>
              <a:rPr lang="en-US" sz="2299" spc="229">
                <a:solidFill>
                  <a:srgbClr val="000000"/>
                </a:solidFill>
                <a:latin typeface="Lato"/>
                <a:ea typeface="Lato"/>
                <a:cs typeface="Lato"/>
                <a:sym typeface="Lato"/>
              </a:rPr>
              <a:t>• If unable to attend, members must notify the team in advance</a:t>
            </a:r>
          </a:p>
          <a:p>
            <a:pPr algn="l" marL="0" indent="0" lvl="0">
              <a:lnSpc>
                <a:spcPts val="3679"/>
              </a:lnSpc>
            </a:pPr>
            <a:r>
              <a:rPr lang="en-US" sz="2299" spc="229">
                <a:solidFill>
                  <a:srgbClr val="000000"/>
                </a:solidFill>
                <a:latin typeface="Lato"/>
                <a:ea typeface="Lato"/>
                <a:cs typeface="Lato"/>
                <a:sym typeface="Lato"/>
              </a:rPr>
              <a:t>• Meeting notes and action items will be documented and shared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3574" y="0"/>
            <a:ext cx="10784426" cy="10287000"/>
            <a:chOff x="0" y="0"/>
            <a:chExt cx="2840343" cy="2709333"/>
          </a:xfrm>
        </p:grpSpPr>
        <p:sp>
          <p:nvSpPr>
            <p:cNvPr name="Freeform 3" id="3"/>
            <p:cNvSpPr/>
            <p:nvPr/>
          </p:nvSpPr>
          <p:spPr>
            <a:xfrm flipH="false" flipV="false" rot="0">
              <a:off x="0" y="0"/>
              <a:ext cx="2840343" cy="2709333"/>
            </a:xfrm>
            <a:custGeom>
              <a:avLst/>
              <a:gdLst/>
              <a:ahLst/>
              <a:cxnLst/>
              <a:rect r="r" b="b" t="t" l="l"/>
              <a:pathLst>
                <a:path h="2709333" w="2840343">
                  <a:moveTo>
                    <a:pt x="0" y="0"/>
                  </a:moveTo>
                  <a:lnTo>
                    <a:pt x="2840343" y="0"/>
                  </a:lnTo>
                  <a:lnTo>
                    <a:pt x="2840343" y="2709333"/>
                  </a:lnTo>
                  <a:lnTo>
                    <a:pt x="0" y="2709333"/>
                  </a:lnTo>
                  <a:close/>
                </a:path>
              </a:pathLst>
            </a:custGeom>
            <a:solidFill>
              <a:srgbClr val="F2F1F1">
                <a:alpha val="80000"/>
              </a:srgbClr>
            </a:solidFill>
          </p:spPr>
        </p:sp>
        <p:sp>
          <p:nvSpPr>
            <p:cNvPr name="TextBox 4" id="4"/>
            <p:cNvSpPr txBox="true"/>
            <p:nvPr/>
          </p:nvSpPr>
          <p:spPr>
            <a:xfrm>
              <a:off x="0" y="-47625"/>
              <a:ext cx="2840343" cy="2756958"/>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7705725" y="800958"/>
            <a:ext cx="7269291" cy="3245485"/>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 T</a:t>
            </a:r>
            <a:r>
              <a:rPr lang="en-US" sz="2299" spc="229">
                <a:solidFill>
                  <a:srgbClr val="000000"/>
                </a:solidFill>
                <a:latin typeface="Lato"/>
                <a:ea typeface="Lato"/>
                <a:cs typeface="Lato"/>
                <a:sym typeface="Lato"/>
              </a:rPr>
              <a:t>ask tracking tool: Jira </a:t>
            </a:r>
          </a:p>
          <a:p>
            <a:pPr algn="l">
              <a:lnSpc>
                <a:spcPts val="3679"/>
              </a:lnSpc>
            </a:pPr>
          </a:p>
          <a:p>
            <a:pPr algn="l">
              <a:lnSpc>
                <a:spcPts val="3679"/>
              </a:lnSpc>
            </a:pPr>
            <a:r>
              <a:rPr lang="en-US" sz="2299" spc="229">
                <a:solidFill>
                  <a:srgbClr val="000000"/>
                </a:solidFill>
                <a:latin typeface="Lato"/>
                <a:ea typeface="Lato"/>
                <a:cs typeface="Lato"/>
                <a:sym typeface="Lato"/>
              </a:rPr>
              <a:t>All project tasks will be: </a:t>
            </a:r>
          </a:p>
          <a:p>
            <a:pPr algn="l">
              <a:lnSpc>
                <a:spcPts val="3679"/>
              </a:lnSpc>
            </a:pPr>
            <a:r>
              <a:rPr lang="en-US" sz="2299" spc="229">
                <a:solidFill>
                  <a:srgbClr val="000000"/>
                </a:solidFill>
                <a:latin typeface="Lato"/>
                <a:ea typeface="Lato"/>
                <a:cs typeface="Lato"/>
                <a:sym typeface="Lato"/>
              </a:rPr>
              <a:t>• Clearly defined and assigned </a:t>
            </a:r>
          </a:p>
          <a:p>
            <a:pPr algn="l">
              <a:lnSpc>
                <a:spcPts val="3679"/>
              </a:lnSpc>
            </a:pPr>
            <a:r>
              <a:rPr lang="en-US" sz="2299" spc="229">
                <a:solidFill>
                  <a:srgbClr val="000000"/>
                </a:solidFill>
                <a:latin typeface="Lato"/>
                <a:ea typeface="Lato"/>
                <a:cs typeface="Lato"/>
                <a:sym typeface="Lato"/>
              </a:rPr>
              <a:t>• Tracked through Jira </a:t>
            </a:r>
          </a:p>
          <a:p>
            <a:pPr algn="l">
              <a:lnSpc>
                <a:spcPts val="3679"/>
              </a:lnSpc>
            </a:pPr>
            <a:r>
              <a:rPr lang="en-US" sz="2299" spc="229">
                <a:solidFill>
                  <a:srgbClr val="000000"/>
                </a:solidFill>
                <a:latin typeface="Lato"/>
                <a:ea typeface="Lato"/>
                <a:cs typeface="Lato"/>
                <a:sym typeface="Lato"/>
              </a:rPr>
              <a:t>• Updated regularly to reflect progress </a:t>
            </a:r>
          </a:p>
          <a:p>
            <a:pPr algn="l" marL="0" indent="0" lvl="0">
              <a:lnSpc>
                <a:spcPts val="3679"/>
              </a:lnSpc>
            </a:pPr>
            <a:r>
              <a:rPr lang="en-US" sz="2299" spc="229">
                <a:solidFill>
                  <a:srgbClr val="000000"/>
                </a:solidFill>
                <a:latin typeface="Lato"/>
                <a:ea typeface="Lato"/>
                <a:cs typeface="Lato"/>
                <a:sym typeface="Lato"/>
              </a:rPr>
              <a:t>• Completed before agreed internal deadlines</a:t>
            </a:r>
          </a:p>
        </p:txBody>
      </p:sp>
      <p:sp>
        <p:nvSpPr>
          <p:cNvPr name="TextBox 6" id="6"/>
          <p:cNvSpPr txBox="true"/>
          <p:nvPr/>
        </p:nvSpPr>
        <p:spPr>
          <a:xfrm rot="0">
            <a:off x="7705725" y="176212"/>
            <a:ext cx="6105380" cy="547370"/>
          </a:xfrm>
          <a:prstGeom prst="rect">
            <a:avLst/>
          </a:prstGeom>
        </p:spPr>
        <p:txBody>
          <a:bodyPr anchor="t" rtlCol="false" tIns="0" lIns="0" bIns="0" rIns="0">
            <a:spAutoFit/>
          </a:bodyPr>
          <a:lstStyle/>
          <a:p>
            <a:pPr algn="l" marL="0" indent="0" lvl="0">
              <a:lnSpc>
                <a:spcPts val="4480"/>
              </a:lnSpc>
            </a:pPr>
            <a:r>
              <a:rPr lang="en-US" b="true" sz="3200" spc="160">
                <a:solidFill>
                  <a:srgbClr val="000000"/>
                </a:solidFill>
                <a:latin typeface="Lato Bold"/>
                <a:ea typeface="Lato Bold"/>
                <a:cs typeface="Lato Bold"/>
                <a:sym typeface="Lato Bold"/>
              </a:rPr>
              <a:t>TASK MANAGEMENT</a:t>
            </a:r>
          </a:p>
        </p:txBody>
      </p:sp>
      <p:sp>
        <p:nvSpPr>
          <p:cNvPr name="TextBox 7" id="7"/>
          <p:cNvSpPr txBox="true"/>
          <p:nvPr/>
        </p:nvSpPr>
        <p:spPr>
          <a:xfrm rot="0">
            <a:off x="7705725" y="4392612"/>
            <a:ext cx="7042540" cy="547370"/>
          </a:xfrm>
          <a:prstGeom prst="rect">
            <a:avLst/>
          </a:prstGeom>
        </p:spPr>
        <p:txBody>
          <a:bodyPr anchor="t" rtlCol="false" tIns="0" lIns="0" bIns="0" rIns="0">
            <a:spAutoFit/>
          </a:bodyPr>
          <a:lstStyle/>
          <a:p>
            <a:pPr algn="l" marL="0" indent="0" lvl="0">
              <a:lnSpc>
                <a:spcPts val="4480"/>
              </a:lnSpc>
            </a:pPr>
            <a:r>
              <a:rPr lang="en-US" b="true" sz="3200" spc="160">
                <a:solidFill>
                  <a:srgbClr val="000000"/>
                </a:solidFill>
                <a:latin typeface="Lato Bold"/>
                <a:ea typeface="Lato Bold"/>
                <a:cs typeface="Lato Bold"/>
                <a:sym typeface="Lato Bold"/>
              </a:rPr>
              <a:t>CONFLICT RESOLUTION</a:t>
            </a:r>
          </a:p>
        </p:txBody>
      </p:sp>
      <p:sp>
        <p:nvSpPr>
          <p:cNvPr name="TextBox 8" id="8"/>
          <p:cNvSpPr txBox="true"/>
          <p:nvPr/>
        </p:nvSpPr>
        <p:spPr>
          <a:xfrm rot="0">
            <a:off x="7705725" y="5191123"/>
            <a:ext cx="8525558" cy="4645660"/>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In the</a:t>
            </a:r>
            <a:r>
              <a:rPr lang="en-US" sz="2299" spc="229">
                <a:solidFill>
                  <a:srgbClr val="000000"/>
                </a:solidFill>
                <a:latin typeface="Lato"/>
                <a:ea typeface="Lato"/>
                <a:cs typeface="Lato"/>
                <a:sym typeface="Lato"/>
              </a:rPr>
              <a:t> event of conflict: </a:t>
            </a:r>
          </a:p>
          <a:p>
            <a:pPr algn="l">
              <a:lnSpc>
                <a:spcPts val="3679"/>
              </a:lnSpc>
            </a:pPr>
          </a:p>
          <a:p>
            <a:pPr algn="l">
              <a:lnSpc>
                <a:spcPts val="3679"/>
              </a:lnSpc>
            </a:pPr>
            <a:r>
              <a:rPr lang="en-US" sz="2299" spc="229">
                <a:solidFill>
                  <a:srgbClr val="000000"/>
                </a:solidFill>
                <a:latin typeface="Lato"/>
                <a:ea typeface="Lato"/>
                <a:cs typeface="Lato"/>
                <a:sym typeface="Lato"/>
              </a:rPr>
              <a:t>1. The concerned party should first express the issue to the team openly and respectfully</a:t>
            </a:r>
          </a:p>
          <a:p>
            <a:pPr algn="l">
              <a:lnSpc>
                <a:spcPts val="3679"/>
              </a:lnSpc>
            </a:pPr>
            <a:r>
              <a:rPr lang="en-US" sz="2299" spc="229">
                <a:solidFill>
                  <a:srgbClr val="000000"/>
                </a:solidFill>
                <a:latin typeface="Lato"/>
                <a:ea typeface="Lato"/>
                <a:cs typeface="Lato"/>
                <a:sym typeface="Lato"/>
              </a:rPr>
              <a:t>2. The team will attempt to resolve the issue collaboratively </a:t>
            </a:r>
          </a:p>
          <a:p>
            <a:pPr algn="l">
              <a:lnSpc>
                <a:spcPts val="3679"/>
              </a:lnSpc>
            </a:pPr>
            <a:r>
              <a:rPr lang="en-US" sz="2299" spc="229">
                <a:solidFill>
                  <a:srgbClr val="000000"/>
                </a:solidFill>
                <a:latin typeface="Lato"/>
                <a:ea typeface="Lato"/>
                <a:cs typeface="Lato"/>
                <a:sym typeface="Lato"/>
              </a:rPr>
              <a:t>3. If unresolved, the issue will be escalated to the Team Leader / Scrum Coordinator </a:t>
            </a:r>
          </a:p>
          <a:p>
            <a:pPr algn="l" marL="0" indent="0" lvl="0">
              <a:lnSpc>
                <a:spcPts val="3679"/>
              </a:lnSpc>
            </a:pPr>
            <a:r>
              <a:rPr lang="en-US" sz="2299" spc="229">
                <a:solidFill>
                  <a:srgbClr val="000000"/>
                </a:solidFill>
                <a:latin typeface="Lato"/>
                <a:ea typeface="Lato"/>
                <a:cs typeface="Lato"/>
                <a:sym typeface="Lato"/>
              </a:rPr>
              <a:t>4. Further escalation (e.g., to the instructor) will be considered only if necessary</a:t>
            </a:r>
          </a:p>
        </p:txBody>
      </p:sp>
      <p:grpSp>
        <p:nvGrpSpPr>
          <p:cNvPr name="Group 9" id="9"/>
          <p:cNvGrpSpPr/>
          <p:nvPr/>
        </p:nvGrpSpPr>
        <p:grpSpPr>
          <a:xfrm rot="0">
            <a:off x="143691" y="9683062"/>
            <a:ext cx="2003497" cy="422688"/>
            <a:chOff x="0" y="0"/>
            <a:chExt cx="2671330" cy="563585"/>
          </a:xfrm>
        </p:grpSpPr>
        <p:sp>
          <p:nvSpPr>
            <p:cNvPr name="Freeform 10" id="10"/>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TextBox 12" id="12"/>
          <p:cNvSpPr txBox="true"/>
          <p:nvPr/>
        </p:nvSpPr>
        <p:spPr>
          <a:xfrm rot="0">
            <a:off x="759143" y="4349115"/>
            <a:ext cx="6235339" cy="148399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TEAM WORKING AGREEMENT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503574" y="0"/>
            <a:ext cx="10784426" cy="10287000"/>
            <a:chOff x="0" y="0"/>
            <a:chExt cx="2840343" cy="2709333"/>
          </a:xfrm>
        </p:grpSpPr>
        <p:sp>
          <p:nvSpPr>
            <p:cNvPr name="Freeform 3" id="3"/>
            <p:cNvSpPr/>
            <p:nvPr/>
          </p:nvSpPr>
          <p:spPr>
            <a:xfrm flipH="false" flipV="false" rot="0">
              <a:off x="0" y="0"/>
              <a:ext cx="2840343" cy="2709333"/>
            </a:xfrm>
            <a:custGeom>
              <a:avLst/>
              <a:gdLst/>
              <a:ahLst/>
              <a:cxnLst/>
              <a:rect r="r" b="b" t="t" l="l"/>
              <a:pathLst>
                <a:path h="2709333" w="2840343">
                  <a:moveTo>
                    <a:pt x="0" y="0"/>
                  </a:moveTo>
                  <a:lnTo>
                    <a:pt x="2840343" y="0"/>
                  </a:lnTo>
                  <a:lnTo>
                    <a:pt x="2840343" y="2709333"/>
                  </a:lnTo>
                  <a:lnTo>
                    <a:pt x="0" y="2709333"/>
                  </a:lnTo>
                  <a:close/>
                </a:path>
              </a:pathLst>
            </a:custGeom>
            <a:solidFill>
              <a:srgbClr val="F2F1F1">
                <a:alpha val="80000"/>
              </a:srgbClr>
            </a:solidFill>
          </p:spPr>
        </p:sp>
        <p:sp>
          <p:nvSpPr>
            <p:cNvPr name="TextBox 4" id="4"/>
            <p:cNvSpPr txBox="true"/>
            <p:nvPr/>
          </p:nvSpPr>
          <p:spPr>
            <a:xfrm>
              <a:off x="0" y="-47625"/>
              <a:ext cx="2840343" cy="2756958"/>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7696261" y="176212"/>
            <a:ext cx="7335148" cy="1109345"/>
          </a:xfrm>
          <a:prstGeom prst="rect">
            <a:avLst/>
          </a:prstGeom>
        </p:spPr>
        <p:txBody>
          <a:bodyPr anchor="t" rtlCol="false" tIns="0" lIns="0" bIns="0" rIns="0">
            <a:spAutoFit/>
          </a:bodyPr>
          <a:lstStyle/>
          <a:p>
            <a:pPr algn="l">
              <a:lnSpc>
                <a:spcPts val="4480"/>
              </a:lnSpc>
            </a:pPr>
            <a:r>
              <a:rPr lang="en-US" b="true" sz="3200" spc="160">
                <a:solidFill>
                  <a:srgbClr val="000000"/>
                </a:solidFill>
                <a:latin typeface="Lato Bold"/>
                <a:ea typeface="Lato Bold"/>
                <a:cs typeface="Lato Bold"/>
                <a:sym typeface="Lato Bold"/>
              </a:rPr>
              <a:t>WORK EXPECTATIONS &amp; </a:t>
            </a:r>
          </a:p>
          <a:p>
            <a:pPr algn="l" marL="0" indent="0" lvl="0">
              <a:lnSpc>
                <a:spcPts val="4480"/>
              </a:lnSpc>
            </a:pPr>
            <a:r>
              <a:rPr lang="en-US" b="true" sz="3200" spc="160">
                <a:solidFill>
                  <a:srgbClr val="000000"/>
                </a:solidFill>
                <a:latin typeface="Lato Bold"/>
                <a:ea typeface="Lato Bold"/>
                <a:cs typeface="Lato Bold"/>
                <a:sym typeface="Lato Bold"/>
              </a:rPr>
              <a:t>DEFINITION OF DONE</a:t>
            </a:r>
          </a:p>
        </p:txBody>
      </p:sp>
      <p:sp>
        <p:nvSpPr>
          <p:cNvPr name="TextBox 6" id="6"/>
          <p:cNvSpPr txBox="true"/>
          <p:nvPr/>
        </p:nvSpPr>
        <p:spPr>
          <a:xfrm rot="0">
            <a:off x="7696261" y="1566671"/>
            <a:ext cx="8729777" cy="6045835"/>
          </a:xfrm>
          <a:prstGeom prst="rect">
            <a:avLst/>
          </a:prstGeom>
        </p:spPr>
        <p:txBody>
          <a:bodyPr anchor="t" rtlCol="false" tIns="0" lIns="0" bIns="0" rIns="0">
            <a:spAutoFit/>
          </a:bodyPr>
          <a:lstStyle/>
          <a:p>
            <a:pPr algn="l">
              <a:lnSpc>
                <a:spcPts val="3679"/>
              </a:lnSpc>
            </a:pPr>
            <a:r>
              <a:rPr lang="en-US" sz="2299" spc="229">
                <a:solidFill>
                  <a:srgbClr val="000000"/>
                </a:solidFill>
                <a:latin typeface="Lato"/>
                <a:ea typeface="Lato"/>
                <a:cs typeface="Lato"/>
                <a:sym typeface="Lato"/>
              </a:rPr>
              <a:t>Each task is considered “Done” when: </a:t>
            </a:r>
          </a:p>
          <a:p>
            <a:pPr algn="l">
              <a:lnSpc>
                <a:spcPts val="3679"/>
              </a:lnSpc>
            </a:pPr>
          </a:p>
          <a:p>
            <a:pPr algn="l">
              <a:lnSpc>
                <a:spcPts val="3679"/>
              </a:lnSpc>
            </a:pPr>
            <a:r>
              <a:rPr lang="en-US" sz="2299" spc="229">
                <a:solidFill>
                  <a:srgbClr val="000000"/>
                </a:solidFill>
                <a:latin typeface="Lato"/>
                <a:ea typeface="Lato"/>
                <a:cs typeface="Lato"/>
                <a:sym typeface="Lato"/>
              </a:rPr>
              <a:t>• It meets the agreed acceptance criteria </a:t>
            </a:r>
          </a:p>
          <a:p>
            <a:pPr algn="l">
              <a:lnSpc>
                <a:spcPts val="3679"/>
              </a:lnSpc>
            </a:pPr>
            <a:r>
              <a:rPr lang="en-US" sz="2299" spc="229">
                <a:solidFill>
                  <a:srgbClr val="000000"/>
                </a:solidFill>
                <a:latin typeface="Lato"/>
                <a:ea typeface="Lato"/>
                <a:cs typeface="Lato"/>
                <a:sym typeface="Lato"/>
              </a:rPr>
              <a:t>• It is reviewed by at least one other team member (when applicable) </a:t>
            </a:r>
          </a:p>
          <a:p>
            <a:pPr algn="l">
              <a:lnSpc>
                <a:spcPts val="3679"/>
              </a:lnSpc>
            </a:pPr>
            <a:r>
              <a:rPr lang="en-US" sz="2299" spc="229">
                <a:solidFill>
                  <a:srgbClr val="000000"/>
                </a:solidFill>
                <a:latin typeface="Lato"/>
                <a:ea typeface="Lato"/>
                <a:cs typeface="Lato"/>
                <a:sym typeface="Lato"/>
              </a:rPr>
              <a:t>• Code runs without critical errors </a:t>
            </a:r>
          </a:p>
          <a:p>
            <a:pPr algn="l">
              <a:lnSpc>
                <a:spcPts val="3679"/>
              </a:lnSpc>
            </a:pPr>
            <a:r>
              <a:rPr lang="en-US" sz="2299" spc="229">
                <a:solidFill>
                  <a:srgbClr val="000000"/>
                </a:solidFill>
                <a:latin typeface="Lato"/>
                <a:ea typeface="Lato"/>
                <a:cs typeface="Lato"/>
                <a:sym typeface="Lato"/>
              </a:rPr>
              <a:t>• Relevant documentation is updated </a:t>
            </a:r>
          </a:p>
          <a:p>
            <a:pPr algn="l">
              <a:lnSpc>
                <a:spcPts val="3679"/>
              </a:lnSpc>
            </a:pPr>
            <a:r>
              <a:rPr lang="en-US" sz="2299" spc="229">
                <a:solidFill>
                  <a:srgbClr val="000000"/>
                </a:solidFill>
                <a:latin typeface="Lato"/>
                <a:ea typeface="Lato"/>
                <a:cs typeface="Lato"/>
                <a:sym typeface="Lato"/>
              </a:rPr>
              <a:t>• Changes are committed to the shared repository </a:t>
            </a:r>
          </a:p>
          <a:p>
            <a:pPr algn="l">
              <a:lnSpc>
                <a:spcPts val="3679"/>
              </a:lnSpc>
            </a:pPr>
          </a:p>
          <a:p>
            <a:pPr algn="l">
              <a:lnSpc>
                <a:spcPts val="3679"/>
              </a:lnSpc>
            </a:pPr>
            <a:r>
              <a:rPr lang="en-US" sz="2299" spc="229">
                <a:solidFill>
                  <a:srgbClr val="000000"/>
                </a:solidFill>
                <a:latin typeface="Lato"/>
                <a:ea typeface="Lato"/>
                <a:cs typeface="Lato"/>
                <a:sym typeface="Lato"/>
              </a:rPr>
              <a:t>Team members are responsible for:</a:t>
            </a:r>
          </a:p>
          <a:p>
            <a:pPr algn="l">
              <a:lnSpc>
                <a:spcPts val="3679"/>
              </a:lnSpc>
            </a:pPr>
            <a:r>
              <a:rPr lang="en-US" sz="2299" spc="229">
                <a:solidFill>
                  <a:srgbClr val="000000"/>
                </a:solidFill>
                <a:latin typeface="Lato"/>
                <a:ea typeface="Lato"/>
                <a:cs typeface="Lato"/>
                <a:sym typeface="Lato"/>
              </a:rPr>
              <a:t>• Completing assigned work on time </a:t>
            </a:r>
          </a:p>
          <a:p>
            <a:pPr algn="l">
              <a:lnSpc>
                <a:spcPts val="3679"/>
              </a:lnSpc>
            </a:pPr>
            <a:r>
              <a:rPr lang="en-US" sz="2299" spc="229">
                <a:solidFill>
                  <a:srgbClr val="000000"/>
                </a:solidFill>
                <a:latin typeface="Lato"/>
                <a:ea typeface="Lato"/>
                <a:cs typeface="Lato"/>
                <a:sym typeface="Lato"/>
              </a:rPr>
              <a:t>• Communicating blockers early </a:t>
            </a:r>
          </a:p>
          <a:p>
            <a:pPr algn="l" marL="0" indent="0" lvl="0">
              <a:lnSpc>
                <a:spcPts val="3679"/>
              </a:lnSpc>
            </a:pPr>
            <a:r>
              <a:rPr lang="en-US" sz="2299" spc="229">
                <a:solidFill>
                  <a:srgbClr val="000000"/>
                </a:solidFill>
                <a:latin typeface="Lato"/>
                <a:ea typeface="Lato"/>
                <a:cs typeface="Lato"/>
                <a:sym typeface="Lato"/>
              </a:rPr>
              <a:t>• Supporting teammates when needed</a:t>
            </a:r>
          </a:p>
        </p:txBody>
      </p:sp>
      <p:sp>
        <p:nvSpPr>
          <p:cNvPr name="TextBox 7" id="7"/>
          <p:cNvSpPr txBox="true"/>
          <p:nvPr/>
        </p:nvSpPr>
        <p:spPr>
          <a:xfrm rot="0">
            <a:off x="759143" y="4349115"/>
            <a:ext cx="6235339" cy="148399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TEAM WORKING AGREEMENT </a:t>
            </a:r>
          </a:p>
        </p:txBody>
      </p:sp>
      <p:grpSp>
        <p:nvGrpSpPr>
          <p:cNvPr name="Group 8" id="8"/>
          <p:cNvGrpSpPr/>
          <p:nvPr/>
        </p:nvGrpSpPr>
        <p:grpSpPr>
          <a:xfrm rot="0">
            <a:off x="143691" y="9683062"/>
            <a:ext cx="2003497" cy="422688"/>
            <a:chOff x="0" y="0"/>
            <a:chExt cx="2671330" cy="563585"/>
          </a:xfrm>
        </p:grpSpPr>
        <p:sp>
          <p:nvSpPr>
            <p:cNvPr name="Freeform 9" id="9"/>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111644" y="630556"/>
            <a:ext cx="6694725" cy="691514"/>
          </a:xfrm>
          <a:prstGeom prst="rect">
            <a:avLst/>
          </a:prstGeom>
        </p:spPr>
        <p:txBody>
          <a:bodyPr anchor="t" rtlCol="false" tIns="0" lIns="0" bIns="0" rIns="0">
            <a:spAutoFit/>
          </a:bodyPr>
          <a:lstStyle/>
          <a:p>
            <a:pPr algn="l" marL="0" indent="0" lvl="0">
              <a:lnSpc>
                <a:spcPts val="5460"/>
              </a:lnSpc>
            </a:pPr>
            <a:r>
              <a:rPr lang="en-US" b="true" sz="3900" spc="195">
                <a:solidFill>
                  <a:srgbClr val="000000"/>
                </a:solidFill>
                <a:latin typeface="Helios Extended Bold"/>
                <a:ea typeface="Helios Extended Bold"/>
                <a:cs typeface="Helios Extended Bold"/>
                <a:sym typeface="Helios Extended Bold"/>
              </a:rPr>
              <a:t>STUDENT PERSONA</a:t>
            </a:r>
          </a:p>
        </p:txBody>
      </p:sp>
      <p:sp>
        <p:nvSpPr>
          <p:cNvPr name="TextBox 6" id="6"/>
          <p:cNvSpPr txBox="true"/>
          <p:nvPr/>
        </p:nvSpPr>
        <p:spPr>
          <a:xfrm rot="0">
            <a:off x="6948851" y="579435"/>
            <a:ext cx="10716310" cy="10037445"/>
          </a:xfrm>
          <a:prstGeom prst="rect">
            <a:avLst/>
          </a:prstGeom>
        </p:spPr>
        <p:txBody>
          <a:bodyPr anchor="t" rtlCol="false" tIns="0" lIns="0" bIns="0" rIns="0">
            <a:spAutoFit/>
          </a:bodyPr>
          <a:lstStyle/>
          <a:p>
            <a:pPr algn="l">
              <a:lnSpc>
                <a:spcPts val="3360"/>
              </a:lnSpc>
            </a:pPr>
            <a:r>
              <a:rPr lang="en-US" sz="2100" spc="210" b="true">
                <a:solidFill>
                  <a:srgbClr val="000000"/>
                </a:solidFill>
                <a:latin typeface="Lato Bold"/>
                <a:ea typeface="Lato Bold"/>
                <a:cs typeface="Lato Bold"/>
                <a:sym typeface="Lato Bold"/>
              </a:rPr>
              <a:t>Age</a:t>
            </a:r>
            <a:r>
              <a:rPr lang="en-US" sz="2100" spc="210">
                <a:solidFill>
                  <a:srgbClr val="000000"/>
                </a:solidFill>
                <a:latin typeface="Lato"/>
                <a:ea typeface="Lato"/>
                <a:cs typeface="Lato"/>
                <a:sym typeface="Lato"/>
              </a:rPr>
              <a:t>: 21</a:t>
            </a:r>
          </a:p>
          <a:p>
            <a:pPr algn="l">
              <a:lnSpc>
                <a:spcPts val="3360"/>
              </a:lnSpc>
            </a:pPr>
            <a:r>
              <a:rPr lang="en-US" sz="2100" spc="210" b="true">
                <a:solidFill>
                  <a:srgbClr val="000000"/>
                </a:solidFill>
                <a:latin typeface="Lato Bold"/>
                <a:ea typeface="Lato Bold"/>
                <a:cs typeface="Lato Bold"/>
                <a:sym typeface="Lato Bold"/>
              </a:rPr>
              <a:t>Gender:</a:t>
            </a:r>
            <a:r>
              <a:rPr lang="en-US" sz="2100" spc="210">
                <a:solidFill>
                  <a:srgbClr val="000000"/>
                </a:solidFill>
                <a:latin typeface="Lato"/>
                <a:ea typeface="Lato"/>
                <a:cs typeface="Lato"/>
                <a:sym typeface="Lato"/>
              </a:rPr>
              <a:t> Female</a:t>
            </a:r>
          </a:p>
          <a:p>
            <a:pPr algn="l">
              <a:lnSpc>
                <a:spcPts val="3360"/>
              </a:lnSpc>
            </a:pPr>
            <a:r>
              <a:rPr lang="en-US" sz="2100" spc="210" b="true">
                <a:solidFill>
                  <a:srgbClr val="000000"/>
                </a:solidFill>
                <a:latin typeface="Lato Bold"/>
                <a:ea typeface="Lato Bold"/>
                <a:cs typeface="Lato Bold"/>
                <a:sym typeface="Lato Bold"/>
              </a:rPr>
              <a:t>Occupation:</a:t>
            </a:r>
            <a:r>
              <a:rPr lang="en-US" sz="2100" spc="210">
                <a:solidFill>
                  <a:srgbClr val="000000"/>
                </a:solidFill>
                <a:latin typeface="Lato"/>
                <a:ea typeface="Lato"/>
                <a:cs typeface="Lato"/>
                <a:sym typeface="Lato"/>
              </a:rPr>
              <a:t> Undergraduate Computer Science Student</a:t>
            </a:r>
          </a:p>
          <a:p>
            <a:pPr algn="l">
              <a:lnSpc>
                <a:spcPts val="3360"/>
              </a:lnSpc>
            </a:pPr>
          </a:p>
          <a:p>
            <a:pPr algn="l">
              <a:lnSpc>
                <a:spcPts val="3360"/>
              </a:lnSpc>
            </a:pPr>
            <a:r>
              <a:rPr lang="en-US" sz="2100" spc="210">
                <a:solidFill>
                  <a:srgbClr val="000000"/>
                </a:solidFill>
                <a:latin typeface="Lato"/>
                <a:ea typeface="Lato"/>
                <a:cs typeface="Lato"/>
                <a:sym typeface="Lato"/>
              </a:rPr>
              <a:t>Sarah is a full-time college student balancing coursework, part-time work, and social commitments. During exam periods, her stress levels rise significantly, but she often ignores the early warning signs of burnout. She occasionally journals but finds long entries overwhelming and inconsistent. She wants a simple way to reflect daily without spending too much time.</a:t>
            </a:r>
          </a:p>
          <a:p>
            <a:pPr algn="l">
              <a:lnSpc>
                <a:spcPts val="3360"/>
              </a:lnSpc>
            </a:pPr>
          </a:p>
          <a:p>
            <a:pPr algn="l">
              <a:lnSpc>
                <a:spcPts val="3360"/>
              </a:lnSpc>
            </a:pPr>
            <a:r>
              <a:rPr lang="en-US" sz="2100" spc="210">
                <a:solidFill>
                  <a:srgbClr val="000000"/>
                </a:solidFill>
                <a:latin typeface="Lato"/>
                <a:ea typeface="Lato"/>
                <a:cs typeface="Lato"/>
                <a:sym typeface="Lato"/>
              </a:rPr>
              <a:t>Challenges:</a:t>
            </a:r>
          </a:p>
          <a:p>
            <a:pPr algn="l" marL="453390" indent="-226695" lvl="1">
              <a:lnSpc>
                <a:spcPts val="3360"/>
              </a:lnSpc>
              <a:buFont typeface="Arial"/>
              <a:buChar char="•"/>
            </a:pPr>
            <a:r>
              <a:rPr lang="en-US" sz="2100" spc="210">
                <a:solidFill>
                  <a:srgbClr val="000000"/>
                </a:solidFill>
                <a:latin typeface="Lato"/>
                <a:ea typeface="Lato"/>
                <a:cs typeface="Lato"/>
                <a:sym typeface="Lato"/>
              </a:rPr>
              <a:t>Experiences fluctuating stress levels during the semester</a:t>
            </a:r>
          </a:p>
          <a:p>
            <a:pPr algn="l" marL="453390" indent="-226695" lvl="1">
              <a:lnSpc>
                <a:spcPts val="3360"/>
              </a:lnSpc>
              <a:buFont typeface="Arial"/>
              <a:buChar char="•"/>
            </a:pPr>
            <a:r>
              <a:rPr lang="en-US" sz="2100" spc="210">
                <a:solidFill>
                  <a:srgbClr val="000000"/>
                </a:solidFill>
                <a:latin typeface="Lato"/>
                <a:ea typeface="Lato"/>
                <a:cs typeface="Lato"/>
                <a:sym typeface="Lato"/>
              </a:rPr>
              <a:t>Inconsistent journaling habits</a:t>
            </a:r>
          </a:p>
          <a:p>
            <a:pPr algn="l" marL="453390" indent="-226695" lvl="1">
              <a:lnSpc>
                <a:spcPts val="3360"/>
              </a:lnSpc>
              <a:buFont typeface="Arial"/>
              <a:buChar char="•"/>
            </a:pPr>
            <a:r>
              <a:rPr lang="en-US" sz="2100" spc="210">
                <a:solidFill>
                  <a:srgbClr val="000000"/>
                </a:solidFill>
                <a:latin typeface="Lato"/>
                <a:ea typeface="Lato"/>
                <a:cs typeface="Lato"/>
                <a:sym typeface="Lato"/>
              </a:rPr>
              <a:t>Difficulty recognizing emotional patterns over time</a:t>
            </a:r>
          </a:p>
          <a:p>
            <a:pPr algn="l" marL="453390" indent="-226695" lvl="1">
              <a:lnSpc>
                <a:spcPts val="3360"/>
              </a:lnSpc>
              <a:buFont typeface="Arial"/>
              <a:buChar char="•"/>
            </a:pPr>
            <a:r>
              <a:rPr lang="en-US" sz="2100" spc="210">
                <a:solidFill>
                  <a:srgbClr val="000000"/>
                </a:solidFill>
                <a:latin typeface="Lato"/>
                <a:ea typeface="Lato"/>
                <a:cs typeface="Lato"/>
                <a:sym typeface="Lato"/>
              </a:rPr>
              <a:t>Feels overwhelmed during midterms and finals</a:t>
            </a:r>
          </a:p>
          <a:p>
            <a:pPr algn="l">
              <a:lnSpc>
                <a:spcPts val="3360"/>
              </a:lnSpc>
            </a:pPr>
          </a:p>
          <a:p>
            <a:pPr algn="l">
              <a:lnSpc>
                <a:spcPts val="3360"/>
              </a:lnSpc>
            </a:pPr>
            <a:r>
              <a:rPr lang="en-US" sz="2100" spc="210">
                <a:solidFill>
                  <a:srgbClr val="000000"/>
                </a:solidFill>
                <a:latin typeface="Lato"/>
                <a:ea typeface="Lato"/>
                <a:cs typeface="Lato"/>
                <a:sym typeface="Lato"/>
              </a:rPr>
              <a:t>Goals:</a:t>
            </a:r>
          </a:p>
          <a:p>
            <a:pPr algn="l" marL="453390" indent="-226695" lvl="1">
              <a:lnSpc>
                <a:spcPts val="3360"/>
              </a:lnSpc>
              <a:buFont typeface="Arial"/>
              <a:buChar char="•"/>
            </a:pPr>
            <a:r>
              <a:rPr lang="en-US" sz="2100" spc="210">
                <a:solidFill>
                  <a:srgbClr val="000000"/>
                </a:solidFill>
                <a:latin typeface="Lato"/>
                <a:ea typeface="Lato"/>
                <a:cs typeface="Lato"/>
                <a:sym typeface="Lato"/>
              </a:rPr>
              <a:t>Track emotional trends throughout the semester</a:t>
            </a:r>
          </a:p>
          <a:p>
            <a:pPr algn="l" marL="453390" indent="-226695" lvl="1">
              <a:lnSpc>
                <a:spcPts val="3360"/>
              </a:lnSpc>
              <a:buFont typeface="Arial"/>
              <a:buChar char="•"/>
            </a:pPr>
            <a:r>
              <a:rPr lang="en-US" sz="2100" spc="210">
                <a:solidFill>
                  <a:srgbClr val="000000"/>
                </a:solidFill>
                <a:latin typeface="Lato"/>
                <a:ea typeface="Lato"/>
                <a:cs typeface="Lato"/>
                <a:sym typeface="Lato"/>
              </a:rPr>
              <a:t>Identify early signs of burnout</a:t>
            </a:r>
          </a:p>
          <a:p>
            <a:pPr algn="l" marL="453390" indent="-226695" lvl="1">
              <a:lnSpc>
                <a:spcPts val="3360"/>
              </a:lnSpc>
              <a:buFont typeface="Arial"/>
              <a:buChar char="•"/>
            </a:pPr>
            <a:r>
              <a:rPr lang="en-US" sz="2100" spc="210">
                <a:solidFill>
                  <a:srgbClr val="000000"/>
                </a:solidFill>
                <a:latin typeface="Lato"/>
                <a:ea typeface="Lato"/>
                <a:cs typeface="Lato"/>
                <a:sym typeface="Lato"/>
              </a:rPr>
              <a:t>Receive short, actionable suggestions</a:t>
            </a:r>
          </a:p>
          <a:p>
            <a:pPr algn="l" marL="453390" indent="-226695" lvl="1">
              <a:lnSpc>
                <a:spcPts val="3360"/>
              </a:lnSpc>
              <a:buFont typeface="Arial"/>
              <a:buChar char="•"/>
            </a:pPr>
            <a:r>
              <a:rPr lang="en-US" sz="2100" spc="210">
                <a:solidFill>
                  <a:srgbClr val="000000"/>
                </a:solidFill>
                <a:latin typeface="Lato"/>
                <a:ea typeface="Lato"/>
                <a:cs typeface="Lato"/>
                <a:sym typeface="Lato"/>
              </a:rPr>
              <a:t>Maintain better emotional balance during academic pressure</a:t>
            </a:r>
          </a:p>
          <a:p>
            <a:pPr algn="l">
              <a:lnSpc>
                <a:spcPts val="3360"/>
              </a:lnSpc>
            </a:pPr>
          </a:p>
          <a:p>
            <a:pPr algn="l" marL="0" indent="0" lvl="0">
              <a:lnSpc>
                <a:spcPts val="3360"/>
              </a:lnSpc>
            </a:pPr>
          </a:p>
        </p:txBody>
      </p:sp>
      <p:sp>
        <p:nvSpPr>
          <p:cNvPr name="TextBox 7" id="7"/>
          <p:cNvSpPr txBox="true"/>
          <p:nvPr/>
        </p:nvSpPr>
        <p:spPr>
          <a:xfrm rot="0">
            <a:off x="6948851" y="252410"/>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264653"/>
                </a:solidFill>
                <a:latin typeface="Heebo Bold"/>
                <a:ea typeface="Heebo Bold"/>
                <a:cs typeface="Heebo Bold"/>
                <a:sym typeface="Heebo Bold"/>
              </a:rPr>
              <a:t>NAME: SARAH MARTINEZ</a:t>
            </a:r>
          </a:p>
        </p:txBody>
      </p:sp>
      <p:grpSp>
        <p:nvGrpSpPr>
          <p:cNvPr name="Group 8" id="8"/>
          <p:cNvGrpSpPr/>
          <p:nvPr/>
        </p:nvGrpSpPr>
        <p:grpSpPr>
          <a:xfrm rot="0">
            <a:off x="-36326" y="1438124"/>
            <a:ext cx="6842696" cy="8848876"/>
            <a:chOff x="0" y="0"/>
            <a:chExt cx="1076050" cy="1391532"/>
          </a:xfrm>
        </p:grpSpPr>
        <p:sp>
          <p:nvSpPr>
            <p:cNvPr name="Freeform 9" id="9"/>
            <p:cNvSpPr/>
            <p:nvPr/>
          </p:nvSpPr>
          <p:spPr>
            <a:xfrm flipH="false" flipV="false" rot="0">
              <a:off x="0" y="0"/>
              <a:ext cx="1076050" cy="1391532"/>
            </a:xfrm>
            <a:custGeom>
              <a:avLst/>
              <a:gdLst/>
              <a:ahLst/>
              <a:cxnLst/>
              <a:rect r="r" b="b" t="t" l="l"/>
              <a:pathLst>
                <a:path h="1391532" w="1076050">
                  <a:moveTo>
                    <a:pt x="0" y="0"/>
                  </a:moveTo>
                  <a:lnTo>
                    <a:pt x="1076050" y="0"/>
                  </a:lnTo>
                  <a:lnTo>
                    <a:pt x="1076050" y="1391532"/>
                  </a:lnTo>
                  <a:lnTo>
                    <a:pt x="0" y="1391532"/>
                  </a:lnTo>
                  <a:close/>
                </a:path>
              </a:pathLst>
            </a:custGeom>
            <a:blipFill>
              <a:blip r:embed="rId2"/>
              <a:stretch>
                <a:fillRect l="-14659" t="0" r="-14659"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36326" y="1958339"/>
            <a:ext cx="6842696" cy="8205345"/>
            <a:chOff x="0" y="0"/>
            <a:chExt cx="1076050" cy="1290334"/>
          </a:xfrm>
        </p:grpSpPr>
        <p:sp>
          <p:nvSpPr>
            <p:cNvPr name="Freeform 6" id="6"/>
            <p:cNvSpPr/>
            <p:nvPr/>
          </p:nvSpPr>
          <p:spPr>
            <a:xfrm flipH="false" flipV="false" rot="0">
              <a:off x="0" y="0"/>
              <a:ext cx="1076050" cy="1290334"/>
            </a:xfrm>
            <a:custGeom>
              <a:avLst/>
              <a:gdLst/>
              <a:ahLst/>
              <a:cxnLst/>
              <a:rect r="r" b="b" t="t" l="l"/>
              <a:pathLst>
                <a:path h="1290334" w="1076050">
                  <a:moveTo>
                    <a:pt x="0" y="0"/>
                  </a:moveTo>
                  <a:lnTo>
                    <a:pt x="1076050" y="0"/>
                  </a:lnTo>
                  <a:lnTo>
                    <a:pt x="1076050" y="1290334"/>
                  </a:lnTo>
                  <a:lnTo>
                    <a:pt x="0" y="1290334"/>
                  </a:lnTo>
                  <a:close/>
                </a:path>
              </a:pathLst>
            </a:custGeom>
            <a:blipFill>
              <a:blip r:embed="rId2"/>
              <a:stretch>
                <a:fillRect l="-9956" t="0" r="-9956" b="0"/>
              </a:stretch>
            </a:blipFill>
          </p:spPr>
        </p:sp>
      </p:grpSp>
      <p:sp>
        <p:nvSpPr>
          <p:cNvPr name="TextBox 7" id="7"/>
          <p:cNvSpPr txBox="true"/>
          <p:nvPr/>
        </p:nvSpPr>
        <p:spPr>
          <a:xfrm rot="0">
            <a:off x="111644" y="-9525"/>
            <a:ext cx="6694725" cy="2063114"/>
          </a:xfrm>
          <a:prstGeom prst="rect">
            <a:avLst/>
          </a:prstGeom>
        </p:spPr>
        <p:txBody>
          <a:bodyPr anchor="t" rtlCol="false" tIns="0" lIns="0" bIns="0" rIns="0">
            <a:spAutoFit/>
          </a:bodyPr>
          <a:lstStyle/>
          <a:p>
            <a:pPr algn="l" marL="0" indent="0" lvl="0">
              <a:lnSpc>
                <a:spcPts val="5460"/>
              </a:lnSpc>
            </a:pPr>
            <a:r>
              <a:rPr lang="en-US" b="true" sz="3900" spc="195">
                <a:solidFill>
                  <a:srgbClr val="000000"/>
                </a:solidFill>
                <a:latin typeface="Helios Extended Bold"/>
                <a:ea typeface="Helios Extended Bold"/>
                <a:cs typeface="Helios Extended Bold"/>
                <a:sym typeface="Helios Extended Bold"/>
              </a:rPr>
              <a:t>WORKING PROFESSIONAL PERSONA</a:t>
            </a:r>
          </a:p>
        </p:txBody>
      </p:sp>
      <p:sp>
        <p:nvSpPr>
          <p:cNvPr name="TextBox 8" id="8"/>
          <p:cNvSpPr txBox="true"/>
          <p:nvPr/>
        </p:nvSpPr>
        <p:spPr>
          <a:xfrm rot="0">
            <a:off x="6948851" y="579435"/>
            <a:ext cx="10716310" cy="9618345"/>
          </a:xfrm>
          <a:prstGeom prst="rect">
            <a:avLst/>
          </a:prstGeom>
        </p:spPr>
        <p:txBody>
          <a:bodyPr anchor="t" rtlCol="false" tIns="0" lIns="0" bIns="0" rIns="0">
            <a:spAutoFit/>
          </a:bodyPr>
          <a:lstStyle/>
          <a:p>
            <a:pPr algn="l">
              <a:lnSpc>
                <a:spcPts val="3360"/>
              </a:lnSpc>
            </a:pPr>
            <a:r>
              <a:rPr lang="en-US" sz="2100" spc="210" b="true">
                <a:solidFill>
                  <a:srgbClr val="000000"/>
                </a:solidFill>
                <a:latin typeface="Lato Bold"/>
                <a:ea typeface="Lato Bold"/>
                <a:cs typeface="Lato Bold"/>
                <a:sym typeface="Lato Bold"/>
              </a:rPr>
              <a:t>Age:</a:t>
            </a:r>
            <a:r>
              <a:rPr lang="en-US" sz="2100" spc="210">
                <a:solidFill>
                  <a:srgbClr val="000000"/>
                </a:solidFill>
                <a:latin typeface="Lato"/>
                <a:ea typeface="Lato"/>
                <a:cs typeface="Lato"/>
                <a:sym typeface="Lato"/>
              </a:rPr>
              <a:t> 32</a:t>
            </a:r>
          </a:p>
          <a:p>
            <a:pPr algn="l">
              <a:lnSpc>
                <a:spcPts val="3360"/>
              </a:lnSpc>
            </a:pPr>
            <a:r>
              <a:rPr lang="en-US" sz="2100" spc="210">
                <a:solidFill>
                  <a:srgbClr val="000000"/>
                </a:solidFill>
                <a:latin typeface="Lato"/>
                <a:ea typeface="Lato"/>
                <a:cs typeface="Lato"/>
                <a:sym typeface="Lato"/>
              </a:rPr>
              <a:t>Gender: Male</a:t>
            </a:r>
          </a:p>
          <a:p>
            <a:pPr algn="l">
              <a:lnSpc>
                <a:spcPts val="3360"/>
              </a:lnSpc>
            </a:pPr>
            <a:r>
              <a:rPr lang="en-US" sz="2100" spc="210" b="true">
                <a:solidFill>
                  <a:srgbClr val="000000"/>
                </a:solidFill>
                <a:latin typeface="Lato Bold"/>
                <a:ea typeface="Lato Bold"/>
                <a:cs typeface="Lato Bold"/>
                <a:sym typeface="Lato Bold"/>
              </a:rPr>
              <a:t>Occupation:</a:t>
            </a:r>
            <a:r>
              <a:rPr lang="en-US" sz="2100" spc="210">
                <a:solidFill>
                  <a:srgbClr val="000000"/>
                </a:solidFill>
                <a:latin typeface="Lato"/>
                <a:ea typeface="Lato"/>
                <a:cs typeface="Lato"/>
                <a:sym typeface="Lato"/>
              </a:rPr>
              <a:t> Software Engineer</a:t>
            </a:r>
          </a:p>
          <a:p>
            <a:pPr algn="l">
              <a:lnSpc>
                <a:spcPts val="3360"/>
              </a:lnSpc>
            </a:pPr>
          </a:p>
          <a:p>
            <a:pPr algn="l">
              <a:lnSpc>
                <a:spcPts val="3360"/>
              </a:lnSpc>
            </a:pPr>
            <a:r>
              <a:rPr lang="en-US" sz="2100" spc="210">
                <a:solidFill>
                  <a:srgbClr val="000000"/>
                </a:solidFill>
                <a:latin typeface="Lato"/>
                <a:ea typeface="Lato"/>
                <a:cs typeface="Lato"/>
                <a:sym typeface="Lato"/>
              </a:rPr>
              <a:t>David works remotely for a tech company and spends most of his day attending meetings and coding. While he performs well professionally, he often feels mentally drained without clearly understanding the cause. He values productivity and self-improvement but rarely pauses to reflect on his emotional state.</a:t>
            </a:r>
          </a:p>
          <a:p>
            <a:pPr algn="l">
              <a:lnSpc>
                <a:spcPts val="3360"/>
              </a:lnSpc>
            </a:pPr>
          </a:p>
          <a:p>
            <a:pPr algn="l">
              <a:lnSpc>
                <a:spcPts val="3360"/>
              </a:lnSpc>
            </a:pPr>
            <a:r>
              <a:rPr lang="en-US" sz="2100" spc="210">
                <a:solidFill>
                  <a:srgbClr val="000000"/>
                </a:solidFill>
                <a:latin typeface="Lato"/>
                <a:ea typeface="Lato"/>
                <a:cs typeface="Lato"/>
                <a:sym typeface="Lato"/>
              </a:rPr>
              <a:t>Challenges:</a:t>
            </a:r>
          </a:p>
          <a:p>
            <a:pPr algn="l" marL="453390" indent="-226695" lvl="1">
              <a:lnSpc>
                <a:spcPts val="3360"/>
              </a:lnSpc>
              <a:buFont typeface="Arial"/>
              <a:buChar char="•"/>
            </a:pPr>
            <a:r>
              <a:rPr lang="en-US" sz="2100" spc="210">
                <a:solidFill>
                  <a:srgbClr val="000000"/>
                </a:solidFill>
                <a:latin typeface="Lato"/>
                <a:ea typeface="Lato"/>
                <a:cs typeface="Lato"/>
                <a:sym typeface="Lato"/>
              </a:rPr>
              <a:t>Blurred boundaries between work and personal life</a:t>
            </a:r>
          </a:p>
          <a:p>
            <a:pPr algn="l" marL="453390" indent="-226695" lvl="1">
              <a:lnSpc>
                <a:spcPts val="3360"/>
              </a:lnSpc>
              <a:buFont typeface="Arial"/>
              <a:buChar char="•"/>
            </a:pPr>
            <a:r>
              <a:rPr lang="en-US" sz="2100" spc="210">
                <a:solidFill>
                  <a:srgbClr val="000000"/>
                </a:solidFill>
                <a:latin typeface="Lato"/>
                <a:ea typeface="Lato"/>
                <a:cs typeface="Lato"/>
                <a:sym typeface="Lato"/>
              </a:rPr>
              <a:t>Emotional fatigue during high-pressure deadlines</a:t>
            </a:r>
          </a:p>
          <a:p>
            <a:pPr algn="l" marL="453390" indent="-226695" lvl="1">
              <a:lnSpc>
                <a:spcPts val="3360"/>
              </a:lnSpc>
              <a:buFont typeface="Arial"/>
              <a:buChar char="•"/>
            </a:pPr>
            <a:r>
              <a:rPr lang="en-US" sz="2100" spc="210">
                <a:solidFill>
                  <a:srgbClr val="000000"/>
                </a:solidFill>
                <a:latin typeface="Lato"/>
                <a:ea typeface="Lato"/>
                <a:cs typeface="Lato"/>
                <a:sym typeface="Lato"/>
              </a:rPr>
              <a:t>N</a:t>
            </a:r>
            <a:r>
              <a:rPr lang="en-US" sz="2100" spc="210">
                <a:solidFill>
                  <a:srgbClr val="000000"/>
                </a:solidFill>
                <a:latin typeface="Lato"/>
                <a:ea typeface="Lato"/>
                <a:cs typeface="Lato"/>
                <a:sym typeface="Lato"/>
              </a:rPr>
              <a:t>o structured way to monitor mood patterns</a:t>
            </a:r>
          </a:p>
          <a:p>
            <a:pPr algn="l" marL="453390" indent="-226695" lvl="1">
              <a:lnSpc>
                <a:spcPts val="3360"/>
              </a:lnSpc>
              <a:buFont typeface="Arial"/>
              <a:buChar char="•"/>
            </a:pPr>
            <a:r>
              <a:rPr lang="en-US" sz="2100" spc="210">
                <a:solidFill>
                  <a:srgbClr val="000000"/>
                </a:solidFill>
                <a:latin typeface="Lato"/>
                <a:ea typeface="Lato"/>
                <a:cs typeface="Lato"/>
                <a:sym typeface="Lato"/>
              </a:rPr>
              <a:t>Limited time for long reflection exercises</a:t>
            </a:r>
          </a:p>
          <a:p>
            <a:pPr algn="l">
              <a:lnSpc>
                <a:spcPts val="3360"/>
              </a:lnSpc>
            </a:pPr>
          </a:p>
          <a:p>
            <a:pPr algn="l">
              <a:lnSpc>
                <a:spcPts val="3360"/>
              </a:lnSpc>
            </a:pPr>
            <a:r>
              <a:rPr lang="en-US" sz="2100" spc="210">
                <a:solidFill>
                  <a:srgbClr val="000000"/>
                </a:solidFill>
                <a:latin typeface="Lato"/>
                <a:ea typeface="Lato"/>
                <a:cs typeface="Lato"/>
                <a:sym typeface="Lato"/>
              </a:rPr>
              <a:t>Goals:</a:t>
            </a:r>
          </a:p>
          <a:p>
            <a:pPr algn="l" marL="453390" indent="-226695" lvl="1">
              <a:lnSpc>
                <a:spcPts val="3360"/>
              </a:lnSpc>
              <a:buFont typeface="Arial"/>
              <a:buChar char="•"/>
            </a:pPr>
            <a:r>
              <a:rPr lang="en-US" sz="2100" spc="210">
                <a:solidFill>
                  <a:srgbClr val="000000"/>
                </a:solidFill>
                <a:latin typeface="Lato"/>
                <a:ea typeface="Lato"/>
                <a:cs typeface="Lato"/>
                <a:sym typeface="Lato"/>
              </a:rPr>
              <a:t>Understand how work stress affects his mood</a:t>
            </a:r>
          </a:p>
          <a:p>
            <a:pPr algn="l" marL="453390" indent="-226695" lvl="1">
              <a:lnSpc>
                <a:spcPts val="3360"/>
              </a:lnSpc>
              <a:buFont typeface="Arial"/>
              <a:buChar char="•"/>
            </a:pPr>
            <a:r>
              <a:rPr lang="en-US" sz="2100" spc="210">
                <a:solidFill>
                  <a:srgbClr val="000000"/>
                </a:solidFill>
                <a:latin typeface="Lato"/>
                <a:ea typeface="Lato"/>
                <a:cs typeface="Lato"/>
                <a:sym typeface="Lato"/>
              </a:rPr>
              <a:t>Monitor emotional stability over time</a:t>
            </a:r>
          </a:p>
          <a:p>
            <a:pPr algn="l" marL="453390" indent="-226695" lvl="1">
              <a:lnSpc>
                <a:spcPts val="3360"/>
              </a:lnSpc>
              <a:buFont typeface="Arial"/>
              <a:buChar char="•"/>
            </a:pPr>
            <a:r>
              <a:rPr lang="en-US" sz="2100" spc="210">
                <a:solidFill>
                  <a:srgbClr val="000000"/>
                </a:solidFill>
                <a:latin typeface="Lato"/>
                <a:ea typeface="Lato"/>
                <a:cs typeface="Lato"/>
                <a:sym typeface="Lato"/>
              </a:rPr>
              <a:t>Receive quick, data-driven insights</a:t>
            </a:r>
          </a:p>
          <a:p>
            <a:pPr algn="l" marL="453390" indent="-226695" lvl="1">
              <a:lnSpc>
                <a:spcPts val="3360"/>
              </a:lnSpc>
              <a:buFont typeface="Arial"/>
              <a:buChar char="•"/>
            </a:pPr>
            <a:r>
              <a:rPr lang="en-US" sz="2100" spc="210">
                <a:solidFill>
                  <a:srgbClr val="000000"/>
                </a:solidFill>
                <a:latin typeface="Lato"/>
                <a:ea typeface="Lato"/>
                <a:cs typeface="Lato"/>
                <a:sym typeface="Lato"/>
              </a:rPr>
              <a:t>Improve work-life balance</a:t>
            </a:r>
          </a:p>
          <a:p>
            <a:pPr algn="l">
              <a:lnSpc>
                <a:spcPts val="3360"/>
              </a:lnSpc>
            </a:pPr>
          </a:p>
          <a:p>
            <a:pPr algn="l" marL="0" indent="0" lvl="0">
              <a:lnSpc>
                <a:spcPts val="3360"/>
              </a:lnSpc>
            </a:pPr>
          </a:p>
        </p:txBody>
      </p:sp>
      <p:sp>
        <p:nvSpPr>
          <p:cNvPr name="TextBox 9" id="9"/>
          <p:cNvSpPr txBox="true"/>
          <p:nvPr/>
        </p:nvSpPr>
        <p:spPr>
          <a:xfrm rot="0">
            <a:off x="6948851" y="252410"/>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264653"/>
                </a:solidFill>
                <a:latin typeface="Heebo Bold"/>
                <a:ea typeface="Heebo Bold"/>
                <a:cs typeface="Heebo Bold"/>
                <a:sym typeface="Heebo Bold"/>
              </a:rPr>
              <a:t>NAME: DAVID CHEN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36326" y="1958339"/>
            <a:ext cx="6842696" cy="8205345"/>
            <a:chOff x="0" y="0"/>
            <a:chExt cx="1076050" cy="1290334"/>
          </a:xfrm>
        </p:grpSpPr>
        <p:sp>
          <p:nvSpPr>
            <p:cNvPr name="Freeform 6" id="6"/>
            <p:cNvSpPr/>
            <p:nvPr/>
          </p:nvSpPr>
          <p:spPr>
            <a:xfrm flipH="false" flipV="false" rot="0">
              <a:off x="0" y="0"/>
              <a:ext cx="1076050" cy="1290334"/>
            </a:xfrm>
            <a:custGeom>
              <a:avLst/>
              <a:gdLst/>
              <a:ahLst/>
              <a:cxnLst/>
              <a:rect r="r" b="b" t="t" l="l"/>
              <a:pathLst>
                <a:path h="1290334" w="1076050">
                  <a:moveTo>
                    <a:pt x="0" y="0"/>
                  </a:moveTo>
                  <a:lnTo>
                    <a:pt x="1076050" y="0"/>
                  </a:lnTo>
                  <a:lnTo>
                    <a:pt x="1076050" y="1290334"/>
                  </a:lnTo>
                  <a:lnTo>
                    <a:pt x="0" y="1290334"/>
                  </a:lnTo>
                  <a:close/>
                </a:path>
              </a:pathLst>
            </a:custGeom>
            <a:blipFill>
              <a:blip r:embed="rId2"/>
              <a:stretch>
                <a:fillRect l="-6556" t="0" r="-6556" b="0"/>
              </a:stretch>
            </a:blipFill>
          </p:spPr>
        </p:sp>
      </p:grpSp>
      <p:sp>
        <p:nvSpPr>
          <p:cNvPr name="TextBox 7" id="7"/>
          <p:cNvSpPr txBox="true"/>
          <p:nvPr/>
        </p:nvSpPr>
        <p:spPr>
          <a:xfrm rot="0">
            <a:off x="111644" y="287656"/>
            <a:ext cx="6694725" cy="1377314"/>
          </a:xfrm>
          <a:prstGeom prst="rect">
            <a:avLst/>
          </a:prstGeom>
        </p:spPr>
        <p:txBody>
          <a:bodyPr anchor="t" rtlCol="false" tIns="0" lIns="0" bIns="0" rIns="0">
            <a:spAutoFit/>
          </a:bodyPr>
          <a:lstStyle/>
          <a:p>
            <a:pPr algn="l" marL="0" indent="0" lvl="0">
              <a:lnSpc>
                <a:spcPts val="5460"/>
              </a:lnSpc>
            </a:pPr>
            <a:r>
              <a:rPr lang="en-US" b="true" sz="3900" spc="195">
                <a:solidFill>
                  <a:srgbClr val="000000"/>
                </a:solidFill>
                <a:latin typeface="Helios Extended Bold"/>
                <a:ea typeface="Helios Extended Bold"/>
                <a:cs typeface="Helios Extended Bold"/>
                <a:sym typeface="Helios Extended Bold"/>
              </a:rPr>
              <a:t>WORKING PARENT PERSONA</a:t>
            </a:r>
          </a:p>
        </p:txBody>
      </p:sp>
      <p:sp>
        <p:nvSpPr>
          <p:cNvPr name="TextBox 8" id="8"/>
          <p:cNvSpPr txBox="true"/>
          <p:nvPr/>
        </p:nvSpPr>
        <p:spPr>
          <a:xfrm rot="0">
            <a:off x="6948851" y="579435"/>
            <a:ext cx="10716310" cy="8780145"/>
          </a:xfrm>
          <a:prstGeom prst="rect">
            <a:avLst/>
          </a:prstGeom>
        </p:spPr>
        <p:txBody>
          <a:bodyPr anchor="t" rtlCol="false" tIns="0" lIns="0" bIns="0" rIns="0">
            <a:spAutoFit/>
          </a:bodyPr>
          <a:lstStyle/>
          <a:p>
            <a:pPr algn="l">
              <a:lnSpc>
                <a:spcPts val="3360"/>
              </a:lnSpc>
            </a:pPr>
            <a:r>
              <a:rPr lang="en-US" sz="2100" spc="210" b="true">
                <a:solidFill>
                  <a:srgbClr val="000000"/>
                </a:solidFill>
                <a:latin typeface="Lato Bold"/>
                <a:ea typeface="Lato Bold"/>
                <a:cs typeface="Lato Bold"/>
                <a:sym typeface="Lato Bold"/>
              </a:rPr>
              <a:t>Age:</a:t>
            </a:r>
            <a:r>
              <a:rPr lang="en-US" sz="2100" spc="210">
                <a:solidFill>
                  <a:srgbClr val="000000"/>
                </a:solidFill>
                <a:latin typeface="Lato"/>
                <a:ea typeface="Lato"/>
                <a:cs typeface="Lato"/>
                <a:sym typeface="Lato"/>
              </a:rPr>
              <a:t> 40</a:t>
            </a:r>
          </a:p>
          <a:p>
            <a:pPr algn="l">
              <a:lnSpc>
                <a:spcPts val="3360"/>
              </a:lnSpc>
            </a:pPr>
            <a:r>
              <a:rPr lang="en-US" sz="2100" spc="210" b="true">
                <a:solidFill>
                  <a:srgbClr val="000000"/>
                </a:solidFill>
                <a:latin typeface="Lato Bold"/>
                <a:ea typeface="Lato Bold"/>
                <a:cs typeface="Lato Bold"/>
                <a:sym typeface="Lato Bold"/>
              </a:rPr>
              <a:t>Gender:</a:t>
            </a:r>
            <a:r>
              <a:rPr lang="en-US" sz="2100" spc="210">
                <a:solidFill>
                  <a:srgbClr val="000000"/>
                </a:solidFill>
                <a:latin typeface="Lato"/>
                <a:ea typeface="Lato"/>
                <a:cs typeface="Lato"/>
                <a:sym typeface="Lato"/>
              </a:rPr>
              <a:t> Female</a:t>
            </a:r>
          </a:p>
          <a:p>
            <a:pPr algn="l">
              <a:lnSpc>
                <a:spcPts val="3360"/>
              </a:lnSpc>
            </a:pPr>
            <a:r>
              <a:rPr lang="en-US" sz="2100" spc="210" b="true">
                <a:solidFill>
                  <a:srgbClr val="000000"/>
                </a:solidFill>
                <a:latin typeface="Lato Bold"/>
                <a:ea typeface="Lato Bold"/>
                <a:cs typeface="Lato Bold"/>
                <a:sym typeface="Lato Bold"/>
              </a:rPr>
              <a:t>Occupation:</a:t>
            </a:r>
            <a:r>
              <a:rPr lang="en-US" sz="2100" spc="210">
                <a:solidFill>
                  <a:srgbClr val="000000"/>
                </a:solidFill>
                <a:latin typeface="Lato"/>
                <a:ea typeface="Lato"/>
                <a:cs typeface="Lato"/>
                <a:sym typeface="Lato"/>
              </a:rPr>
              <a:t> HR Manager</a:t>
            </a:r>
          </a:p>
          <a:p>
            <a:pPr algn="l">
              <a:lnSpc>
                <a:spcPts val="3360"/>
              </a:lnSpc>
            </a:pPr>
          </a:p>
          <a:p>
            <a:pPr algn="l">
              <a:lnSpc>
                <a:spcPts val="3360"/>
              </a:lnSpc>
            </a:pPr>
            <a:r>
              <a:rPr lang="en-US" sz="2100" spc="210">
                <a:solidFill>
                  <a:srgbClr val="000000"/>
                </a:solidFill>
                <a:latin typeface="Lato"/>
                <a:ea typeface="Lato"/>
                <a:cs typeface="Lato"/>
                <a:sym typeface="Lato"/>
              </a:rPr>
              <a:t>Emiliy</a:t>
            </a:r>
            <a:r>
              <a:rPr lang="en-US" sz="2100" spc="210">
                <a:solidFill>
                  <a:srgbClr val="000000"/>
                </a:solidFill>
                <a:latin typeface="Lato"/>
                <a:ea typeface="Lato"/>
                <a:cs typeface="Lato"/>
                <a:sym typeface="Lato"/>
              </a:rPr>
              <a:t> balances a demanding job with parenting responsibilities. Her schedule leaves little time for self-reflection, yet she recognizes the importance of emotional awareness. She often feels emotionally exhausted but cannot clearly identify triggers or patterns. She prefers simple, easy-to-use digital tools.</a:t>
            </a:r>
          </a:p>
          <a:p>
            <a:pPr algn="l">
              <a:lnSpc>
                <a:spcPts val="3360"/>
              </a:lnSpc>
            </a:pPr>
          </a:p>
          <a:p>
            <a:pPr algn="l">
              <a:lnSpc>
                <a:spcPts val="3360"/>
              </a:lnSpc>
            </a:pPr>
            <a:r>
              <a:rPr lang="en-US" sz="2100" spc="210">
                <a:solidFill>
                  <a:srgbClr val="000000"/>
                </a:solidFill>
                <a:latin typeface="Lato"/>
                <a:ea typeface="Lato"/>
                <a:cs typeface="Lato"/>
                <a:sym typeface="Lato"/>
              </a:rPr>
              <a:t>Challenges:</a:t>
            </a:r>
          </a:p>
          <a:p>
            <a:pPr algn="l" marL="453390" indent="-226695" lvl="1">
              <a:lnSpc>
                <a:spcPts val="3360"/>
              </a:lnSpc>
              <a:buFont typeface="Arial"/>
              <a:buChar char="•"/>
            </a:pPr>
            <a:r>
              <a:rPr lang="en-US" sz="2100" spc="210">
                <a:solidFill>
                  <a:srgbClr val="000000"/>
                </a:solidFill>
                <a:latin typeface="Lato"/>
                <a:ea typeface="Lato"/>
                <a:cs typeface="Lato"/>
                <a:sym typeface="Lato"/>
              </a:rPr>
              <a:t>Limited time for lengthy journaling</a:t>
            </a:r>
          </a:p>
          <a:p>
            <a:pPr algn="l" marL="453390" indent="-226695" lvl="1">
              <a:lnSpc>
                <a:spcPts val="3360"/>
              </a:lnSpc>
              <a:buFont typeface="Arial"/>
              <a:buChar char="•"/>
            </a:pPr>
            <a:r>
              <a:rPr lang="en-US" sz="2100" spc="210">
                <a:solidFill>
                  <a:srgbClr val="000000"/>
                </a:solidFill>
                <a:latin typeface="Lato"/>
                <a:ea typeface="Lato"/>
                <a:cs typeface="Lato"/>
                <a:sym typeface="Lato"/>
              </a:rPr>
              <a:t>Emotional fatigue from multitasking responsibilities</a:t>
            </a:r>
          </a:p>
          <a:p>
            <a:pPr algn="l" marL="453390" indent="-226695" lvl="1">
              <a:lnSpc>
                <a:spcPts val="3360"/>
              </a:lnSpc>
              <a:buFont typeface="Arial"/>
              <a:buChar char="•"/>
            </a:pPr>
            <a:r>
              <a:rPr lang="en-US" sz="2100" spc="210">
                <a:solidFill>
                  <a:srgbClr val="000000"/>
                </a:solidFill>
                <a:latin typeface="Lato"/>
                <a:ea typeface="Lato"/>
                <a:cs typeface="Lato"/>
                <a:sym typeface="Lato"/>
              </a:rPr>
              <a:t>Difficulty identifying emotional triggers</a:t>
            </a:r>
          </a:p>
          <a:p>
            <a:pPr algn="l" marL="453390" indent="-226695" lvl="1">
              <a:lnSpc>
                <a:spcPts val="3360"/>
              </a:lnSpc>
              <a:buFont typeface="Arial"/>
              <a:buChar char="•"/>
            </a:pPr>
            <a:r>
              <a:rPr lang="en-US" sz="2100" spc="210">
                <a:solidFill>
                  <a:srgbClr val="000000"/>
                </a:solidFill>
                <a:latin typeface="Lato"/>
                <a:ea typeface="Lato"/>
                <a:cs typeface="Lato"/>
                <a:sym typeface="Lato"/>
              </a:rPr>
              <a:t>Wants non-clinical, supportive guidance</a:t>
            </a:r>
          </a:p>
          <a:p>
            <a:pPr algn="l">
              <a:lnSpc>
                <a:spcPts val="3360"/>
              </a:lnSpc>
            </a:pPr>
          </a:p>
          <a:p>
            <a:pPr algn="l">
              <a:lnSpc>
                <a:spcPts val="3360"/>
              </a:lnSpc>
            </a:pPr>
            <a:r>
              <a:rPr lang="en-US" sz="2100" spc="210">
                <a:solidFill>
                  <a:srgbClr val="000000"/>
                </a:solidFill>
                <a:latin typeface="Lato"/>
                <a:ea typeface="Lato"/>
                <a:cs typeface="Lato"/>
                <a:sym typeface="Lato"/>
              </a:rPr>
              <a:t>Goals:</a:t>
            </a:r>
          </a:p>
          <a:p>
            <a:pPr algn="l" marL="453390" indent="-226695" lvl="1">
              <a:lnSpc>
                <a:spcPts val="3360"/>
              </a:lnSpc>
              <a:buFont typeface="Arial"/>
              <a:buChar char="•"/>
            </a:pPr>
            <a:r>
              <a:rPr lang="en-US" sz="2100" spc="210">
                <a:solidFill>
                  <a:srgbClr val="000000"/>
                </a:solidFill>
                <a:latin typeface="Lato"/>
                <a:ea typeface="Lato"/>
                <a:cs typeface="Lato"/>
                <a:sym typeface="Lato"/>
              </a:rPr>
              <a:t>Build daily emotional awareness</a:t>
            </a:r>
          </a:p>
          <a:p>
            <a:pPr algn="l" marL="453390" indent="-226695" lvl="1">
              <a:lnSpc>
                <a:spcPts val="3360"/>
              </a:lnSpc>
              <a:buFont typeface="Arial"/>
              <a:buChar char="•"/>
            </a:pPr>
            <a:r>
              <a:rPr lang="en-US" sz="2100" spc="210">
                <a:solidFill>
                  <a:srgbClr val="000000"/>
                </a:solidFill>
                <a:latin typeface="Lato"/>
                <a:ea typeface="Lato"/>
                <a:cs typeface="Lato"/>
                <a:sym typeface="Lato"/>
              </a:rPr>
              <a:t>Identify patterns in stress levels</a:t>
            </a:r>
          </a:p>
          <a:p>
            <a:pPr algn="l" marL="453390" indent="-226695" lvl="1">
              <a:lnSpc>
                <a:spcPts val="3360"/>
              </a:lnSpc>
              <a:buFont typeface="Arial"/>
              <a:buChar char="•"/>
            </a:pPr>
            <a:r>
              <a:rPr lang="en-US" sz="2100" spc="210">
                <a:solidFill>
                  <a:srgbClr val="000000"/>
                </a:solidFill>
                <a:latin typeface="Lato"/>
                <a:ea typeface="Lato"/>
                <a:cs typeface="Lato"/>
                <a:sym typeface="Lato"/>
              </a:rPr>
              <a:t>Receive manageable well-being suggestions</a:t>
            </a:r>
          </a:p>
          <a:p>
            <a:pPr algn="l" marL="453390" indent="-226695" lvl="1">
              <a:lnSpc>
                <a:spcPts val="3360"/>
              </a:lnSpc>
              <a:buFont typeface="Arial"/>
              <a:buChar char="•"/>
            </a:pPr>
            <a:r>
              <a:rPr lang="en-US" sz="2100" spc="210">
                <a:solidFill>
                  <a:srgbClr val="000000"/>
                </a:solidFill>
                <a:latin typeface="Lato"/>
                <a:ea typeface="Lato"/>
                <a:cs typeface="Lato"/>
                <a:sym typeface="Lato"/>
              </a:rPr>
              <a:t>Maintain emotional stability for herself and her family</a:t>
            </a:r>
          </a:p>
        </p:txBody>
      </p:sp>
      <p:sp>
        <p:nvSpPr>
          <p:cNvPr name="TextBox 9" id="9"/>
          <p:cNvSpPr txBox="true"/>
          <p:nvPr/>
        </p:nvSpPr>
        <p:spPr>
          <a:xfrm rot="0">
            <a:off x="6948851" y="252410"/>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264653"/>
                </a:solidFill>
                <a:latin typeface="Heebo Bold"/>
                <a:ea typeface="Heebo Bold"/>
                <a:cs typeface="Heebo Bold"/>
                <a:sym typeface="Heebo Bold"/>
              </a:rPr>
              <a:t>NAME: EMILY PETERSON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806369" cy="10287000"/>
            <a:chOff x="0" y="0"/>
            <a:chExt cx="1792624" cy="2709333"/>
          </a:xfrm>
        </p:grpSpPr>
        <p:sp>
          <p:nvSpPr>
            <p:cNvPr name="Freeform 3" id="3"/>
            <p:cNvSpPr/>
            <p:nvPr/>
          </p:nvSpPr>
          <p:spPr>
            <a:xfrm flipH="false" flipV="false" rot="0">
              <a:off x="0" y="0"/>
              <a:ext cx="1792624" cy="2709333"/>
            </a:xfrm>
            <a:custGeom>
              <a:avLst/>
              <a:gdLst/>
              <a:ahLst/>
              <a:cxnLst/>
              <a:rect r="r" b="b" t="t" l="l"/>
              <a:pathLst>
                <a:path h="2709333" w="1792624">
                  <a:moveTo>
                    <a:pt x="0" y="0"/>
                  </a:moveTo>
                  <a:lnTo>
                    <a:pt x="1792624" y="0"/>
                  </a:lnTo>
                  <a:lnTo>
                    <a:pt x="1792624" y="2709333"/>
                  </a:lnTo>
                  <a:lnTo>
                    <a:pt x="0" y="2709333"/>
                  </a:lnTo>
                  <a:close/>
                </a:path>
              </a:pathLst>
            </a:custGeom>
            <a:solidFill>
              <a:srgbClr val="F2F1F1">
                <a:alpha val="80000"/>
              </a:srgbClr>
            </a:solidFill>
          </p:spPr>
        </p:sp>
        <p:sp>
          <p:nvSpPr>
            <p:cNvPr name="TextBox 4" id="4"/>
            <p:cNvSpPr txBox="true"/>
            <p:nvPr/>
          </p:nvSpPr>
          <p:spPr>
            <a:xfrm>
              <a:off x="0" y="-47625"/>
              <a:ext cx="1792624" cy="275695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36326" y="1958339"/>
            <a:ext cx="6842696" cy="8205345"/>
            <a:chOff x="0" y="0"/>
            <a:chExt cx="1076050" cy="1290334"/>
          </a:xfrm>
        </p:grpSpPr>
        <p:sp>
          <p:nvSpPr>
            <p:cNvPr name="Freeform 6" id="6"/>
            <p:cNvSpPr/>
            <p:nvPr/>
          </p:nvSpPr>
          <p:spPr>
            <a:xfrm flipH="false" flipV="false" rot="0">
              <a:off x="0" y="0"/>
              <a:ext cx="1076050" cy="1290334"/>
            </a:xfrm>
            <a:custGeom>
              <a:avLst/>
              <a:gdLst/>
              <a:ahLst/>
              <a:cxnLst/>
              <a:rect r="r" b="b" t="t" l="l"/>
              <a:pathLst>
                <a:path h="1290334" w="1076050">
                  <a:moveTo>
                    <a:pt x="0" y="0"/>
                  </a:moveTo>
                  <a:lnTo>
                    <a:pt x="1076050" y="0"/>
                  </a:lnTo>
                  <a:lnTo>
                    <a:pt x="1076050" y="1290334"/>
                  </a:lnTo>
                  <a:lnTo>
                    <a:pt x="0" y="1290334"/>
                  </a:lnTo>
                  <a:close/>
                </a:path>
              </a:pathLst>
            </a:custGeom>
            <a:blipFill>
              <a:blip r:embed="rId2"/>
              <a:stretch>
                <a:fillRect l="-6504" t="0" r="-6504" b="0"/>
              </a:stretch>
            </a:blipFill>
          </p:spPr>
        </p:sp>
      </p:grpSp>
      <p:sp>
        <p:nvSpPr>
          <p:cNvPr name="TextBox 7" id="7"/>
          <p:cNvSpPr txBox="true"/>
          <p:nvPr/>
        </p:nvSpPr>
        <p:spPr>
          <a:xfrm rot="0">
            <a:off x="111644" y="-9525"/>
            <a:ext cx="6694725" cy="2063114"/>
          </a:xfrm>
          <a:prstGeom prst="rect">
            <a:avLst/>
          </a:prstGeom>
        </p:spPr>
        <p:txBody>
          <a:bodyPr anchor="t" rtlCol="false" tIns="0" lIns="0" bIns="0" rIns="0">
            <a:spAutoFit/>
          </a:bodyPr>
          <a:lstStyle/>
          <a:p>
            <a:pPr algn="l" marL="0" indent="0" lvl="0">
              <a:lnSpc>
                <a:spcPts val="5460"/>
              </a:lnSpc>
            </a:pPr>
            <a:r>
              <a:rPr lang="en-US" b="true" sz="3900" spc="195">
                <a:solidFill>
                  <a:srgbClr val="000000"/>
                </a:solidFill>
                <a:latin typeface="Helios Extended Bold"/>
                <a:ea typeface="Helios Extended Bold"/>
                <a:cs typeface="Helios Extended Bold"/>
                <a:sym typeface="Helios Extended Bold"/>
              </a:rPr>
              <a:t>SELF-IMPROVEMENT ENTHUSIAST PERSONA</a:t>
            </a:r>
          </a:p>
        </p:txBody>
      </p:sp>
      <p:sp>
        <p:nvSpPr>
          <p:cNvPr name="TextBox 8" id="8"/>
          <p:cNvSpPr txBox="true"/>
          <p:nvPr/>
        </p:nvSpPr>
        <p:spPr>
          <a:xfrm rot="0">
            <a:off x="6939326" y="579435"/>
            <a:ext cx="10716310" cy="8361045"/>
          </a:xfrm>
          <a:prstGeom prst="rect">
            <a:avLst/>
          </a:prstGeom>
        </p:spPr>
        <p:txBody>
          <a:bodyPr anchor="t" rtlCol="false" tIns="0" lIns="0" bIns="0" rIns="0">
            <a:spAutoFit/>
          </a:bodyPr>
          <a:lstStyle/>
          <a:p>
            <a:pPr algn="l">
              <a:lnSpc>
                <a:spcPts val="3360"/>
              </a:lnSpc>
            </a:pPr>
            <a:r>
              <a:rPr lang="en-US" sz="2100" spc="210" b="true">
                <a:solidFill>
                  <a:srgbClr val="000000"/>
                </a:solidFill>
                <a:latin typeface="Lato Bold"/>
                <a:ea typeface="Lato Bold"/>
                <a:cs typeface="Lato Bold"/>
                <a:sym typeface="Lato Bold"/>
              </a:rPr>
              <a:t>Age:</a:t>
            </a:r>
            <a:r>
              <a:rPr lang="en-US" sz="2100" spc="210">
                <a:solidFill>
                  <a:srgbClr val="000000"/>
                </a:solidFill>
                <a:latin typeface="Lato"/>
                <a:ea typeface="Lato"/>
                <a:cs typeface="Lato"/>
                <a:sym typeface="Lato"/>
              </a:rPr>
              <a:t> 27</a:t>
            </a:r>
          </a:p>
          <a:p>
            <a:pPr algn="l">
              <a:lnSpc>
                <a:spcPts val="3360"/>
              </a:lnSpc>
            </a:pPr>
            <a:r>
              <a:rPr lang="en-US" sz="2100" spc="210" b="true">
                <a:solidFill>
                  <a:srgbClr val="000000"/>
                </a:solidFill>
                <a:latin typeface="Lato Bold"/>
                <a:ea typeface="Lato Bold"/>
                <a:cs typeface="Lato Bold"/>
                <a:sym typeface="Lato Bold"/>
              </a:rPr>
              <a:t>Gender:</a:t>
            </a:r>
            <a:r>
              <a:rPr lang="en-US" sz="2100" spc="210">
                <a:solidFill>
                  <a:srgbClr val="000000"/>
                </a:solidFill>
                <a:latin typeface="Lato"/>
                <a:ea typeface="Lato"/>
                <a:cs typeface="Lato"/>
                <a:sym typeface="Lato"/>
              </a:rPr>
              <a:t> Male</a:t>
            </a:r>
          </a:p>
          <a:p>
            <a:pPr algn="l">
              <a:lnSpc>
                <a:spcPts val="3360"/>
              </a:lnSpc>
            </a:pPr>
            <a:r>
              <a:rPr lang="en-US" sz="2100" spc="210" b="true">
                <a:solidFill>
                  <a:srgbClr val="000000"/>
                </a:solidFill>
                <a:latin typeface="Lato Bold"/>
                <a:ea typeface="Lato Bold"/>
                <a:cs typeface="Lato Bold"/>
                <a:sym typeface="Lato Bold"/>
              </a:rPr>
              <a:t>Occupation:</a:t>
            </a:r>
            <a:r>
              <a:rPr lang="en-US" sz="2100" spc="210">
                <a:solidFill>
                  <a:srgbClr val="000000"/>
                </a:solidFill>
                <a:latin typeface="Lato"/>
                <a:ea typeface="Lato"/>
                <a:cs typeface="Lato"/>
                <a:sym typeface="Lato"/>
              </a:rPr>
              <a:t> Fitness Coach</a:t>
            </a:r>
          </a:p>
          <a:p>
            <a:pPr algn="l">
              <a:lnSpc>
                <a:spcPts val="3360"/>
              </a:lnSpc>
            </a:pPr>
          </a:p>
          <a:p>
            <a:pPr algn="l">
              <a:lnSpc>
                <a:spcPts val="3360"/>
              </a:lnSpc>
            </a:pPr>
            <a:r>
              <a:rPr lang="en-US" sz="2100" spc="210">
                <a:solidFill>
                  <a:srgbClr val="000000"/>
                </a:solidFill>
                <a:latin typeface="Lato"/>
                <a:ea typeface="Lato"/>
                <a:cs typeface="Lato"/>
                <a:sym typeface="Lato"/>
              </a:rPr>
              <a:t>Alex actively tracks his workouts, sleep cycles, and productivity habits. He believes emotional well-being is just as important as physical health but lacks a structured system to measure it. He is interested in data-driven insights and enjoys tools that provide analytics and visualizations.</a:t>
            </a:r>
          </a:p>
          <a:p>
            <a:pPr algn="l">
              <a:lnSpc>
                <a:spcPts val="3360"/>
              </a:lnSpc>
            </a:pPr>
          </a:p>
          <a:p>
            <a:pPr algn="l">
              <a:lnSpc>
                <a:spcPts val="3360"/>
              </a:lnSpc>
            </a:pPr>
            <a:r>
              <a:rPr lang="en-US" sz="2100" spc="210">
                <a:solidFill>
                  <a:srgbClr val="000000"/>
                </a:solidFill>
                <a:latin typeface="Lato"/>
                <a:ea typeface="Lato"/>
                <a:cs typeface="Lato"/>
                <a:sym typeface="Lato"/>
              </a:rPr>
              <a:t>Challenges:</a:t>
            </a:r>
          </a:p>
          <a:p>
            <a:pPr algn="l" marL="453390" indent="-226695" lvl="1">
              <a:lnSpc>
                <a:spcPts val="3360"/>
              </a:lnSpc>
              <a:buFont typeface="Arial"/>
              <a:buChar char="•"/>
            </a:pPr>
            <a:r>
              <a:rPr lang="en-US" sz="2100" spc="210">
                <a:solidFill>
                  <a:srgbClr val="000000"/>
                </a:solidFill>
                <a:latin typeface="Lato"/>
                <a:ea typeface="Lato"/>
                <a:cs typeface="Lato"/>
                <a:sym typeface="Lato"/>
              </a:rPr>
              <a:t>Journaling apps provide no analytical insights</a:t>
            </a:r>
          </a:p>
          <a:p>
            <a:pPr algn="l" marL="453390" indent="-226695" lvl="1">
              <a:lnSpc>
                <a:spcPts val="3360"/>
              </a:lnSpc>
              <a:buFont typeface="Arial"/>
              <a:buChar char="•"/>
            </a:pPr>
            <a:r>
              <a:rPr lang="en-US" sz="2100" spc="210">
                <a:solidFill>
                  <a:srgbClr val="000000"/>
                </a:solidFill>
                <a:latin typeface="Lato"/>
                <a:ea typeface="Lato"/>
                <a:cs typeface="Lato"/>
                <a:sym typeface="Lato"/>
              </a:rPr>
              <a:t>No measurable way to track emotional consistency</a:t>
            </a:r>
          </a:p>
          <a:p>
            <a:pPr algn="l" marL="453390" indent="-226695" lvl="1">
              <a:lnSpc>
                <a:spcPts val="3360"/>
              </a:lnSpc>
              <a:buFont typeface="Arial"/>
              <a:buChar char="•"/>
            </a:pPr>
            <a:r>
              <a:rPr lang="en-US" sz="2100" spc="210">
                <a:solidFill>
                  <a:srgbClr val="000000"/>
                </a:solidFill>
                <a:latin typeface="Lato"/>
                <a:ea typeface="Lato"/>
                <a:cs typeface="Lato"/>
                <a:sym typeface="Lato"/>
              </a:rPr>
              <a:t>Wants deeper pattern recognition</a:t>
            </a:r>
          </a:p>
          <a:p>
            <a:pPr algn="l" marL="453390" indent="-226695" lvl="1">
              <a:lnSpc>
                <a:spcPts val="3360"/>
              </a:lnSpc>
              <a:buFont typeface="Arial"/>
              <a:buChar char="•"/>
            </a:pPr>
            <a:r>
              <a:rPr lang="en-US" sz="2100" spc="210">
                <a:solidFill>
                  <a:srgbClr val="000000"/>
                </a:solidFill>
                <a:latin typeface="Lato"/>
                <a:ea typeface="Lato"/>
                <a:cs typeface="Lato"/>
                <a:sym typeface="Lato"/>
              </a:rPr>
              <a:t>Prefers technology-backed recommendations</a:t>
            </a:r>
          </a:p>
          <a:p>
            <a:pPr algn="l">
              <a:lnSpc>
                <a:spcPts val="3360"/>
              </a:lnSpc>
            </a:pPr>
          </a:p>
          <a:p>
            <a:pPr algn="l">
              <a:lnSpc>
                <a:spcPts val="3360"/>
              </a:lnSpc>
            </a:pPr>
            <a:r>
              <a:rPr lang="en-US" sz="2100" spc="210">
                <a:solidFill>
                  <a:srgbClr val="000000"/>
                </a:solidFill>
                <a:latin typeface="Lato"/>
                <a:ea typeface="Lato"/>
                <a:cs typeface="Lato"/>
                <a:sym typeface="Lato"/>
              </a:rPr>
              <a:t>Goals:</a:t>
            </a:r>
          </a:p>
          <a:p>
            <a:pPr algn="l" marL="453390" indent="-226695" lvl="1">
              <a:lnSpc>
                <a:spcPts val="3360"/>
              </a:lnSpc>
              <a:buFont typeface="Arial"/>
              <a:buChar char="•"/>
            </a:pPr>
            <a:r>
              <a:rPr lang="en-US" sz="2100" spc="210">
                <a:solidFill>
                  <a:srgbClr val="000000"/>
                </a:solidFill>
                <a:latin typeface="Lato"/>
                <a:ea typeface="Lato"/>
                <a:cs typeface="Lato"/>
                <a:sym typeface="Lato"/>
              </a:rPr>
              <a:t>Quantify emotional trends</a:t>
            </a:r>
          </a:p>
          <a:p>
            <a:pPr algn="l" marL="453390" indent="-226695" lvl="1">
              <a:lnSpc>
                <a:spcPts val="3360"/>
              </a:lnSpc>
              <a:buFont typeface="Arial"/>
              <a:buChar char="•"/>
            </a:pPr>
            <a:r>
              <a:rPr lang="en-US" sz="2100" spc="210">
                <a:solidFill>
                  <a:srgbClr val="000000"/>
                </a:solidFill>
                <a:latin typeface="Lato"/>
                <a:ea typeface="Lato"/>
                <a:cs typeface="Lato"/>
                <a:sym typeface="Lato"/>
              </a:rPr>
              <a:t>Compare mood ratings with AI sentiment analysis</a:t>
            </a:r>
          </a:p>
          <a:p>
            <a:pPr algn="l" marL="453390" indent="-226695" lvl="1">
              <a:lnSpc>
                <a:spcPts val="3360"/>
              </a:lnSpc>
              <a:buFont typeface="Arial"/>
              <a:buChar char="•"/>
            </a:pPr>
            <a:r>
              <a:rPr lang="en-US" sz="2100" spc="210">
                <a:solidFill>
                  <a:srgbClr val="000000"/>
                </a:solidFill>
                <a:latin typeface="Lato"/>
                <a:ea typeface="Lato"/>
                <a:cs typeface="Lato"/>
                <a:sym typeface="Lato"/>
              </a:rPr>
              <a:t>Identify emotional volatility</a:t>
            </a:r>
          </a:p>
          <a:p>
            <a:pPr algn="l" marL="453390" indent="-226695" lvl="1">
              <a:lnSpc>
                <a:spcPts val="3360"/>
              </a:lnSpc>
              <a:buFont typeface="Arial"/>
              <a:buChar char="•"/>
            </a:pPr>
            <a:r>
              <a:rPr lang="en-US" sz="2100" spc="210">
                <a:solidFill>
                  <a:srgbClr val="000000"/>
                </a:solidFill>
                <a:latin typeface="Lato"/>
                <a:ea typeface="Lato"/>
                <a:cs typeface="Lato"/>
                <a:sym typeface="Lato"/>
              </a:rPr>
              <a:t>Optimize overall mental performance</a:t>
            </a:r>
          </a:p>
        </p:txBody>
      </p:sp>
      <p:sp>
        <p:nvSpPr>
          <p:cNvPr name="TextBox 9" id="9"/>
          <p:cNvSpPr txBox="true"/>
          <p:nvPr/>
        </p:nvSpPr>
        <p:spPr>
          <a:xfrm rot="0">
            <a:off x="6948851" y="252410"/>
            <a:ext cx="8499682" cy="412750"/>
          </a:xfrm>
          <a:prstGeom prst="rect">
            <a:avLst/>
          </a:prstGeom>
        </p:spPr>
        <p:txBody>
          <a:bodyPr anchor="t" rtlCol="false" tIns="0" lIns="0" bIns="0" rIns="0">
            <a:spAutoFit/>
          </a:bodyPr>
          <a:lstStyle/>
          <a:p>
            <a:pPr algn="l" marL="0" indent="0" lvl="0">
              <a:lnSpc>
                <a:spcPts val="3499"/>
              </a:lnSpc>
            </a:pPr>
            <a:r>
              <a:rPr lang="en-US" b="true" sz="2499" spc="249">
                <a:solidFill>
                  <a:srgbClr val="264653"/>
                </a:solidFill>
                <a:latin typeface="Heebo Bold"/>
                <a:ea typeface="Heebo Bold"/>
                <a:cs typeface="Heebo Bold"/>
                <a:sym typeface="Heebo Bold"/>
              </a:rPr>
              <a:t>NAME: ALEX RIVERA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03718" y="216166"/>
            <a:ext cx="17480564" cy="9854668"/>
          </a:xfrm>
          <a:custGeom>
            <a:avLst/>
            <a:gdLst/>
            <a:ahLst/>
            <a:cxnLst/>
            <a:rect r="r" b="b" t="t" l="l"/>
            <a:pathLst>
              <a:path h="9854668" w="17480564">
                <a:moveTo>
                  <a:pt x="0" y="0"/>
                </a:moveTo>
                <a:lnTo>
                  <a:pt x="17480564" y="0"/>
                </a:lnTo>
                <a:lnTo>
                  <a:pt x="17480564" y="9854668"/>
                </a:lnTo>
                <a:lnTo>
                  <a:pt x="0" y="9854668"/>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5691" y="2062534"/>
            <a:ext cx="3456596" cy="6356958"/>
          </a:xfrm>
          <a:custGeom>
            <a:avLst/>
            <a:gdLst/>
            <a:ahLst/>
            <a:cxnLst/>
            <a:rect r="r" b="b" t="t" l="l"/>
            <a:pathLst>
              <a:path h="6356958" w="3456596">
                <a:moveTo>
                  <a:pt x="0" y="0"/>
                </a:moveTo>
                <a:lnTo>
                  <a:pt x="3456596" y="0"/>
                </a:lnTo>
                <a:lnTo>
                  <a:pt x="3456596" y="6356958"/>
                </a:lnTo>
                <a:lnTo>
                  <a:pt x="0" y="6356958"/>
                </a:lnTo>
                <a:lnTo>
                  <a:pt x="0" y="0"/>
                </a:lnTo>
                <a:close/>
              </a:path>
            </a:pathLst>
          </a:custGeom>
          <a:blipFill>
            <a:blip r:embed="rId2"/>
            <a:stretch>
              <a:fillRect l="0" t="0" r="0" b="0"/>
            </a:stretch>
          </a:blipFill>
        </p:spPr>
      </p:sp>
      <p:sp>
        <p:nvSpPr>
          <p:cNvPr name="TextBox 3" id="3"/>
          <p:cNvSpPr txBox="true"/>
          <p:nvPr/>
        </p:nvSpPr>
        <p:spPr>
          <a:xfrm rot="0">
            <a:off x="3958307" y="2384350"/>
            <a:ext cx="13300993" cy="6381524"/>
          </a:xfrm>
          <a:prstGeom prst="rect">
            <a:avLst/>
          </a:prstGeom>
        </p:spPr>
        <p:txBody>
          <a:bodyPr anchor="t" rtlCol="false" tIns="0" lIns="0" bIns="0" rIns="0">
            <a:spAutoFit/>
          </a:bodyPr>
          <a:lstStyle/>
          <a:p>
            <a:pPr algn="ctr">
              <a:lnSpc>
                <a:spcPts val="3607"/>
              </a:lnSpc>
              <a:spcBef>
                <a:spcPct val="0"/>
              </a:spcBef>
            </a:pPr>
          </a:p>
          <a:p>
            <a:pPr algn="just">
              <a:lnSpc>
                <a:spcPts val="3607"/>
              </a:lnSpc>
              <a:spcBef>
                <a:spcPct val="0"/>
              </a:spcBef>
            </a:pPr>
            <a:r>
              <a:rPr lang="en-US" sz="2254" spc="225">
                <a:solidFill>
                  <a:srgbClr val="000000"/>
                </a:solidFill>
                <a:latin typeface="Lato"/>
                <a:ea typeface="Lato"/>
                <a:cs typeface="Lato"/>
                <a:sym typeface="Lato"/>
              </a:rPr>
              <a:t>An AI-powered journaling application with real-time emotional analysis and visual mood tracking.</a:t>
            </a:r>
          </a:p>
          <a:p>
            <a:pPr algn="l">
              <a:lnSpc>
                <a:spcPts val="3607"/>
              </a:lnSpc>
              <a:spcBef>
                <a:spcPct val="0"/>
              </a:spcBef>
            </a:pPr>
          </a:p>
          <a:p>
            <a:pPr algn="l" marL="486734" indent="-243367" lvl="1">
              <a:lnSpc>
                <a:spcPts val="3607"/>
              </a:lnSpc>
              <a:buFont typeface="Arial"/>
              <a:buChar char="•"/>
            </a:pPr>
            <a:r>
              <a:rPr lang="en-US" b="true" sz="2254" spc="225">
                <a:solidFill>
                  <a:srgbClr val="006D77"/>
                </a:solidFill>
                <a:latin typeface="Lato Bold"/>
                <a:ea typeface="Lato Bold"/>
                <a:cs typeface="Lato Bold"/>
                <a:sym typeface="Lato Bold"/>
              </a:rPr>
              <a:t>Real-Time Sentiment Analysis</a:t>
            </a:r>
            <a:r>
              <a:rPr lang="en-US" sz="2254" spc="225">
                <a:solidFill>
                  <a:srgbClr val="000000"/>
                </a:solidFill>
                <a:latin typeface="Lato"/>
                <a:ea typeface="Lato"/>
                <a:cs typeface="Lato"/>
                <a:sym typeface="Lato"/>
              </a:rPr>
              <a:t> – Journal entries are analyzed instantly using an NLP model.</a:t>
            </a:r>
          </a:p>
          <a:p>
            <a:pPr algn="l" marL="486734" indent="-243367" lvl="1">
              <a:lnSpc>
                <a:spcPts val="3607"/>
              </a:lnSpc>
              <a:buFont typeface="Arial"/>
              <a:buChar char="•"/>
            </a:pPr>
            <a:r>
              <a:rPr lang="en-US" b="true" sz="2254" spc="225">
                <a:solidFill>
                  <a:srgbClr val="006D77"/>
                </a:solidFill>
                <a:latin typeface="Lato Bold"/>
                <a:ea typeface="Lato Bold"/>
                <a:cs typeface="Lato Bold"/>
                <a:sym typeface="Lato Bold"/>
              </a:rPr>
              <a:t>Mood Classification System</a:t>
            </a:r>
            <a:r>
              <a:rPr lang="en-US" sz="2254" spc="225">
                <a:solidFill>
                  <a:srgbClr val="000000"/>
                </a:solidFill>
                <a:latin typeface="Lato"/>
                <a:ea typeface="Lato"/>
                <a:cs typeface="Lato"/>
                <a:sym typeface="Lato"/>
              </a:rPr>
              <a:t> – Each entry is labeled as Positive, Neutral, or Negative.</a:t>
            </a:r>
          </a:p>
          <a:p>
            <a:pPr algn="l" marL="486734" indent="-243367" lvl="1">
              <a:lnSpc>
                <a:spcPts val="3607"/>
              </a:lnSpc>
              <a:buFont typeface="Arial"/>
              <a:buChar char="•"/>
            </a:pPr>
            <a:r>
              <a:rPr lang="en-US" b="true" sz="2254" spc="225">
                <a:solidFill>
                  <a:srgbClr val="006D77"/>
                </a:solidFill>
                <a:latin typeface="Lato Bold"/>
                <a:ea typeface="Lato Bold"/>
                <a:cs typeface="Lato Bold"/>
                <a:sym typeface="Lato Bold"/>
              </a:rPr>
              <a:t>Confidence Score Display</a:t>
            </a:r>
            <a:r>
              <a:rPr lang="en-US" sz="2254" spc="225">
                <a:solidFill>
                  <a:srgbClr val="000000"/>
                </a:solidFill>
                <a:latin typeface="Lato"/>
                <a:ea typeface="Lato"/>
                <a:cs typeface="Lato"/>
                <a:sym typeface="Lato"/>
              </a:rPr>
              <a:t> – Shows the model’s certainty level for each classification.</a:t>
            </a:r>
          </a:p>
          <a:p>
            <a:pPr algn="l" marL="486734" indent="-243367" lvl="1">
              <a:lnSpc>
                <a:spcPts val="3607"/>
              </a:lnSpc>
              <a:buFont typeface="Arial"/>
              <a:buChar char="•"/>
            </a:pPr>
            <a:r>
              <a:rPr lang="en-US" b="true" sz="2254" spc="225">
                <a:solidFill>
                  <a:srgbClr val="006D77"/>
                </a:solidFill>
                <a:latin typeface="Lato Bold"/>
                <a:ea typeface="Lato Bold"/>
                <a:cs typeface="Lato Bold"/>
                <a:sym typeface="Lato Bold"/>
              </a:rPr>
              <a:t>Immediate Mood Feedback</a:t>
            </a:r>
            <a:r>
              <a:rPr lang="en-US" sz="2254" spc="225">
                <a:solidFill>
                  <a:srgbClr val="000000"/>
                </a:solidFill>
                <a:latin typeface="Lato"/>
                <a:ea typeface="Lato"/>
                <a:cs typeface="Lato"/>
                <a:sym typeface="Lato"/>
              </a:rPr>
              <a:t> – Provides short, supportive emotional insights after analysis</a:t>
            </a:r>
          </a:p>
          <a:p>
            <a:pPr algn="l" marL="486734" indent="-243367" lvl="1">
              <a:lnSpc>
                <a:spcPts val="3607"/>
              </a:lnSpc>
              <a:buFont typeface="Arial"/>
              <a:buChar char="•"/>
            </a:pPr>
            <a:r>
              <a:rPr lang="en-US" b="true" sz="2254" spc="225">
                <a:solidFill>
                  <a:srgbClr val="006D77"/>
                </a:solidFill>
                <a:latin typeface="Lato Bold"/>
                <a:ea typeface="Lato Bold"/>
                <a:cs typeface="Lato Bold"/>
                <a:sym typeface="Lato Bold"/>
              </a:rPr>
              <a:t>Visual Mood Distribution</a:t>
            </a:r>
            <a:r>
              <a:rPr lang="en-US" sz="2254" spc="225">
                <a:solidFill>
                  <a:srgbClr val="000000"/>
                </a:solidFill>
                <a:latin typeface="Lato"/>
                <a:ea typeface="Lato"/>
                <a:cs typeface="Lato"/>
                <a:sym typeface="Lato"/>
              </a:rPr>
              <a:t> – Displays a basic chart showing mood trends over time.</a:t>
            </a:r>
          </a:p>
          <a:p>
            <a:pPr algn="l" marL="486734" indent="-243367" lvl="1">
              <a:lnSpc>
                <a:spcPts val="3607"/>
              </a:lnSpc>
              <a:buFont typeface="Arial"/>
              <a:buChar char="•"/>
            </a:pPr>
            <a:r>
              <a:rPr lang="en-US" b="true" sz="2254" spc="225">
                <a:solidFill>
                  <a:srgbClr val="006D77"/>
                </a:solidFill>
                <a:latin typeface="Lato Bold"/>
                <a:ea typeface="Lato Bold"/>
                <a:cs typeface="Lato Bold"/>
                <a:sym typeface="Lato Bold"/>
              </a:rPr>
              <a:t>Local Entry Persistence</a:t>
            </a:r>
            <a:r>
              <a:rPr lang="en-US" sz="2254" spc="225">
                <a:solidFill>
                  <a:srgbClr val="000000"/>
                </a:solidFill>
                <a:latin typeface="Lato"/>
                <a:ea typeface="Lato"/>
                <a:cs typeface="Lato"/>
                <a:sym typeface="Lato"/>
              </a:rPr>
              <a:t> – Saves journal entries locally for later review (MVP scope).</a:t>
            </a:r>
          </a:p>
        </p:txBody>
      </p:sp>
      <p:sp>
        <p:nvSpPr>
          <p:cNvPr name="TextBox 4" id="4"/>
          <p:cNvSpPr txBox="true"/>
          <p:nvPr/>
        </p:nvSpPr>
        <p:spPr>
          <a:xfrm rot="0">
            <a:off x="3354506" y="923925"/>
            <a:ext cx="11578987"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MINIMAL VIABLE PRODUCT (MVP)</a:t>
            </a:r>
          </a:p>
        </p:txBody>
      </p:sp>
      <p:grpSp>
        <p:nvGrpSpPr>
          <p:cNvPr name="Group 5" id="5"/>
          <p:cNvGrpSpPr/>
          <p:nvPr/>
        </p:nvGrpSpPr>
        <p:grpSpPr>
          <a:xfrm rot="0">
            <a:off x="143691" y="9683062"/>
            <a:ext cx="2003497" cy="422688"/>
            <a:chOff x="0" y="0"/>
            <a:chExt cx="2671330" cy="563585"/>
          </a:xfrm>
        </p:grpSpPr>
        <p:sp>
          <p:nvSpPr>
            <p:cNvPr name="Freeform 6" id="6"/>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196089" y="5865078"/>
            <a:ext cx="5091911" cy="4421922"/>
          </a:xfrm>
          <a:custGeom>
            <a:avLst/>
            <a:gdLst/>
            <a:ahLst/>
            <a:cxnLst/>
            <a:rect r="r" b="b" t="t" l="l"/>
            <a:pathLst>
              <a:path h="4421922" w="5091911">
                <a:moveTo>
                  <a:pt x="0" y="0"/>
                </a:moveTo>
                <a:lnTo>
                  <a:pt x="5091911" y="0"/>
                </a:lnTo>
                <a:lnTo>
                  <a:pt x="5091911" y="4421922"/>
                </a:lnTo>
                <a:lnTo>
                  <a:pt x="0" y="4421922"/>
                </a:lnTo>
                <a:lnTo>
                  <a:pt x="0" y="0"/>
                </a:lnTo>
                <a:close/>
              </a:path>
            </a:pathLst>
          </a:custGeom>
          <a:blipFill>
            <a:blip r:embed="rId2">
              <a:alphaModFix amt="48000"/>
            </a:blip>
            <a:stretch>
              <a:fillRect l="0" t="0" r="0" b="0"/>
            </a:stretch>
          </a:blipFill>
        </p:spPr>
      </p:sp>
      <p:sp>
        <p:nvSpPr>
          <p:cNvPr name="TextBox 3" id="3"/>
          <p:cNvSpPr txBox="true"/>
          <p:nvPr/>
        </p:nvSpPr>
        <p:spPr>
          <a:xfrm rot="0">
            <a:off x="1482759" y="2049780"/>
            <a:ext cx="15322482" cy="5920740"/>
          </a:xfrm>
          <a:prstGeom prst="rect">
            <a:avLst/>
          </a:prstGeom>
        </p:spPr>
        <p:txBody>
          <a:bodyPr anchor="t" rtlCol="false" tIns="0" lIns="0" bIns="0" rIns="0">
            <a:spAutoFit/>
          </a:bodyPr>
          <a:lstStyle/>
          <a:p>
            <a:pPr algn="l">
              <a:lnSpc>
                <a:spcPts val="5250"/>
              </a:lnSpc>
            </a:pPr>
            <a:r>
              <a:rPr lang="en-US" sz="2100" spc="210">
                <a:solidFill>
                  <a:srgbClr val="000000"/>
                </a:solidFill>
                <a:latin typeface="Lato"/>
                <a:ea typeface="Lato"/>
                <a:cs typeface="Lato"/>
                <a:sym typeface="Lato"/>
              </a:rPr>
              <a:t>●</a:t>
            </a:r>
            <a:r>
              <a:rPr lang="en-US" b="true" sz="2100" spc="210">
                <a:solidFill>
                  <a:srgbClr val="006D77"/>
                </a:solidFill>
                <a:latin typeface="Lato Bold"/>
                <a:ea typeface="Lato Bold"/>
                <a:cs typeface="Lato Bold"/>
                <a:sym typeface="Lato Bold"/>
              </a:rPr>
              <a:t> Journal Input Manager :</a:t>
            </a:r>
            <a:r>
              <a:rPr lang="en-US" sz="2100" spc="210">
                <a:solidFill>
                  <a:srgbClr val="000000"/>
                </a:solidFill>
                <a:latin typeface="Lato"/>
                <a:ea typeface="Lato"/>
                <a:cs typeface="Lato"/>
                <a:sym typeface="Lato"/>
              </a:rPr>
              <a:t> Handles user journal entry input and submission through the web interface.</a:t>
            </a:r>
          </a:p>
          <a:p>
            <a:pPr algn="l">
              <a:lnSpc>
                <a:spcPts val="5250"/>
              </a:lnSpc>
            </a:pPr>
            <a:r>
              <a:rPr lang="en-US" sz="2100" spc="210">
                <a:solidFill>
                  <a:srgbClr val="000000"/>
                </a:solidFill>
                <a:latin typeface="Lato"/>
                <a:ea typeface="Lato"/>
                <a:cs typeface="Lato"/>
                <a:sym typeface="Lato"/>
              </a:rPr>
              <a:t>● </a:t>
            </a:r>
            <a:r>
              <a:rPr lang="en-US" b="true" sz="2100" spc="210">
                <a:solidFill>
                  <a:srgbClr val="006D77"/>
                </a:solidFill>
                <a:latin typeface="Lato Bold"/>
                <a:ea typeface="Lato Bold"/>
                <a:cs typeface="Lato Bold"/>
                <a:sym typeface="Lato Bold"/>
              </a:rPr>
              <a:t>Backend API Manager :</a:t>
            </a:r>
            <a:r>
              <a:rPr lang="en-US" sz="2100" spc="210">
                <a:solidFill>
                  <a:srgbClr val="000000"/>
                </a:solidFill>
                <a:latin typeface="Lato"/>
                <a:ea typeface="Lato"/>
                <a:cs typeface="Lato"/>
                <a:sym typeface="Lato"/>
              </a:rPr>
              <a:t> Manages HTTP requests and communication between frontend, sentiment model, and database.</a:t>
            </a:r>
          </a:p>
          <a:p>
            <a:pPr algn="l">
              <a:lnSpc>
                <a:spcPts val="5250"/>
              </a:lnSpc>
            </a:pPr>
            <a:r>
              <a:rPr lang="en-US" sz="2100" spc="210">
                <a:solidFill>
                  <a:srgbClr val="000000"/>
                </a:solidFill>
                <a:latin typeface="Lato"/>
                <a:ea typeface="Lato"/>
                <a:cs typeface="Lato"/>
                <a:sym typeface="Lato"/>
              </a:rPr>
              <a:t>● </a:t>
            </a:r>
            <a:r>
              <a:rPr lang="en-US" b="true" sz="2100" spc="210">
                <a:solidFill>
                  <a:srgbClr val="006D77"/>
                </a:solidFill>
                <a:latin typeface="Lato Bold"/>
                <a:ea typeface="Lato Bold"/>
                <a:cs typeface="Lato Bold"/>
                <a:sym typeface="Lato Bold"/>
              </a:rPr>
              <a:t>Sentiment Analysis Manager :</a:t>
            </a:r>
            <a:r>
              <a:rPr lang="en-US" sz="2100" spc="210">
                <a:solidFill>
                  <a:srgbClr val="000000"/>
                </a:solidFill>
                <a:latin typeface="Lato"/>
                <a:ea typeface="Lato"/>
                <a:cs typeface="Lato"/>
                <a:sym typeface="Lato"/>
              </a:rPr>
              <a:t> Processes journal text and classifies sentiment (Positive / Neutral / Negative).</a:t>
            </a:r>
          </a:p>
          <a:p>
            <a:pPr algn="l">
              <a:lnSpc>
                <a:spcPts val="5250"/>
              </a:lnSpc>
            </a:pPr>
            <a:r>
              <a:rPr lang="en-US" sz="2100" spc="210">
                <a:solidFill>
                  <a:srgbClr val="000000"/>
                </a:solidFill>
                <a:latin typeface="Lato"/>
                <a:ea typeface="Lato"/>
                <a:cs typeface="Lato"/>
                <a:sym typeface="Lato"/>
              </a:rPr>
              <a:t>● </a:t>
            </a:r>
            <a:r>
              <a:rPr lang="en-US" b="true" sz="2100" spc="210">
                <a:solidFill>
                  <a:srgbClr val="006D77"/>
                </a:solidFill>
                <a:latin typeface="Lato Bold"/>
                <a:ea typeface="Lato Bold"/>
                <a:cs typeface="Lato Bold"/>
                <a:sym typeface="Lato Bold"/>
              </a:rPr>
              <a:t>Confidence Scoring Module:</a:t>
            </a:r>
            <a:r>
              <a:rPr lang="en-US" sz="2100" spc="210">
                <a:solidFill>
                  <a:srgbClr val="000000"/>
                </a:solidFill>
                <a:latin typeface="Lato"/>
                <a:ea typeface="Lato"/>
                <a:cs typeface="Lato"/>
                <a:sym typeface="Lato"/>
              </a:rPr>
              <a:t> Extracts prediction probability scores from the DistilBERT output.</a:t>
            </a:r>
          </a:p>
          <a:p>
            <a:pPr algn="l">
              <a:lnSpc>
                <a:spcPts val="5250"/>
              </a:lnSpc>
            </a:pPr>
            <a:r>
              <a:rPr lang="en-US" sz="2100" spc="210">
                <a:solidFill>
                  <a:srgbClr val="000000"/>
                </a:solidFill>
                <a:latin typeface="Lato"/>
                <a:ea typeface="Lato"/>
                <a:cs typeface="Lato"/>
                <a:sym typeface="Lato"/>
              </a:rPr>
              <a:t>● </a:t>
            </a:r>
            <a:r>
              <a:rPr lang="en-US" b="true" sz="2100" spc="210">
                <a:solidFill>
                  <a:srgbClr val="006D77"/>
                </a:solidFill>
                <a:latin typeface="Lato Bold"/>
                <a:ea typeface="Lato Bold"/>
                <a:cs typeface="Lato Bold"/>
                <a:sym typeface="Lato Bold"/>
              </a:rPr>
              <a:t>Mood Feedback Generator:</a:t>
            </a:r>
            <a:r>
              <a:rPr lang="en-US" sz="2100" spc="210">
                <a:solidFill>
                  <a:srgbClr val="000000"/>
                </a:solidFill>
                <a:latin typeface="Lato"/>
                <a:ea typeface="Lato"/>
                <a:cs typeface="Lato"/>
                <a:sym typeface="Lato"/>
              </a:rPr>
              <a:t> Converts sentiment results into short, supportive emotional insights.</a:t>
            </a:r>
          </a:p>
          <a:p>
            <a:pPr algn="l">
              <a:lnSpc>
                <a:spcPts val="5250"/>
              </a:lnSpc>
            </a:pPr>
            <a:r>
              <a:rPr lang="en-US" sz="2100" spc="210">
                <a:solidFill>
                  <a:srgbClr val="000000"/>
                </a:solidFill>
                <a:latin typeface="Lato"/>
                <a:ea typeface="Lato"/>
                <a:cs typeface="Lato"/>
                <a:sym typeface="Lato"/>
              </a:rPr>
              <a:t>● </a:t>
            </a:r>
            <a:r>
              <a:rPr lang="en-US" b="true" sz="2100" spc="210">
                <a:solidFill>
                  <a:srgbClr val="006D77"/>
                </a:solidFill>
                <a:latin typeface="Lato Bold"/>
                <a:ea typeface="Lato Bold"/>
                <a:cs typeface="Lato Bold"/>
                <a:sym typeface="Lato Bold"/>
              </a:rPr>
              <a:t>Data Persistence Layer :</a:t>
            </a:r>
            <a:r>
              <a:rPr lang="en-US" sz="2100" spc="210">
                <a:solidFill>
                  <a:srgbClr val="000000"/>
                </a:solidFill>
                <a:latin typeface="Lato"/>
                <a:ea typeface="Lato"/>
                <a:cs typeface="Lato"/>
                <a:sym typeface="Lato"/>
              </a:rPr>
              <a:t> Stores journal entries, sentiment labels, confidence scores, and timestamps.</a:t>
            </a:r>
          </a:p>
          <a:p>
            <a:pPr algn="l">
              <a:lnSpc>
                <a:spcPts val="5250"/>
              </a:lnSpc>
            </a:pPr>
            <a:r>
              <a:rPr lang="en-US" sz="2100" spc="210">
                <a:solidFill>
                  <a:srgbClr val="000000"/>
                </a:solidFill>
                <a:latin typeface="Lato"/>
                <a:ea typeface="Lato"/>
                <a:cs typeface="Lato"/>
                <a:sym typeface="Lato"/>
              </a:rPr>
              <a:t>● </a:t>
            </a:r>
            <a:r>
              <a:rPr lang="en-US" b="true" sz="2100" spc="210">
                <a:solidFill>
                  <a:srgbClr val="006D77"/>
                </a:solidFill>
                <a:latin typeface="Lato Bold"/>
                <a:ea typeface="Lato Bold"/>
                <a:cs typeface="Lato Bold"/>
                <a:sym typeface="Lato Bold"/>
              </a:rPr>
              <a:t>Mood Visualization Manager:</a:t>
            </a:r>
            <a:r>
              <a:rPr lang="en-US" sz="2100" spc="210">
                <a:solidFill>
                  <a:srgbClr val="000000"/>
                </a:solidFill>
                <a:latin typeface="Lato"/>
                <a:ea typeface="Lato"/>
                <a:cs typeface="Lato"/>
                <a:sym typeface="Lato"/>
              </a:rPr>
              <a:t> Retrieves stored data and generates mood distribution charts over time.</a:t>
            </a:r>
          </a:p>
        </p:txBody>
      </p:sp>
      <p:sp>
        <p:nvSpPr>
          <p:cNvPr name="TextBox 4" id="4"/>
          <p:cNvSpPr txBox="true"/>
          <p:nvPr/>
        </p:nvSpPr>
        <p:spPr>
          <a:xfrm rot="0">
            <a:off x="1028700" y="923925"/>
            <a:ext cx="15430711" cy="741045"/>
          </a:xfrm>
          <a:prstGeom prst="rect">
            <a:avLst/>
          </a:prstGeom>
        </p:spPr>
        <p:txBody>
          <a:bodyPr anchor="t" rtlCol="false" tIns="0" lIns="0" bIns="0" rIns="0">
            <a:spAutoFit/>
          </a:bodyPr>
          <a:lstStyle/>
          <a:p>
            <a:pPr algn="ctr" marL="0" indent="0" lvl="0">
              <a:lnSpc>
                <a:spcPts val="5880"/>
              </a:lnSpc>
            </a:pPr>
            <a:r>
              <a:rPr lang="en-US" b="true" sz="4200" spc="210">
                <a:solidFill>
                  <a:srgbClr val="000000"/>
                </a:solidFill>
                <a:latin typeface="Helios Extended Bold"/>
                <a:ea typeface="Helios Extended Bold"/>
                <a:cs typeface="Helios Extended Bold"/>
                <a:sym typeface="Helios Extended Bold"/>
              </a:rPr>
              <a:t>COMPONENTS</a:t>
            </a:r>
          </a:p>
        </p:txBody>
      </p:sp>
      <p:grpSp>
        <p:nvGrpSpPr>
          <p:cNvPr name="Group 5" id="5"/>
          <p:cNvGrpSpPr/>
          <p:nvPr/>
        </p:nvGrpSpPr>
        <p:grpSpPr>
          <a:xfrm rot="0">
            <a:off x="143691" y="9683062"/>
            <a:ext cx="2003497" cy="422688"/>
            <a:chOff x="0" y="0"/>
            <a:chExt cx="2671330" cy="563585"/>
          </a:xfrm>
        </p:grpSpPr>
        <p:sp>
          <p:nvSpPr>
            <p:cNvPr name="Freeform 6" id="6"/>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127713" y="2222977"/>
            <a:ext cx="12253383" cy="6711705"/>
          </a:xfrm>
          <a:custGeom>
            <a:avLst/>
            <a:gdLst/>
            <a:ahLst/>
            <a:cxnLst/>
            <a:rect r="r" b="b" t="t" l="l"/>
            <a:pathLst>
              <a:path h="6711705" w="12253383">
                <a:moveTo>
                  <a:pt x="0" y="0"/>
                </a:moveTo>
                <a:lnTo>
                  <a:pt x="12253383" y="0"/>
                </a:lnTo>
                <a:lnTo>
                  <a:pt x="12253383" y="6711706"/>
                </a:lnTo>
                <a:lnTo>
                  <a:pt x="0" y="6711706"/>
                </a:lnTo>
                <a:lnTo>
                  <a:pt x="0" y="0"/>
                </a:lnTo>
                <a:close/>
              </a:path>
            </a:pathLst>
          </a:custGeom>
          <a:blipFill>
            <a:blip r:embed="rId2"/>
            <a:stretch>
              <a:fillRect l="0" t="0" r="0" b="0"/>
            </a:stretch>
          </a:blipFill>
        </p:spPr>
      </p:sp>
      <p:sp>
        <p:nvSpPr>
          <p:cNvPr name="TextBox 3" id="3"/>
          <p:cNvSpPr txBox="true"/>
          <p:nvPr/>
        </p:nvSpPr>
        <p:spPr>
          <a:xfrm rot="0">
            <a:off x="759143" y="4349115"/>
            <a:ext cx="5351711" cy="1483995"/>
          </a:xfrm>
          <a:prstGeom prst="rect">
            <a:avLst/>
          </a:prstGeom>
        </p:spPr>
        <p:txBody>
          <a:bodyPr anchor="t" rtlCol="false" tIns="0" lIns="0" bIns="0" rIns="0">
            <a:spAutoFit/>
          </a:bodyPr>
          <a:lstStyle/>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ARCHITECTURE</a:t>
            </a:r>
          </a:p>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DIAGRAM</a:t>
            </a:r>
          </a:p>
        </p:txBody>
      </p:sp>
      <p:grpSp>
        <p:nvGrpSpPr>
          <p:cNvPr name="Group 4" id="4"/>
          <p:cNvGrpSpPr/>
          <p:nvPr/>
        </p:nvGrpSpPr>
        <p:grpSpPr>
          <a:xfrm rot="0">
            <a:off x="143691" y="9683062"/>
            <a:ext cx="2003497" cy="422688"/>
            <a:chOff x="0" y="0"/>
            <a:chExt cx="2671330" cy="563585"/>
          </a:xfrm>
        </p:grpSpPr>
        <p:sp>
          <p:nvSpPr>
            <p:cNvPr name="Freeform 5" id="5"/>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3691" y="9683062"/>
            <a:ext cx="2003497" cy="422688"/>
            <a:chOff x="0" y="0"/>
            <a:chExt cx="2671330" cy="563585"/>
          </a:xfrm>
        </p:grpSpPr>
        <p:sp>
          <p:nvSpPr>
            <p:cNvPr name="Freeform 3" id="3"/>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Freeform 5" id="5"/>
          <p:cNvSpPr/>
          <p:nvPr/>
        </p:nvSpPr>
        <p:spPr>
          <a:xfrm flipH="false" flipV="false" rot="0">
            <a:off x="5900078" y="2037186"/>
            <a:ext cx="11359222" cy="6866019"/>
          </a:xfrm>
          <a:custGeom>
            <a:avLst/>
            <a:gdLst/>
            <a:ahLst/>
            <a:cxnLst/>
            <a:rect r="r" b="b" t="t" l="l"/>
            <a:pathLst>
              <a:path h="6866019" w="11359222">
                <a:moveTo>
                  <a:pt x="0" y="0"/>
                </a:moveTo>
                <a:lnTo>
                  <a:pt x="11359222" y="0"/>
                </a:lnTo>
                <a:lnTo>
                  <a:pt x="11359222" y="6866018"/>
                </a:lnTo>
                <a:lnTo>
                  <a:pt x="0" y="6866018"/>
                </a:lnTo>
                <a:lnTo>
                  <a:pt x="0" y="0"/>
                </a:lnTo>
                <a:close/>
              </a:path>
            </a:pathLst>
          </a:custGeom>
          <a:blipFill>
            <a:blip r:embed="rId4"/>
            <a:stretch>
              <a:fillRect l="0" t="0" r="0" b="0"/>
            </a:stretch>
          </a:blipFill>
        </p:spPr>
      </p:sp>
      <p:sp>
        <p:nvSpPr>
          <p:cNvPr name="TextBox 6" id="6"/>
          <p:cNvSpPr txBox="true"/>
          <p:nvPr/>
        </p:nvSpPr>
        <p:spPr>
          <a:xfrm rot="0">
            <a:off x="759143" y="4729150"/>
            <a:ext cx="4427786" cy="741045"/>
          </a:xfrm>
          <a:prstGeom prst="rect">
            <a:avLst/>
          </a:prstGeom>
        </p:spPr>
        <p:txBody>
          <a:bodyPr anchor="t" rtlCol="false" tIns="0" lIns="0" bIns="0" rIns="0">
            <a:spAutoFit/>
          </a:bodyPr>
          <a:lstStyle/>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ER DIAGRAM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3691" y="9683062"/>
            <a:ext cx="2003497" cy="422688"/>
            <a:chOff x="0" y="0"/>
            <a:chExt cx="2671330" cy="563585"/>
          </a:xfrm>
        </p:grpSpPr>
        <p:sp>
          <p:nvSpPr>
            <p:cNvPr name="Freeform 3" id="3"/>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Freeform 5" id="5"/>
          <p:cNvSpPr/>
          <p:nvPr/>
        </p:nvSpPr>
        <p:spPr>
          <a:xfrm flipH="false" flipV="false" rot="0">
            <a:off x="6664240" y="1383399"/>
            <a:ext cx="10146303" cy="7520201"/>
          </a:xfrm>
          <a:custGeom>
            <a:avLst/>
            <a:gdLst/>
            <a:ahLst/>
            <a:cxnLst/>
            <a:rect r="r" b="b" t="t" l="l"/>
            <a:pathLst>
              <a:path h="7520201" w="10146303">
                <a:moveTo>
                  <a:pt x="0" y="0"/>
                </a:moveTo>
                <a:lnTo>
                  <a:pt x="10146303" y="0"/>
                </a:lnTo>
                <a:lnTo>
                  <a:pt x="10146303" y="7520202"/>
                </a:lnTo>
                <a:lnTo>
                  <a:pt x="0" y="7520202"/>
                </a:lnTo>
                <a:lnTo>
                  <a:pt x="0" y="0"/>
                </a:lnTo>
                <a:close/>
              </a:path>
            </a:pathLst>
          </a:custGeom>
          <a:blipFill>
            <a:blip r:embed="rId4"/>
            <a:stretch>
              <a:fillRect l="0" t="0" r="0" b="0"/>
            </a:stretch>
          </a:blipFill>
        </p:spPr>
      </p:sp>
      <p:sp>
        <p:nvSpPr>
          <p:cNvPr name="TextBox 6" id="6"/>
          <p:cNvSpPr txBox="true"/>
          <p:nvPr/>
        </p:nvSpPr>
        <p:spPr>
          <a:xfrm rot="0">
            <a:off x="759143" y="4522856"/>
            <a:ext cx="3276749" cy="1483995"/>
          </a:xfrm>
          <a:prstGeom prst="rect">
            <a:avLst/>
          </a:prstGeom>
        </p:spPr>
        <p:txBody>
          <a:bodyPr anchor="t" rtlCol="false" tIns="0" lIns="0" bIns="0" rIns="0">
            <a:spAutoFit/>
          </a:bodyPr>
          <a:lstStyle/>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CONTEXT</a:t>
            </a:r>
          </a:p>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DIAGRAM</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102080" y="1744749"/>
            <a:ext cx="9469521" cy="7454959"/>
          </a:xfrm>
          <a:custGeom>
            <a:avLst/>
            <a:gdLst/>
            <a:ahLst/>
            <a:cxnLst/>
            <a:rect r="r" b="b" t="t" l="l"/>
            <a:pathLst>
              <a:path h="7454959" w="9469521">
                <a:moveTo>
                  <a:pt x="0" y="0"/>
                </a:moveTo>
                <a:lnTo>
                  <a:pt x="9469522" y="0"/>
                </a:lnTo>
                <a:lnTo>
                  <a:pt x="9469522" y="7454959"/>
                </a:lnTo>
                <a:lnTo>
                  <a:pt x="0" y="7454959"/>
                </a:lnTo>
                <a:lnTo>
                  <a:pt x="0" y="0"/>
                </a:lnTo>
                <a:close/>
              </a:path>
            </a:pathLst>
          </a:custGeom>
          <a:blipFill>
            <a:blip r:embed="rId2"/>
            <a:stretch>
              <a:fillRect l="0" t="0" r="0" b="0"/>
            </a:stretch>
          </a:blipFill>
        </p:spPr>
      </p:sp>
      <p:sp>
        <p:nvSpPr>
          <p:cNvPr name="TextBox 3" id="3"/>
          <p:cNvSpPr txBox="true"/>
          <p:nvPr/>
        </p:nvSpPr>
        <p:spPr>
          <a:xfrm rot="0">
            <a:off x="759142" y="4357856"/>
            <a:ext cx="7600721" cy="1483995"/>
          </a:xfrm>
          <a:prstGeom prst="rect">
            <a:avLst/>
          </a:prstGeom>
        </p:spPr>
        <p:txBody>
          <a:bodyPr anchor="t" rtlCol="false" tIns="0" lIns="0" bIns="0" rIns="0">
            <a:spAutoFit/>
          </a:bodyPr>
          <a:lstStyle/>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SEQUENCE DIAGRAM</a:t>
            </a:r>
          </a:p>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a:t>
            </a:r>
            <a:r>
              <a:rPr lang="en-US" b="true" sz="4200" spc="210" strike="noStrike" u="none">
                <a:solidFill>
                  <a:srgbClr val="000000"/>
                </a:solidFill>
                <a:latin typeface="Helios Extended Bold"/>
                <a:ea typeface="Helios Extended Bold"/>
                <a:cs typeface="Helios Extended Bold"/>
                <a:sym typeface="Helios Extended Bold"/>
              </a:rPr>
              <a:t>JOURNAL ENTRY</a:t>
            </a:r>
          </a:p>
        </p:txBody>
      </p:sp>
      <p:grpSp>
        <p:nvGrpSpPr>
          <p:cNvPr name="Group 4" id="4"/>
          <p:cNvGrpSpPr/>
          <p:nvPr/>
        </p:nvGrpSpPr>
        <p:grpSpPr>
          <a:xfrm rot="0">
            <a:off x="143691" y="9683062"/>
            <a:ext cx="2003497" cy="422688"/>
            <a:chOff x="0" y="0"/>
            <a:chExt cx="2671330" cy="563585"/>
          </a:xfrm>
        </p:grpSpPr>
        <p:sp>
          <p:nvSpPr>
            <p:cNvPr name="Freeform 5" id="5"/>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3691" y="9683062"/>
            <a:ext cx="2003497" cy="422688"/>
            <a:chOff x="0" y="0"/>
            <a:chExt cx="2671330" cy="563585"/>
          </a:xfrm>
        </p:grpSpPr>
        <p:sp>
          <p:nvSpPr>
            <p:cNvPr name="Freeform 3" id="3"/>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Freeform 5" id="5"/>
          <p:cNvSpPr/>
          <p:nvPr/>
        </p:nvSpPr>
        <p:spPr>
          <a:xfrm flipH="false" flipV="false" rot="0">
            <a:off x="8737464" y="503621"/>
            <a:ext cx="9255495" cy="9309939"/>
          </a:xfrm>
          <a:custGeom>
            <a:avLst/>
            <a:gdLst/>
            <a:ahLst/>
            <a:cxnLst/>
            <a:rect r="r" b="b" t="t" l="l"/>
            <a:pathLst>
              <a:path h="9309939" w="9255495">
                <a:moveTo>
                  <a:pt x="0" y="0"/>
                </a:moveTo>
                <a:lnTo>
                  <a:pt x="9255495" y="0"/>
                </a:lnTo>
                <a:lnTo>
                  <a:pt x="9255495" y="9309940"/>
                </a:lnTo>
                <a:lnTo>
                  <a:pt x="0" y="9309940"/>
                </a:lnTo>
                <a:lnTo>
                  <a:pt x="0" y="0"/>
                </a:lnTo>
                <a:close/>
              </a:path>
            </a:pathLst>
          </a:custGeom>
          <a:blipFill>
            <a:blip r:embed="rId4"/>
            <a:stretch>
              <a:fillRect l="0" t="0" r="0" b="0"/>
            </a:stretch>
          </a:blipFill>
        </p:spPr>
      </p:sp>
      <p:sp>
        <p:nvSpPr>
          <p:cNvPr name="TextBox 6" id="6"/>
          <p:cNvSpPr txBox="true"/>
          <p:nvPr/>
        </p:nvSpPr>
        <p:spPr>
          <a:xfrm rot="0">
            <a:off x="759142" y="4357856"/>
            <a:ext cx="7600721" cy="1496695"/>
          </a:xfrm>
          <a:prstGeom prst="rect">
            <a:avLst/>
          </a:prstGeom>
        </p:spPr>
        <p:txBody>
          <a:bodyPr anchor="t" rtlCol="false" tIns="0" lIns="0" bIns="0" rIns="0">
            <a:spAutoFit/>
          </a:bodyPr>
          <a:lstStyle/>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SEQUENCE DIAGRAM</a:t>
            </a:r>
          </a:p>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-THERAPIST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3691" y="9683062"/>
            <a:ext cx="2003497" cy="422688"/>
            <a:chOff x="0" y="0"/>
            <a:chExt cx="2671330" cy="563585"/>
          </a:xfrm>
        </p:grpSpPr>
        <p:sp>
          <p:nvSpPr>
            <p:cNvPr name="Freeform 3" id="3"/>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Freeform 5" id="5"/>
          <p:cNvSpPr/>
          <p:nvPr/>
        </p:nvSpPr>
        <p:spPr>
          <a:xfrm flipH="false" flipV="false" rot="0">
            <a:off x="8875716" y="1038083"/>
            <a:ext cx="8957929" cy="8220217"/>
          </a:xfrm>
          <a:custGeom>
            <a:avLst/>
            <a:gdLst/>
            <a:ahLst/>
            <a:cxnLst/>
            <a:rect r="r" b="b" t="t" l="l"/>
            <a:pathLst>
              <a:path h="8220217" w="8957929">
                <a:moveTo>
                  <a:pt x="0" y="0"/>
                </a:moveTo>
                <a:lnTo>
                  <a:pt x="8957930" y="0"/>
                </a:lnTo>
                <a:lnTo>
                  <a:pt x="8957930" y="8220217"/>
                </a:lnTo>
                <a:lnTo>
                  <a:pt x="0" y="8220217"/>
                </a:lnTo>
                <a:lnTo>
                  <a:pt x="0" y="0"/>
                </a:lnTo>
                <a:close/>
              </a:path>
            </a:pathLst>
          </a:custGeom>
          <a:blipFill>
            <a:blip r:embed="rId4"/>
            <a:stretch>
              <a:fillRect l="0" t="0" r="0" b="0"/>
            </a:stretch>
          </a:blipFill>
        </p:spPr>
      </p:sp>
      <p:sp>
        <p:nvSpPr>
          <p:cNvPr name="TextBox 6" id="6"/>
          <p:cNvSpPr txBox="true"/>
          <p:nvPr/>
        </p:nvSpPr>
        <p:spPr>
          <a:xfrm rot="0">
            <a:off x="759143" y="4295775"/>
            <a:ext cx="7406283" cy="1496695"/>
          </a:xfrm>
          <a:prstGeom prst="rect">
            <a:avLst/>
          </a:prstGeom>
        </p:spPr>
        <p:txBody>
          <a:bodyPr anchor="t" rtlCol="false" tIns="0" lIns="0" bIns="0" rIns="0">
            <a:spAutoFit/>
          </a:bodyPr>
          <a:lstStyle/>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SEQUENCE DIAGRAM</a:t>
            </a:r>
          </a:p>
          <a:p>
            <a:pPr algn="l"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-AUTH</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938567" y="923925"/>
            <a:ext cx="5792837" cy="741045"/>
          </a:xfrm>
          <a:prstGeom prst="rect">
            <a:avLst/>
          </a:prstGeom>
        </p:spPr>
        <p:txBody>
          <a:bodyPr anchor="t" rtlCol="false" tIns="0" lIns="0" bIns="0" rIns="0">
            <a:spAutoFit/>
          </a:bodyPr>
          <a:lstStyle/>
          <a:p>
            <a:pPr algn="l" marL="0" indent="0" lvl="0">
              <a:lnSpc>
                <a:spcPts val="5880"/>
              </a:lnSpc>
              <a:spcBef>
                <a:spcPct val="0"/>
              </a:spcBef>
            </a:pPr>
            <a:r>
              <a:rPr lang="en-US" b="true" sz="4200" spc="210">
                <a:solidFill>
                  <a:srgbClr val="000000"/>
                </a:solidFill>
                <a:latin typeface="Helios Extended Bold"/>
                <a:ea typeface="Helios Extended Bold"/>
                <a:cs typeface="Helios Extended Bold"/>
                <a:sym typeface="Helios Extended Bold"/>
              </a:rPr>
              <a:t>SPRINT 2 RECAP</a:t>
            </a:r>
          </a:p>
        </p:txBody>
      </p:sp>
      <p:sp>
        <p:nvSpPr>
          <p:cNvPr name="TextBox 3" id="3"/>
          <p:cNvSpPr txBox="true"/>
          <p:nvPr/>
        </p:nvSpPr>
        <p:spPr>
          <a:xfrm rot="0">
            <a:off x="1955881" y="2251762"/>
            <a:ext cx="5511195" cy="499110"/>
          </a:xfrm>
          <a:prstGeom prst="rect">
            <a:avLst/>
          </a:prstGeom>
        </p:spPr>
        <p:txBody>
          <a:bodyPr anchor="t" rtlCol="false" tIns="0" lIns="0" bIns="0" rIns="0">
            <a:spAutoFit/>
          </a:bodyPr>
          <a:lstStyle/>
          <a:p>
            <a:pPr algn="ctr">
              <a:lnSpc>
                <a:spcPts val="4020"/>
              </a:lnSpc>
            </a:pPr>
            <a:r>
              <a:rPr lang="en-US" b="true" sz="3000" spc="171">
                <a:solidFill>
                  <a:srgbClr val="006D77"/>
                </a:solidFill>
                <a:latin typeface="Lato Bold"/>
                <a:ea typeface="Lato Bold"/>
                <a:cs typeface="Lato Bold"/>
                <a:sym typeface="Lato Bold"/>
              </a:rPr>
              <a:t>What We Set Out To Do</a:t>
            </a:r>
          </a:p>
        </p:txBody>
      </p:sp>
      <p:sp>
        <p:nvSpPr>
          <p:cNvPr name="TextBox 4" id="4"/>
          <p:cNvSpPr txBox="true"/>
          <p:nvPr/>
        </p:nvSpPr>
        <p:spPr>
          <a:xfrm rot="0">
            <a:off x="10456944" y="2251762"/>
            <a:ext cx="5511195" cy="499110"/>
          </a:xfrm>
          <a:prstGeom prst="rect">
            <a:avLst/>
          </a:prstGeom>
        </p:spPr>
        <p:txBody>
          <a:bodyPr anchor="t" rtlCol="false" tIns="0" lIns="0" bIns="0" rIns="0">
            <a:spAutoFit/>
          </a:bodyPr>
          <a:lstStyle/>
          <a:p>
            <a:pPr algn="ctr" marL="0" indent="0" lvl="0">
              <a:lnSpc>
                <a:spcPts val="4020"/>
              </a:lnSpc>
              <a:spcBef>
                <a:spcPct val="0"/>
              </a:spcBef>
            </a:pPr>
            <a:r>
              <a:rPr lang="en-US" b="true" sz="3000" spc="171" strike="noStrike" u="none">
                <a:solidFill>
                  <a:srgbClr val="006D77"/>
                </a:solidFill>
                <a:latin typeface="Lato Bold"/>
                <a:ea typeface="Lato Bold"/>
                <a:cs typeface="Lato Bold"/>
                <a:sym typeface="Lato Bold"/>
              </a:rPr>
              <a:t>What We Delivered</a:t>
            </a:r>
          </a:p>
        </p:txBody>
      </p:sp>
      <p:sp>
        <p:nvSpPr>
          <p:cNvPr name="AutoShape 5" id="5"/>
          <p:cNvSpPr/>
          <p:nvPr/>
        </p:nvSpPr>
        <p:spPr>
          <a:xfrm>
            <a:off x="1145440" y="2952612"/>
            <a:ext cx="7339948" cy="0"/>
          </a:xfrm>
          <a:prstGeom prst="line">
            <a:avLst/>
          </a:prstGeom>
          <a:ln cap="flat" w="19050">
            <a:solidFill>
              <a:srgbClr val="000000"/>
            </a:solidFill>
            <a:prstDash val="solid"/>
            <a:headEnd type="none" len="sm" w="sm"/>
            <a:tailEnd type="none" len="sm" w="sm"/>
          </a:ln>
        </p:spPr>
      </p:sp>
      <p:sp>
        <p:nvSpPr>
          <p:cNvPr name="AutoShape 6" id="6"/>
          <p:cNvSpPr/>
          <p:nvPr/>
        </p:nvSpPr>
        <p:spPr>
          <a:xfrm>
            <a:off x="9731542" y="2952612"/>
            <a:ext cx="7254908" cy="0"/>
          </a:xfrm>
          <a:prstGeom prst="line">
            <a:avLst/>
          </a:prstGeom>
          <a:ln cap="flat" w="19050">
            <a:solidFill>
              <a:srgbClr val="000000"/>
            </a:solidFill>
            <a:prstDash val="solid"/>
            <a:headEnd type="none" len="sm" w="sm"/>
            <a:tailEnd type="none" len="sm" w="sm"/>
          </a:ln>
        </p:spPr>
      </p:sp>
      <p:grpSp>
        <p:nvGrpSpPr>
          <p:cNvPr name="Group 7" id="7"/>
          <p:cNvGrpSpPr/>
          <p:nvPr/>
        </p:nvGrpSpPr>
        <p:grpSpPr>
          <a:xfrm rot="0">
            <a:off x="143691" y="9683062"/>
            <a:ext cx="2003497" cy="422688"/>
            <a:chOff x="0" y="0"/>
            <a:chExt cx="2671330" cy="563585"/>
          </a:xfrm>
        </p:grpSpPr>
        <p:sp>
          <p:nvSpPr>
            <p:cNvPr name="Freeform 8" id="8"/>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TextBox 10" id="10"/>
          <p:cNvSpPr txBox="true"/>
          <p:nvPr/>
        </p:nvSpPr>
        <p:spPr>
          <a:xfrm rot="0">
            <a:off x="937570" y="3571737"/>
            <a:ext cx="7547818" cy="129857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Delive</a:t>
            </a:r>
            <a:r>
              <a:rPr lang="en-US" sz="2499">
                <a:solidFill>
                  <a:srgbClr val="000000"/>
                </a:solidFill>
                <a:latin typeface="Open Sauce"/>
                <a:ea typeface="Open Sauce"/>
                <a:cs typeface="Open Sauce"/>
                <a:sym typeface="Open Sauce"/>
              </a:rPr>
              <a:t>r a usable authenticated patient flow with sign up, sign in, protected routes, and logout.</a:t>
            </a:r>
          </a:p>
        </p:txBody>
      </p:sp>
      <p:sp>
        <p:nvSpPr>
          <p:cNvPr name="TextBox 11" id="11"/>
          <p:cNvSpPr txBox="true"/>
          <p:nvPr/>
        </p:nvSpPr>
        <p:spPr>
          <a:xfrm rot="0">
            <a:off x="9438632" y="3571737"/>
            <a:ext cx="7547818" cy="129857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Imp</a:t>
            </a:r>
            <a:r>
              <a:rPr lang="en-US" sz="2499">
                <a:solidFill>
                  <a:srgbClr val="000000"/>
                </a:solidFill>
                <a:latin typeface="Open Sauce"/>
                <a:ea typeface="Open Sauce"/>
                <a:cs typeface="Open Sauce"/>
                <a:sym typeface="Open Sauce"/>
              </a:rPr>
              <a:t>lemented signup, login, JWT auth, auth headers, protected routes, and logout flow.</a:t>
            </a:r>
          </a:p>
          <a:p>
            <a:pPr algn="just">
              <a:lnSpc>
                <a:spcPts val="3499"/>
              </a:lnSpc>
            </a:pPr>
          </a:p>
        </p:txBody>
      </p:sp>
      <p:sp>
        <p:nvSpPr>
          <p:cNvPr name="TextBox 12" id="12"/>
          <p:cNvSpPr txBox="true"/>
          <p:nvPr/>
        </p:nvSpPr>
        <p:spPr>
          <a:xfrm rot="0">
            <a:off x="9438632" y="5013187"/>
            <a:ext cx="7547818" cy="173672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Add</a:t>
            </a:r>
            <a:r>
              <a:rPr lang="en-US" sz="2499">
                <a:solidFill>
                  <a:srgbClr val="000000"/>
                </a:solidFill>
                <a:latin typeface="Open Sauce"/>
                <a:ea typeface="Open Sauce"/>
                <a:cs typeface="Open Sauce"/>
                <a:sym typeface="Open Sauce"/>
              </a:rPr>
              <a:t>ed Past Entries UI, Insights API support, mood history support, and updated mood chart behavior.</a:t>
            </a:r>
          </a:p>
          <a:p>
            <a:pPr algn="just">
              <a:lnSpc>
                <a:spcPts val="3499"/>
              </a:lnSpc>
            </a:pPr>
          </a:p>
        </p:txBody>
      </p:sp>
      <p:sp>
        <p:nvSpPr>
          <p:cNvPr name="TextBox 13" id="13"/>
          <p:cNvSpPr txBox="true"/>
          <p:nvPr/>
        </p:nvSpPr>
        <p:spPr>
          <a:xfrm rot="0">
            <a:off x="9438632" y="6702288"/>
            <a:ext cx="7547818" cy="173672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Int</a:t>
            </a:r>
            <a:r>
              <a:rPr lang="en-US" sz="2499">
                <a:solidFill>
                  <a:srgbClr val="000000"/>
                </a:solidFill>
                <a:latin typeface="Open Sauce"/>
                <a:ea typeface="Open Sauce"/>
                <a:cs typeface="Open Sauce"/>
                <a:sym typeface="Open Sauce"/>
              </a:rPr>
              <a:t>egrated therapist-facing data access and patient-view groundwork on the integration branch.</a:t>
            </a:r>
          </a:p>
          <a:p>
            <a:pPr algn="just">
              <a:lnSpc>
                <a:spcPts val="3499"/>
              </a:lnSpc>
            </a:pPr>
          </a:p>
        </p:txBody>
      </p:sp>
      <p:sp>
        <p:nvSpPr>
          <p:cNvPr name="TextBox 14" id="14"/>
          <p:cNvSpPr txBox="true"/>
          <p:nvPr/>
        </p:nvSpPr>
        <p:spPr>
          <a:xfrm rot="0">
            <a:off x="9438632" y="8157681"/>
            <a:ext cx="7547818" cy="173672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Add</a:t>
            </a:r>
            <a:r>
              <a:rPr lang="en-US" sz="2499">
                <a:solidFill>
                  <a:srgbClr val="000000"/>
                </a:solidFill>
                <a:latin typeface="Open Sauce"/>
                <a:ea typeface="Open Sauce"/>
                <a:cs typeface="Open Sauce"/>
                <a:sym typeface="Open Sauce"/>
              </a:rPr>
              <a:t>ed global backend error handling, frontend API interception, toast alerts, and graceful ML failure fallback.</a:t>
            </a:r>
          </a:p>
          <a:p>
            <a:pPr algn="just">
              <a:lnSpc>
                <a:spcPts val="3499"/>
              </a:lnSpc>
            </a:pPr>
          </a:p>
        </p:txBody>
      </p:sp>
      <p:sp>
        <p:nvSpPr>
          <p:cNvPr name="TextBox 15" id="15"/>
          <p:cNvSpPr txBox="true"/>
          <p:nvPr/>
        </p:nvSpPr>
        <p:spPr>
          <a:xfrm rot="0">
            <a:off x="937570" y="5095875"/>
            <a:ext cx="7547818" cy="173672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Extend the</a:t>
            </a:r>
            <a:r>
              <a:rPr lang="en-US" sz="2499">
                <a:solidFill>
                  <a:srgbClr val="000000"/>
                </a:solidFill>
                <a:latin typeface="Open Sauce"/>
                <a:ea typeface="Open Sauce"/>
                <a:cs typeface="Open Sauce"/>
                <a:sym typeface="Open Sauce"/>
              </a:rPr>
              <a:t> app beyond submission into Past Entries, Insights, and mood-over-time support.</a:t>
            </a:r>
          </a:p>
          <a:p>
            <a:pPr algn="just">
              <a:lnSpc>
                <a:spcPts val="3499"/>
              </a:lnSpc>
            </a:pPr>
          </a:p>
        </p:txBody>
      </p:sp>
      <p:sp>
        <p:nvSpPr>
          <p:cNvPr name="TextBox 16" id="16"/>
          <p:cNvSpPr txBox="true"/>
          <p:nvPr/>
        </p:nvSpPr>
        <p:spPr>
          <a:xfrm rot="0">
            <a:off x="937570" y="6784975"/>
            <a:ext cx="7547818" cy="129857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Store sentime</a:t>
            </a:r>
            <a:r>
              <a:rPr lang="en-US" sz="2499">
                <a:solidFill>
                  <a:srgbClr val="000000"/>
                </a:solidFill>
                <a:latin typeface="Open Sauce"/>
                <a:ea typeface="Open Sauce"/>
                <a:cs typeface="Open Sauce"/>
                <a:sym typeface="Open Sauce"/>
              </a:rPr>
              <a:t>nt results on entries so mood history and charting use persisted data.</a:t>
            </a:r>
          </a:p>
          <a:p>
            <a:pPr algn="just">
              <a:lnSpc>
                <a:spcPts val="3499"/>
              </a:lnSpc>
            </a:pPr>
          </a:p>
        </p:txBody>
      </p:sp>
      <p:sp>
        <p:nvSpPr>
          <p:cNvPr name="TextBox 17" id="17"/>
          <p:cNvSpPr txBox="true"/>
          <p:nvPr/>
        </p:nvSpPr>
        <p:spPr>
          <a:xfrm rot="0">
            <a:off x="937570" y="8035926"/>
            <a:ext cx="7547818" cy="217487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Improve UX reliability wi</a:t>
            </a:r>
            <a:r>
              <a:rPr lang="en-US" sz="2499">
                <a:solidFill>
                  <a:srgbClr val="000000"/>
                </a:solidFill>
                <a:latin typeface="Open Sauce"/>
                <a:ea typeface="Open Sauce"/>
                <a:cs typeface="Open Sauce"/>
                <a:sym typeface="Open Sauce"/>
              </a:rPr>
              <a:t>th better loading states, safer error handling, and protected APIs.</a:t>
            </a:r>
          </a:p>
          <a:p>
            <a:pPr algn="just">
              <a:lnSpc>
                <a:spcPts val="3499"/>
              </a:lnSpc>
            </a:pPr>
          </a:p>
          <a:p>
            <a:pPr algn="just">
              <a:lnSpc>
                <a:spcPts val="3499"/>
              </a:lnSpc>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934075" y="679774"/>
            <a:ext cx="7242444"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PRODUCT BACKLOG</a:t>
            </a:r>
          </a:p>
        </p:txBody>
      </p:sp>
      <p:sp>
        <p:nvSpPr>
          <p:cNvPr name="TextBox 3" id="3"/>
          <p:cNvSpPr txBox="true"/>
          <p:nvPr/>
        </p:nvSpPr>
        <p:spPr>
          <a:xfrm rot="0">
            <a:off x="4194020" y="2085546"/>
            <a:ext cx="3927767" cy="22860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US20 – Therapist Journal Access</a:t>
            </a:r>
          </a:p>
          <a:p>
            <a:pPr algn="l">
              <a:lnSpc>
                <a:spcPts val="1800"/>
              </a:lnSpc>
            </a:pPr>
            <a:r>
              <a:rPr lang="en-US" sz="1500">
                <a:solidFill>
                  <a:srgbClr val="000000"/>
                </a:solidFill>
                <a:latin typeface="Open Sauce"/>
                <a:ea typeface="Open Sauce"/>
                <a:cs typeface="Open Sauce"/>
                <a:sym typeface="Open Sauce"/>
              </a:rPr>
              <a:t>As a user, I want my therapist to have access to my journal and mood data so that they can better understand my emotional state.</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System</a:t>
            </a:r>
            <a:r>
              <a:rPr lang="en-US" sz="1500">
                <a:solidFill>
                  <a:srgbClr val="000000"/>
                </a:solidFill>
                <a:latin typeface="Open Sauce"/>
                <a:ea typeface="Open Sauce"/>
                <a:cs typeface="Open Sauce"/>
                <a:sym typeface="Open Sauce"/>
              </a:rPr>
              <a:t> supports linking a user to a therapist account</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Therapist role exists in the system</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Therapist can access user data</a:t>
            </a:r>
          </a:p>
        </p:txBody>
      </p:sp>
      <p:sp>
        <p:nvSpPr>
          <p:cNvPr name="TextBox 4" id="4"/>
          <p:cNvSpPr txBox="true"/>
          <p:nvPr/>
        </p:nvSpPr>
        <p:spPr>
          <a:xfrm rot="0">
            <a:off x="1028700" y="2288864"/>
            <a:ext cx="2872090" cy="1388110"/>
          </a:xfrm>
          <a:prstGeom prst="rect">
            <a:avLst/>
          </a:prstGeom>
        </p:spPr>
        <p:txBody>
          <a:bodyPr anchor="t" rtlCol="false" tIns="0" lIns="0" bIns="0" rIns="0">
            <a:spAutoFit/>
          </a:bodyPr>
          <a:lstStyle/>
          <a:p>
            <a:pPr algn="l">
              <a:lnSpc>
                <a:spcPts val="3680"/>
              </a:lnSpc>
            </a:pPr>
            <a:r>
              <a:rPr lang="en-US" b="true" sz="2300" spc="230">
                <a:solidFill>
                  <a:srgbClr val="006D77"/>
                </a:solidFill>
                <a:latin typeface="Arimo Bold"/>
                <a:ea typeface="Arimo Bold"/>
                <a:cs typeface="Arimo Bold"/>
                <a:sym typeface="Arimo Bold"/>
              </a:rPr>
              <a:t>THERAPIST</a:t>
            </a:r>
          </a:p>
          <a:p>
            <a:pPr algn="l">
              <a:lnSpc>
                <a:spcPts val="3680"/>
              </a:lnSpc>
            </a:pPr>
            <a:r>
              <a:rPr lang="en-US" b="true" sz="2300" spc="230">
                <a:solidFill>
                  <a:srgbClr val="006D77"/>
                </a:solidFill>
                <a:latin typeface="Arimo Bold"/>
                <a:ea typeface="Arimo Bold"/>
                <a:cs typeface="Arimo Bold"/>
                <a:sym typeface="Arimo Bold"/>
              </a:rPr>
              <a:t>ACCESS &amp;</a:t>
            </a:r>
          </a:p>
          <a:p>
            <a:pPr algn="l">
              <a:lnSpc>
                <a:spcPts val="3680"/>
              </a:lnSpc>
            </a:pPr>
            <a:r>
              <a:rPr lang="en-US" b="true" sz="2300" spc="230">
                <a:solidFill>
                  <a:srgbClr val="006D77"/>
                </a:solidFill>
                <a:latin typeface="Arimo Bold"/>
                <a:ea typeface="Arimo Bold"/>
                <a:cs typeface="Arimo Bold"/>
                <a:sym typeface="Arimo Bold"/>
              </a:rPr>
              <a:t>SHARING</a:t>
            </a:r>
          </a:p>
        </p:txBody>
      </p:sp>
      <p:sp>
        <p:nvSpPr>
          <p:cNvPr name="TextBox 5" id="5"/>
          <p:cNvSpPr txBox="true"/>
          <p:nvPr/>
        </p:nvSpPr>
        <p:spPr>
          <a:xfrm rot="0">
            <a:off x="1028700" y="6207156"/>
            <a:ext cx="2966125" cy="921385"/>
          </a:xfrm>
          <a:prstGeom prst="rect">
            <a:avLst/>
          </a:prstGeom>
        </p:spPr>
        <p:txBody>
          <a:bodyPr anchor="t" rtlCol="false" tIns="0" lIns="0" bIns="0" rIns="0">
            <a:spAutoFit/>
          </a:bodyPr>
          <a:lstStyle/>
          <a:p>
            <a:pPr algn="l">
              <a:lnSpc>
                <a:spcPts val="3680"/>
              </a:lnSpc>
            </a:pPr>
            <a:r>
              <a:rPr lang="en-US" b="true" sz="2300" spc="230">
                <a:solidFill>
                  <a:srgbClr val="006D77"/>
                </a:solidFill>
                <a:latin typeface="Arimo Bold"/>
                <a:ea typeface="Arimo Bold"/>
                <a:cs typeface="Arimo Bold"/>
                <a:sym typeface="Arimo Bold"/>
              </a:rPr>
              <a:t>THERAPIST </a:t>
            </a:r>
          </a:p>
          <a:p>
            <a:pPr algn="l">
              <a:lnSpc>
                <a:spcPts val="3680"/>
              </a:lnSpc>
            </a:pPr>
            <a:r>
              <a:rPr lang="en-US" b="true" sz="2300" spc="230">
                <a:solidFill>
                  <a:srgbClr val="006D77"/>
                </a:solidFill>
                <a:latin typeface="Arimo Bold"/>
                <a:ea typeface="Arimo Bold"/>
                <a:cs typeface="Arimo Bold"/>
                <a:sym typeface="Arimo Bold"/>
              </a:rPr>
              <a:t>DASHBOARD</a:t>
            </a:r>
          </a:p>
        </p:txBody>
      </p:sp>
      <p:sp>
        <p:nvSpPr>
          <p:cNvPr name="TextBox 6" id="6"/>
          <p:cNvSpPr txBox="true"/>
          <p:nvPr/>
        </p:nvSpPr>
        <p:spPr>
          <a:xfrm rot="0">
            <a:off x="8433983" y="2085591"/>
            <a:ext cx="3924300" cy="25146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US21 – Enable Journal Sharing</a:t>
            </a:r>
          </a:p>
          <a:p>
            <a:pPr algn="l">
              <a:lnSpc>
                <a:spcPts val="1800"/>
              </a:lnSpc>
            </a:pPr>
            <a:r>
              <a:rPr lang="en-US" sz="1500">
                <a:solidFill>
                  <a:srgbClr val="000000"/>
                </a:solidFill>
                <a:latin typeface="Open Sauce"/>
                <a:ea typeface="Open Sauce"/>
                <a:cs typeface="Open Sauce"/>
                <a:sym typeface="Open Sauce"/>
              </a:rPr>
              <a:t>As a user, I want to enable sharing of my journal and mood data so that my therapist can access it.</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A "Share</a:t>
            </a:r>
            <a:r>
              <a:rPr lang="en-US" sz="1500">
                <a:solidFill>
                  <a:srgbClr val="000000"/>
                </a:solidFill>
                <a:latin typeface="Open Sauce"/>
                <a:ea typeface="Open Sauce"/>
                <a:cs typeface="Open Sauce"/>
                <a:sym typeface="Open Sauce"/>
              </a:rPr>
              <a:t> toggle is visible in user settings</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Wh</a:t>
            </a:r>
            <a:r>
              <a:rPr lang="en-US" sz="1500">
                <a:solidFill>
                  <a:srgbClr val="000000"/>
                </a:solidFill>
                <a:latin typeface="Open Sauce"/>
                <a:ea typeface="Open Sauce"/>
                <a:cs typeface="Open Sauce"/>
                <a:sym typeface="Open Sauce"/>
              </a:rPr>
              <a:t>en toggled ON: sharing state saved in backend</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Therapist ga</a:t>
            </a:r>
            <a:r>
              <a:rPr lang="en-US" sz="1500">
                <a:solidFill>
                  <a:srgbClr val="000000"/>
                </a:solidFill>
                <a:latin typeface="Open Sauce"/>
                <a:ea typeface="Open Sauce"/>
                <a:cs typeface="Open Sauce"/>
                <a:sym typeface="Open Sauce"/>
              </a:rPr>
              <a:t>ins access to journal + mood data</a:t>
            </a:r>
          </a:p>
        </p:txBody>
      </p:sp>
      <p:sp>
        <p:nvSpPr>
          <p:cNvPr name="TextBox 7" id="7"/>
          <p:cNvSpPr txBox="true"/>
          <p:nvPr/>
        </p:nvSpPr>
        <p:spPr>
          <a:xfrm rot="0">
            <a:off x="4194020" y="4713036"/>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Must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5 </a:t>
            </a:r>
          </a:p>
        </p:txBody>
      </p:sp>
      <p:sp>
        <p:nvSpPr>
          <p:cNvPr name="TextBox 8" id="8"/>
          <p:cNvSpPr txBox="true"/>
          <p:nvPr/>
        </p:nvSpPr>
        <p:spPr>
          <a:xfrm rot="0">
            <a:off x="8430516" y="4713036"/>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Must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8 </a:t>
            </a:r>
          </a:p>
        </p:txBody>
      </p:sp>
      <p:sp>
        <p:nvSpPr>
          <p:cNvPr name="TextBox 9" id="9"/>
          <p:cNvSpPr txBox="true"/>
          <p:nvPr/>
        </p:nvSpPr>
        <p:spPr>
          <a:xfrm rot="0">
            <a:off x="12669141" y="4713036"/>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Could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5 </a:t>
            </a:r>
          </a:p>
        </p:txBody>
      </p:sp>
      <p:sp>
        <p:nvSpPr>
          <p:cNvPr name="TextBox 10" id="10"/>
          <p:cNvSpPr txBox="true"/>
          <p:nvPr/>
        </p:nvSpPr>
        <p:spPr>
          <a:xfrm rot="0">
            <a:off x="12672608" y="2085546"/>
            <a:ext cx="3924300" cy="25146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US22 – Disable Sharing</a:t>
            </a:r>
          </a:p>
          <a:p>
            <a:pPr algn="l">
              <a:lnSpc>
                <a:spcPts val="1800"/>
              </a:lnSpc>
            </a:pPr>
            <a:r>
              <a:rPr lang="en-US" sz="1500">
                <a:solidFill>
                  <a:srgbClr val="000000"/>
                </a:solidFill>
                <a:latin typeface="Open Sauce"/>
                <a:ea typeface="Open Sauce"/>
                <a:cs typeface="Open Sauce"/>
                <a:sym typeface="Open Sauce"/>
              </a:rPr>
              <a:t>As a user, I want to disable sharing at any time so that I can revoke my therapist's access.</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User ca</a:t>
            </a:r>
            <a:r>
              <a:rPr lang="en-US" sz="1500">
                <a:solidFill>
                  <a:srgbClr val="000000"/>
                </a:solidFill>
                <a:latin typeface="Open Sauce"/>
                <a:ea typeface="Open Sauce"/>
                <a:cs typeface="Open Sauce"/>
                <a:sym typeface="Open Sauce"/>
              </a:rPr>
              <a:t>n toggle sharing OFF at any time</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Backe</a:t>
            </a:r>
            <a:r>
              <a:rPr lang="en-US" sz="1500">
                <a:solidFill>
                  <a:srgbClr val="000000"/>
                </a:solidFill>
                <a:latin typeface="Open Sauce"/>
                <a:ea typeface="Open Sauce"/>
                <a:cs typeface="Open Sauce"/>
                <a:sym typeface="Open Sauce"/>
              </a:rPr>
              <a:t>nd updates immediately</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Therapist loses access instantly</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Previously visible data is no longer accessible</a:t>
            </a:r>
          </a:p>
        </p:txBody>
      </p:sp>
      <p:sp>
        <p:nvSpPr>
          <p:cNvPr name="TextBox 11" id="11"/>
          <p:cNvSpPr txBox="true"/>
          <p:nvPr/>
        </p:nvSpPr>
        <p:spPr>
          <a:xfrm rot="0">
            <a:off x="13362297" y="9604216"/>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2" tooltip="https://1drv.ms/x/c/c30f4680ccc79b8c/IQC9fztrzBx4Rrh7wy889blgAWKdZ5Khnt9L0mDcJNT6C-c"/>
              </a:rPr>
              <a:t>Detailed spreadsheet here</a:t>
            </a:r>
          </a:p>
        </p:txBody>
      </p:sp>
      <p:sp>
        <p:nvSpPr>
          <p:cNvPr name="TextBox 12" id="12"/>
          <p:cNvSpPr txBox="true"/>
          <p:nvPr/>
        </p:nvSpPr>
        <p:spPr>
          <a:xfrm rot="0">
            <a:off x="4194689" y="6061279"/>
            <a:ext cx="3927767" cy="22860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US23 – View Assigned Users</a:t>
            </a:r>
          </a:p>
          <a:p>
            <a:pPr algn="l">
              <a:lnSpc>
                <a:spcPts val="1800"/>
              </a:lnSpc>
            </a:pPr>
            <a:r>
              <a:rPr lang="en-US" sz="1500">
                <a:solidFill>
                  <a:srgbClr val="000000"/>
                </a:solidFill>
                <a:latin typeface="Open Sauce"/>
                <a:ea typeface="Open Sauce"/>
                <a:cs typeface="Open Sauce"/>
                <a:sym typeface="Open Sauce"/>
              </a:rPr>
              <a:t>As a therapist, I want to see my assigned users so that I can access their shared data.</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Ther</a:t>
            </a:r>
            <a:r>
              <a:rPr lang="en-US" sz="1500">
                <a:solidFill>
                  <a:srgbClr val="000000"/>
                </a:solidFill>
                <a:latin typeface="Open Sauce"/>
                <a:ea typeface="Open Sauce"/>
                <a:cs typeface="Open Sauce"/>
                <a:sym typeface="Open Sauce"/>
              </a:rPr>
              <a:t>apist dashboard displays a list of assigned users</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Each us</a:t>
            </a:r>
            <a:r>
              <a:rPr lang="en-US" sz="1500">
                <a:solidFill>
                  <a:srgbClr val="000000"/>
                </a:solidFill>
                <a:latin typeface="Open Sauce"/>
                <a:ea typeface="Open Sauce"/>
                <a:cs typeface="Open Sauce"/>
                <a:sym typeface="Open Sauce"/>
              </a:rPr>
              <a:t>er shows basic identifier </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Only users linked to that therapist are shown</a:t>
            </a:r>
          </a:p>
        </p:txBody>
      </p:sp>
      <p:sp>
        <p:nvSpPr>
          <p:cNvPr name="TextBox 13" id="13"/>
          <p:cNvSpPr txBox="true"/>
          <p:nvPr/>
        </p:nvSpPr>
        <p:spPr>
          <a:xfrm rot="0">
            <a:off x="8434652" y="6061324"/>
            <a:ext cx="3924300" cy="2286000"/>
          </a:xfrm>
          <a:prstGeom prst="rect">
            <a:avLst/>
          </a:prstGeom>
        </p:spPr>
        <p:txBody>
          <a:bodyPr anchor="t" rtlCol="false" tIns="0" lIns="0" bIns="0" rIns="0">
            <a:spAutoFit/>
          </a:bodyPr>
          <a:lstStyle/>
          <a:p>
            <a:pPr algn="l">
              <a:lnSpc>
                <a:spcPts val="1800"/>
              </a:lnSpc>
            </a:pPr>
            <a:r>
              <a:rPr lang="en-US" sz="1500" b="true">
                <a:solidFill>
                  <a:srgbClr val="000000"/>
                </a:solidFill>
                <a:latin typeface="Open Sauce Bold"/>
                <a:ea typeface="Open Sauce Bold"/>
                <a:cs typeface="Open Sauce Bold"/>
                <a:sym typeface="Open Sauce Bold"/>
              </a:rPr>
              <a:t>US24 – View User Journal &amp; Mood</a:t>
            </a:r>
          </a:p>
          <a:p>
            <a:pPr algn="l">
              <a:lnSpc>
                <a:spcPts val="1800"/>
              </a:lnSpc>
            </a:pPr>
            <a:r>
              <a:rPr lang="en-US" sz="1500">
                <a:solidFill>
                  <a:srgbClr val="000000"/>
                </a:solidFill>
                <a:latin typeface="Open Sauce"/>
                <a:ea typeface="Open Sauce"/>
                <a:cs typeface="Open Sauce"/>
                <a:sym typeface="Open Sauce"/>
              </a:rPr>
              <a:t>As a therapist, I want to view journal entries and mood trends of users who have enabled sharing so that I can understand their emotional patterns.</a:t>
            </a:r>
          </a:p>
          <a:p>
            <a:pPr algn="l">
              <a:lnSpc>
                <a:spcPts val="1800"/>
              </a:lnSpc>
            </a:pPr>
            <a:r>
              <a:rPr lang="en-US" sz="1500" u="sng">
                <a:solidFill>
                  <a:srgbClr val="000000"/>
                </a:solidFill>
                <a:latin typeface="Open Sauce"/>
                <a:ea typeface="Open Sauce"/>
                <a:cs typeface="Open Sauce"/>
                <a:sym typeface="Open Sauce"/>
              </a:rPr>
              <a:t>Acceptance Criteria</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Therapis</a:t>
            </a:r>
            <a:r>
              <a:rPr lang="en-US" sz="1500">
                <a:solidFill>
                  <a:srgbClr val="000000"/>
                </a:solidFill>
                <a:latin typeface="Open Sauce"/>
                <a:ea typeface="Open Sauce"/>
                <a:cs typeface="Open Sauce"/>
                <a:sym typeface="Open Sauce"/>
              </a:rPr>
              <a:t>t can view journal entries in chronological orde</a:t>
            </a:r>
            <a:r>
              <a:rPr lang="en-US" sz="1500">
                <a:solidFill>
                  <a:srgbClr val="000000"/>
                </a:solidFill>
                <a:latin typeface="Open Sauce"/>
                <a:ea typeface="Open Sauce"/>
                <a:cs typeface="Open Sauce"/>
                <a:sym typeface="Open Sauce"/>
              </a:rPr>
              <a:t>r</a:t>
            </a:r>
          </a:p>
          <a:p>
            <a:pPr algn="l" marL="323850" indent="-161925" lvl="1">
              <a:lnSpc>
                <a:spcPts val="1800"/>
              </a:lnSpc>
              <a:buFont typeface="Arial"/>
              <a:buChar char="•"/>
            </a:pPr>
            <a:r>
              <a:rPr lang="en-US" sz="1500">
                <a:solidFill>
                  <a:srgbClr val="000000"/>
                </a:solidFill>
                <a:latin typeface="Open Sauce"/>
                <a:ea typeface="Open Sauce"/>
                <a:cs typeface="Open Sauce"/>
                <a:sym typeface="Open Sauce"/>
              </a:rPr>
              <a:t>M</a:t>
            </a:r>
            <a:r>
              <a:rPr lang="en-US" sz="1500">
                <a:solidFill>
                  <a:srgbClr val="000000"/>
                </a:solidFill>
                <a:latin typeface="Open Sauce"/>
                <a:ea typeface="Open Sauce"/>
                <a:cs typeface="Open Sauce"/>
                <a:sym typeface="Open Sauce"/>
              </a:rPr>
              <a:t>ood trends shown as chart or list</a:t>
            </a:r>
          </a:p>
          <a:p>
            <a:pPr algn="l" marL="323850" indent="-161925" lvl="1">
              <a:lnSpc>
                <a:spcPts val="1800"/>
              </a:lnSpc>
              <a:spcBef>
                <a:spcPct val="0"/>
              </a:spcBef>
              <a:buFont typeface="Arial"/>
              <a:buChar char="•"/>
            </a:pPr>
            <a:r>
              <a:rPr lang="en-US" sz="1500">
                <a:solidFill>
                  <a:srgbClr val="000000"/>
                </a:solidFill>
                <a:latin typeface="Open Sauce"/>
                <a:ea typeface="Open Sauce"/>
                <a:cs typeface="Open Sauce"/>
                <a:sym typeface="Open Sauce"/>
              </a:rPr>
              <a:t>Data is shown only if sharing is ON</a:t>
            </a:r>
          </a:p>
        </p:txBody>
      </p:sp>
      <p:sp>
        <p:nvSpPr>
          <p:cNvPr name="TextBox 14" id="14"/>
          <p:cNvSpPr txBox="true"/>
          <p:nvPr/>
        </p:nvSpPr>
        <p:spPr>
          <a:xfrm rot="0">
            <a:off x="4198156" y="8471104"/>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Could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5 </a:t>
            </a:r>
          </a:p>
        </p:txBody>
      </p:sp>
      <p:sp>
        <p:nvSpPr>
          <p:cNvPr name="TextBox 15" id="15"/>
          <p:cNvSpPr txBox="true"/>
          <p:nvPr/>
        </p:nvSpPr>
        <p:spPr>
          <a:xfrm rot="0">
            <a:off x="8434652" y="8471104"/>
            <a:ext cx="3924300" cy="228600"/>
          </a:xfrm>
          <a:prstGeom prst="rect">
            <a:avLst/>
          </a:prstGeom>
        </p:spPr>
        <p:txBody>
          <a:bodyPr anchor="t" rtlCol="false" tIns="0" lIns="0" bIns="0" rIns="0">
            <a:spAutoFit/>
          </a:bodyPr>
          <a:lstStyle/>
          <a:p>
            <a:pPr algn="l">
              <a:lnSpc>
                <a:spcPts val="1800"/>
              </a:lnSpc>
              <a:spcBef>
                <a:spcPct val="0"/>
              </a:spcBef>
            </a:pPr>
            <a:r>
              <a:rPr lang="en-US" b="true" sz="1500">
                <a:solidFill>
                  <a:srgbClr val="006D77"/>
                </a:solidFill>
                <a:latin typeface="Open Sauce Bold"/>
                <a:ea typeface="Open Sauce Bold"/>
                <a:cs typeface="Open Sauce Bold"/>
                <a:sym typeface="Open Sauce Bold"/>
              </a:rPr>
              <a:t>Priority:</a:t>
            </a:r>
            <a:r>
              <a:rPr lang="en-US" sz="1500">
                <a:solidFill>
                  <a:srgbClr val="000000"/>
                </a:solidFill>
                <a:latin typeface="Open Sauce"/>
                <a:ea typeface="Open Sauce"/>
                <a:cs typeface="Open Sauce"/>
                <a:sym typeface="Open Sauce"/>
              </a:rPr>
              <a:t> Could                       </a:t>
            </a:r>
            <a:r>
              <a:rPr lang="en-US" b="true" sz="1500">
                <a:solidFill>
                  <a:srgbClr val="006D77"/>
                </a:solidFill>
                <a:latin typeface="Open Sauce Bold"/>
                <a:ea typeface="Open Sauce Bold"/>
                <a:cs typeface="Open Sauce Bold"/>
                <a:sym typeface="Open Sauce Bold"/>
              </a:rPr>
              <a:t>Story Points</a:t>
            </a:r>
            <a:r>
              <a:rPr lang="en-US" sz="1500">
                <a:solidFill>
                  <a:srgbClr val="000000"/>
                </a:solidFill>
                <a:latin typeface="Open Sauce"/>
                <a:ea typeface="Open Sauce"/>
                <a:cs typeface="Open Sauce"/>
                <a:sym typeface="Open Sauce"/>
              </a:rPr>
              <a:t>: 5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934075" y="679774"/>
            <a:ext cx="7242444"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SPRINT 1 SUMMARY</a:t>
            </a:r>
          </a:p>
        </p:txBody>
      </p:sp>
      <p:grpSp>
        <p:nvGrpSpPr>
          <p:cNvPr name="Group 3" id="3"/>
          <p:cNvGrpSpPr/>
          <p:nvPr/>
        </p:nvGrpSpPr>
        <p:grpSpPr>
          <a:xfrm rot="0">
            <a:off x="1462118" y="1715779"/>
            <a:ext cx="15363763" cy="7672635"/>
            <a:chOff x="0" y="0"/>
            <a:chExt cx="4668157" cy="2331293"/>
          </a:xfrm>
        </p:grpSpPr>
        <p:sp>
          <p:nvSpPr>
            <p:cNvPr name="Freeform 4" id="4"/>
            <p:cNvSpPr/>
            <p:nvPr/>
          </p:nvSpPr>
          <p:spPr>
            <a:xfrm flipH="false" flipV="false" rot="0">
              <a:off x="0" y="0"/>
              <a:ext cx="4668157" cy="2331293"/>
            </a:xfrm>
            <a:custGeom>
              <a:avLst/>
              <a:gdLst/>
              <a:ahLst/>
              <a:cxnLst/>
              <a:rect r="r" b="b" t="t" l="l"/>
              <a:pathLst>
                <a:path h="2331293" w="4668157">
                  <a:moveTo>
                    <a:pt x="4668157" y="26203"/>
                  </a:moveTo>
                  <a:lnTo>
                    <a:pt x="4668157" y="2305090"/>
                  </a:lnTo>
                  <a:cubicBezTo>
                    <a:pt x="4668157" y="2319562"/>
                    <a:pt x="4656426" y="2331293"/>
                    <a:pt x="4641954" y="2331293"/>
                  </a:cubicBezTo>
                  <a:lnTo>
                    <a:pt x="26203" y="2331293"/>
                  </a:lnTo>
                  <a:cubicBezTo>
                    <a:pt x="19254" y="2331293"/>
                    <a:pt x="12589" y="2328532"/>
                    <a:pt x="7675" y="2323618"/>
                  </a:cubicBezTo>
                  <a:cubicBezTo>
                    <a:pt x="2761" y="2318704"/>
                    <a:pt x="0" y="2312039"/>
                    <a:pt x="0" y="2305090"/>
                  </a:cubicBezTo>
                  <a:lnTo>
                    <a:pt x="0" y="26203"/>
                  </a:lnTo>
                  <a:cubicBezTo>
                    <a:pt x="0" y="19254"/>
                    <a:pt x="2761" y="12589"/>
                    <a:pt x="7675" y="7675"/>
                  </a:cubicBezTo>
                  <a:cubicBezTo>
                    <a:pt x="12589" y="2761"/>
                    <a:pt x="19254" y="0"/>
                    <a:pt x="26203" y="0"/>
                  </a:cubicBezTo>
                  <a:lnTo>
                    <a:pt x="4641954" y="0"/>
                  </a:lnTo>
                  <a:cubicBezTo>
                    <a:pt x="4656426" y="0"/>
                    <a:pt x="4668157" y="11732"/>
                    <a:pt x="4668157" y="26203"/>
                  </a:cubicBezTo>
                  <a:close/>
                </a:path>
              </a:pathLst>
            </a:custGeom>
            <a:solidFill>
              <a:srgbClr val="F2F1F1">
                <a:alpha val="80000"/>
              </a:srgbClr>
            </a:solidFill>
          </p:spPr>
        </p:sp>
        <p:sp>
          <p:nvSpPr>
            <p:cNvPr name="TextBox 5" id="5"/>
            <p:cNvSpPr txBox="true"/>
            <p:nvPr/>
          </p:nvSpPr>
          <p:spPr>
            <a:xfrm>
              <a:off x="0" y="-47625"/>
              <a:ext cx="4668157" cy="2378918"/>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7056788" y="7962132"/>
            <a:ext cx="4742247" cy="852668"/>
            <a:chOff x="0" y="0"/>
            <a:chExt cx="1248987" cy="224571"/>
          </a:xfrm>
        </p:grpSpPr>
        <p:sp>
          <p:nvSpPr>
            <p:cNvPr name="Freeform 7" id="7"/>
            <p:cNvSpPr/>
            <p:nvPr/>
          </p:nvSpPr>
          <p:spPr>
            <a:xfrm flipH="false" flipV="false" rot="0">
              <a:off x="0" y="0"/>
              <a:ext cx="1248987" cy="224571"/>
            </a:xfrm>
            <a:custGeom>
              <a:avLst/>
              <a:gdLst/>
              <a:ahLst/>
              <a:cxnLst/>
              <a:rect r="r" b="b" t="t" l="l"/>
              <a:pathLst>
                <a:path h="224571" w="1248987">
                  <a:moveTo>
                    <a:pt x="27753" y="0"/>
                  </a:moveTo>
                  <a:lnTo>
                    <a:pt x="1221233" y="0"/>
                  </a:lnTo>
                  <a:cubicBezTo>
                    <a:pt x="1228594" y="0"/>
                    <a:pt x="1235653" y="2924"/>
                    <a:pt x="1240858" y="8129"/>
                  </a:cubicBezTo>
                  <a:cubicBezTo>
                    <a:pt x="1246063" y="13333"/>
                    <a:pt x="1248987" y="20393"/>
                    <a:pt x="1248987" y="27753"/>
                  </a:cubicBezTo>
                  <a:lnTo>
                    <a:pt x="1248987" y="196818"/>
                  </a:lnTo>
                  <a:cubicBezTo>
                    <a:pt x="1248987" y="212145"/>
                    <a:pt x="1236561" y="224571"/>
                    <a:pt x="1221233" y="224571"/>
                  </a:cubicBezTo>
                  <a:lnTo>
                    <a:pt x="27753" y="224571"/>
                  </a:lnTo>
                  <a:cubicBezTo>
                    <a:pt x="12426" y="224571"/>
                    <a:pt x="0" y="212145"/>
                    <a:pt x="0" y="196818"/>
                  </a:cubicBezTo>
                  <a:lnTo>
                    <a:pt x="0" y="27753"/>
                  </a:lnTo>
                  <a:cubicBezTo>
                    <a:pt x="0" y="12426"/>
                    <a:pt x="12426" y="0"/>
                    <a:pt x="27753" y="0"/>
                  </a:cubicBezTo>
                  <a:close/>
                </a:path>
              </a:pathLst>
            </a:custGeom>
            <a:solidFill>
              <a:srgbClr val="006D77"/>
            </a:solidFill>
          </p:spPr>
        </p:sp>
        <p:sp>
          <p:nvSpPr>
            <p:cNvPr name="TextBox 8" id="8"/>
            <p:cNvSpPr txBox="true"/>
            <p:nvPr/>
          </p:nvSpPr>
          <p:spPr>
            <a:xfrm>
              <a:off x="0" y="0"/>
              <a:ext cx="1248987" cy="224571"/>
            </a:xfrm>
            <a:prstGeom prst="rect">
              <a:avLst/>
            </a:prstGeom>
          </p:spPr>
          <p:txBody>
            <a:bodyPr anchor="ctr" rtlCol="false" tIns="50800" lIns="50800" bIns="50800" rIns="50800"/>
            <a:lstStyle/>
            <a:p>
              <a:pPr algn="ctr">
                <a:lnSpc>
                  <a:spcPts val="1800"/>
                </a:lnSpc>
              </a:pPr>
            </a:p>
          </p:txBody>
        </p:sp>
      </p:grpSp>
      <p:sp>
        <p:nvSpPr>
          <p:cNvPr name="TextBox 9" id="9"/>
          <p:cNvSpPr txBox="true"/>
          <p:nvPr/>
        </p:nvSpPr>
        <p:spPr>
          <a:xfrm rot="0">
            <a:off x="2737753" y="2626207"/>
            <a:ext cx="12812493" cy="5061204"/>
          </a:xfrm>
          <a:prstGeom prst="rect">
            <a:avLst/>
          </a:prstGeom>
        </p:spPr>
        <p:txBody>
          <a:bodyPr anchor="t" rtlCol="false" tIns="0" lIns="0" bIns="0" rIns="0">
            <a:spAutoFit/>
          </a:bodyPr>
          <a:lstStyle/>
          <a:p>
            <a:pPr algn="l">
              <a:lnSpc>
                <a:spcPts val="4116"/>
              </a:lnSpc>
            </a:pPr>
            <a:r>
              <a:rPr lang="en-US" sz="2100" b="true">
                <a:solidFill>
                  <a:srgbClr val="006D77"/>
                </a:solidFill>
                <a:latin typeface="Open Sauce Bold"/>
                <a:ea typeface="Open Sauce Bold"/>
                <a:cs typeface="Open Sauce Bold"/>
                <a:sym typeface="Open Sauce Bold"/>
              </a:rPr>
              <a:t>Sprint Name:</a:t>
            </a:r>
            <a:r>
              <a:rPr lang="en-US" sz="2100" b="true">
                <a:solidFill>
                  <a:srgbClr val="000000"/>
                </a:solidFill>
                <a:latin typeface="Open Sauce Bold"/>
                <a:ea typeface="Open Sauce Bold"/>
                <a:cs typeface="Open Sauce Bold"/>
                <a:sym typeface="Open Sauce Bold"/>
              </a:rPr>
              <a:t> </a:t>
            </a:r>
            <a:r>
              <a:rPr lang="en-US" sz="2100">
                <a:solidFill>
                  <a:srgbClr val="000000"/>
                </a:solidFill>
                <a:latin typeface="Open Sauce"/>
                <a:ea typeface="Open Sauce"/>
                <a:cs typeface="Open Sauce"/>
                <a:sym typeface="Open Sauce"/>
              </a:rPr>
              <a:t>Sprint 1</a:t>
            </a:r>
          </a:p>
          <a:p>
            <a:pPr algn="l">
              <a:lnSpc>
                <a:spcPts val="4116"/>
              </a:lnSpc>
            </a:pPr>
            <a:r>
              <a:rPr lang="en-US" sz="2100" b="true">
                <a:solidFill>
                  <a:srgbClr val="006D77"/>
                </a:solidFill>
                <a:latin typeface="Open Sauce Bold"/>
                <a:ea typeface="Open Sauce Bold"/>
                <a:cs typeface="Open Sauce Bold"/>
                <a:sym typeface="Open Sauce Bold"/>
              </a:rPr>
              <a:t>Sprint Duration:</a:t>
            </a:r>
            <a:r>
              <a:rPr lang="en-US" sz="2100">
                <a:solidFill>
                  <a:srgbClr val="000000"/>
                </a:solidFill>
                <a:latin typeface="Open Sauce"/>
                <a:ea typeface="Open Sauce"/>
                <a:cs typeface="Open Sauce"/>
                <a:sym typeface="Open Sauce"/>
              </a:rPr>
              <a:t> February 20</a:t>
            </a:r>
            <a:r>
              <a:rPr lang="en-US" sz="2100">
                <a:solidFill>
                  <a:srgbClr val="000000"/>
                </a:solidFill>
                <a:latin typeface="Open Sauce"/>
                <a:ea typeface="Open Sauce"/>
                <a:cs typeface="Open Sauce"/>
                <a:sym typeface="Open Sauce"/>
              </a:rPr>
              <a:t>th</a:t>
            </a:r>
            <a:r>
              <a:rPr lang="en-US" sz="2100">
                <a:solidFill>
                  <a:srgbClr val="000000"/>
                </a:solidFill>
                <a:latin typeface="Open Sauce"/>
                <a:ea typeface="Open Sauce"/>
                <a:cs typeface="Open Sauce"/>
                <a:sym typeface="Open Sauce"/>
              </a:rPr>
              <a:t>  - March 26</a:t>
            </a:r>
            <a:r>
              <a:rPr lang="en-US" sz="2100">
                <a:solidFill>
                  <a:srgbClr val="000000"/>
                </a:solidFill>
                <a:latin typeface="Open Sauce"/>
                <a:ea typeface="Open Sauce"/>
                <a:cs typeface="Open Sauce"/>
                <a:sym typeface="Open Sauce"/>
              </a:rPr>
              <a:t>th</a:t>
            </a:r>
            <a:r>
              <a:rPr lang="en-US" sz="2100">
                <a:solidFill>
                  <a:srgbClr val="000000"/>
                </a:solidFill>
                <a:latin typeface="Open Sauce"/>
                <a:ea typeface="Open Sauce"/>
                <a:cs typeface="Open Sauce"/>
                <a:sym typeface="Open Sauce"/>
              </a:rPr>
              <a:t> *</a:t>
            </a:r>
          </a:p>
          <a:p>
            <a:pPr algn="l">
              <a:lnSpc>
                <a:spcPts val="4116"/>
              </a:lnSpc>
            </a:pPr>
            <a:r>
              <a:rPr lang="en-US" sz="2100" b="true">
                <a:solidFill>
                  <a:srgbClr val="006D77"/>
                </a:solidFill>
                <a:latin typeface="Open Sauce Bold"/>
                <a:ea typeface="Open Sauce Bold"/>
                <a:cs typeface="Open Sauce Bold"/>
                <a:sym typeface="Open Sauce Bold"/>
              </a:rPr>
              <a:t>S</a:t>
            </a:r>
            <a:r>
              <a:rPr lang="en-US" sz="2100" b="true">
                <a:solidFill>
                  <a:srgbClr val="006D77"/>
                </a:solidFill>
                <a:latin typeface="Open Sauce Bold"/>
                <a:ea typeface="Open Sauce Bold"/>
                <a:cs typeface="Open Sauce Bold"/>
                <a:sym typeface="Open Sauce Bold"/>
              </a:rPr>
              <a:t>print Length:</a:t>
            </a:r>
            <a:r>
              <a:rPr lang="en-US" sz="2100" b="true">
                <a:solidFill>
                  <a:srgbClr val="000000"/>
                </a:solidFill>
                <a:latin typeface="Open Sauce Bold"/>
                <a:ea typeface="Open Sauce Bold"/>
                <a:cs typeface="Open Sauce Bold"/>
                <a:sym typeface="Open Sauce Bold"/>
              </a:rPr>
              <a:t> </a:t>
            </a:r>
            <a:r>
              <a:rPr lang="en-US" sz="2100">
                <a:solidFill>
                  <a:srgbClr val="000000"/>
                </a:solidFill>
                <a:latin typeface="Open Sauce"/>
                <a:ea typeface="Open Sauce"/>
                <a:cs typeface="Open Sauce"/>
                <a:sym typeface="Open Sauce"/>
              </a:rPr>
              <a:t>1 month *</a:t>
            </a:r>
          </a:p>
          <a:p>
            <a:pPr algn="l">
              <a:lnSpc>
                <a:spcPts val="2520"/>
              </a:lnSpc>
            </a:pPr>
          </a:p>
          <a:p>
            <a:pPr algn="l">
              <a:lnSpc>
                <a:spcPts val="2520"/>
              </a:lnSpc>
            </a:pPr>
          </a:p>
          <a:p>
            <a:pPr algn="l">
              <a:lnSpc>
                <a:spcPts val="2520"/>
              </a:lnSpc>
            </a:pPr>
            <a:r>
              <a:rPr lang="en-US" sz="2100" b="true">
                <a:solidFill>
                  <a:srgbClr val="006D77"/>
                </a:solidFill>
                <a:latin typeface="Open Sauce Bold"/>
                <a:ea typeface="Open Sauce Bold"/>
                <a:cs typeface="Open Sauce Bold"/>
                <a:sym typeface="Open Sauce Bold"/>
              </a:rPr>
              <a:t>S</a:t>
            </a:r>
            <a:r>
              <a:rPr lang="en-US" sz="2100" b="true">
                <a:solidFill>
                  <a:srgbClr val="006D77"/>
                </a:solidFill>
                <a:latin typeface="Open Sauce Bold"/>
                <a:ea typeface="Open Sauce Bold"/>
                <a:cs typeface="Open Sauce Bold"/>
                <a:sym typeface="Open Sauce Bold"/>
              </a:rPr>
              <a:t>print Goal: </a:t>
            </a:r>
            <a:r>
              <a:rPr lang="en-US" sz="2100">
                <a:solidFill>
                  <a:srgbClr val="000000"/>
                </a:solidFill>
                <a:latin typeface="Open Sauce"/>
                <a:ea typeface="Open Sauce"/>
                <a:cs typeface="Open Sauce"/>
                <a:sym typeface="Open Sauce"/>
              </a:rPr>
              <a:t>This sprint focused on delivering a functional journaling workflow that allows users to submit journal entries and begin sentiment analysis processing.</a:t>
            </a:r>
          </a:p>
          <a:p>
            <a:pPr algn="l">
              <a:lnSpc>
                <a:spcPts val="2520"/>
              </a:lnSpc>
            </a:pPr>
          </a:p>
          <a:p>
            <a:pPr algn="l">
              <a:lnSpc>
                <a:spcPts val="2520"/>
              </a:lnSpc>
            </a:pPr>
          </a:p>
          <a:p>
            <a:pPr algn="l">
              <a:lnSpc>
                <a:spcPts val="2520"/>
              </a:lnSpc>
            </a:pPr>
            <a:r>
              <a:rPr lang="en-US" sz="2100" b="true">
                <a:solidFill>
                  <a:srgbClr val="006D77"/>
                </a:solidFill>
                <a:latin typeface="Open Sauce Bold"/>
                <a:ea typeface="Open Sauce Bold"/>
                <a:cs typeface="Open Sauce Bold"/>
                <a:sym typeface="Open Sauce Bold"/>
              </a:rPr>
              <a:t>S</a:t>
            </a:r>
            <a:r>
              <a:rPr lang="en-US" sz="2100" b="true">
                <a:solidFill>
                  <a:srgbClr val="006D77"/>
                </a:solidFill>
                <a:latin typeface="Open Sauce Bold"/>
                <a:ea typeface="Open Sauce Bold"/>
                <a:cs typeface="Open Sauce Bold"/>
                <a:sym typeface="Open Sauce Bold"/>
              </a:rPr>
              <a:t>tories </a:t>
            </a:r>
            <a:r>
              <a:rPr lang="en-US" sz="2100" b="true">
                <a:solidFill>
                  <a:srgbClr val="006D77"/>
                </a:solidFill>
                <a:latin typeface="Open Sauce Bold"/>
                <a:ea typeface="Open Sauce Bold"/>
                <a:cs typeface="Open Sauce Bold"/>
                <a:sym typeface="Open Sauce Bold"/>
              </a:rPr>
              <a:t>Co</a:t>
            </a:r>
            <a:r>
              <a:rPr lang="en-US" sz="2100" b="true">
                <a:solidFill>
                  <a:srgbClr val="006D77"/>
                </a:solidFill>
                <a:latin typeface="Open Sauce Bold"/>
                <a:ea typeface="Open Sauce Bold"/>
                <a:cs typeface="Open Sauce Bold"/>
                <a:sym typeface="Open Sauce Bold"/>
              </a:rPr>
              <a:t>mmitted: </a:t>
            </a:r>
            <a:r>
              <a:rPr lang="en-US" sz="2100">
                <a:solidFill>
                  <a:srgbClr val="000000"/>
                </a:solidFill>
                <a:latin typeface="Open Sauce"/>
                <a:ea typeface="Open Sauce"/>
                <a:cs typeface="Open Sauce"/>
                <a:sym typeface="Open Sauce"/>
              </a:rPr>
              <a:t>US1, US2, US3, US4, US5, US6, US7, US8, US9, US10, US13</a:t>
            </a:r>
          </a:p>
          <a:p>
            <a:pPr algn="l">
              <a:lnSpc>
                <a:spcPts val="2520"/>
              </a:lnSpc>
            </a:pPr>
          </a:p>
          <a:p>
            <a:pPr algn="l">
              <a:lnSpc>
                <a:spcPts val="2520"/>
              </a:lnSpc>
            </a:pPr>
          </a:p>
          <a:p>
            <a:pPr algn="ctr">
              <a:lnSpc>
                <a:spcPts val="2520"/>
              </a:lnSpc>
            </a:pPr>
          </a:p>
          <a:p>
            <a:pPr algn="l">
              <a:lnSpc>
                <a:spcPts val="2520"/>
              </a:lnSpc>
              <a:spcBef>
                <a:spcPct val="0"/>
              </a:spcBef>
            </a:pPr>
          </a:p>
        </p:txBody>
      </p:sp>
      <p:sp>
        <p:nvSpPr>
          <p:cNvPr name="TextBox 10" id="10"/>
          <p:cNvSpPr txBox="true"/>
          <p:nvPr/>
        </p:nvSpPr>
        <p:spPr>
          <a:xfrm rot="0">
            <a:off x="7145067" y="8191299"/>
            <a:ext cx="4565687" cy="356235"/>
          </a:xfrm>
          <a:prstGeom prst="rect">
            <a:avLst/>
          </a:prstGeom>
        </p:spPr>
        <p:txBody>
          <a:bodyPr anchor="t" rtlCol="false" tIns="0" lIns="0" bIns="0" rIns="0">
            <a:spAutoFit/>
          </a:bodyPr>
          <a:lstStyle/>
          <a:p>
            <a:pPr algn="ctr">
              <a:lnSpc>
                <a:spcPts val="2940"/>
              </a:lnSpc>
            </a:pPr>
            <a:r>
              <a:rPr lang="en-US" sz="2100" b="true">
                <a:solidFill>
                  <a:srgbClr val="F2F1F1"/>
                </a:solidFill>
                <a:latin typeface="Canva Sans Bold"/>
                <a:ea typeface="Canva Sans Bold"/>
                <a:cs typeface="Canva Sans Bold"/>
                <a:sym typeface="Canva Sans Bold"/>
              </a:rPr>
              <a:t>Tot</a:t>
            </a:r>
            <a:r>
              <a:rPr lang="en-US" b="true" sz="2100">
                <a:solidFill>
                  <a:srgbClr val="F2F1F1"/>
                </a:solidFill>
                <a:latin typeface="Canva Sans Bold"/>
                <a:ea typeface="Canva Sans Bold"/>
                <a:cs typeface="Canva Sans Bold"/>
                <a:sym typeface="Canva Sans Bold"/>
              </a:rPr>
              <a:t>al Story Points Committed: 41 </a:t>
            </a:r>
          </a:p>
        </p:txBody>
      </p:sp>
      <p:grpSp>
        <p:nvGrpSpPr>
          <p:cNvPr name="Group 11" id="11"/>
          <p:cNvGrpSpPr/>
          <p:nvPr/>
        </p:nvGrpSpPr>
        <p:grpSpPr>
          <a:xfrm rot="0">
            <a:off x="143691" y="9683062"/>
            <a:ext cx="2003497" cy="422688"/>
            <a:chOff x="0" y="0"/>
            <a:chExt cx="2671330" cy="563585"/>
          </a:xfrm>
        </p:grpSpPr>
        <p:sp>
          <p:nvSpPr>
            <p:cNvPr name="Freeform 12" id="12"/>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TextBox 14" id="14"/>
          <p:cNvSpPr txBox="true"/>
          <p:nvPr/>
        </p:nvSpPr>
        <p:spPr>
          <a:xfrm rot="0">
            <a:off x="13362297" y="9604216"/>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4" tooltip="https://1drv.ms/x/c/c30f4680ccc79b8c/IQC9fztrzBx4Rrh7wy889blgAWKdZ5Khnt9L0mDcJNT6C-c"/>
              </a:rPr>
              <a:t>Detailed spreadsheet here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934075" y="679774"/>
            <a:ext cx="7242444"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SPRINT 2 SUMMARY</a:t>
            </a:r>
          </a:p>
        </p:txBody>
      </p:sp>
      <p:grpSp>
        <p:nvGrpSpPr>
          <p:cNvPr name="Group 3" id="3"/>
          <p:cNvGrpSpPr/>
          <p:nvPr/>
        </p:nvGrpSpPr>
        <p:grpSpPr>
          <a:xfrm rot="0">
            <a:off x="1462118" y="1715779"/>
            <a:ext cx="15363763" cy="7672635"/>
            <a:chOff x="0" y="0"/>
            <a:chExt cx="4668157" cy="2331293"/>
          </a:xfrm>
        </p:grpSpPr>
        <p:sp>
          <p:nvSpPr>
            <p:cNvPr name="Freeform 4" id="4"/>
            <p:cNvSpPr/>
            <p:nvPr/>
          </p:nvSpPr>
          <p:spPr>
            <a:xfrm flipH="false" flipV="false" rot="0">
              <a:off x="0" y="0"/>
              <a:ext cx="4668157" cy="2331293"/>
            </a:xfrm>
            <a:custGeom>
              <a:avLst/>
              <a:gdLst/>
              <a:ahLst/>
              <a:cxnLst/>
              <a:rect r="r" b="b" t="t" l="l"/>
              <a:pathLst>
                <a:path h="2331293" w="4668157">
                  <a:moveTo>
                    <a:pt x="4668157" y="26203"/>
                  </a:moveTo>
                  <a:lnTo>
                    <a:pt x="4668157" y="2305090"/>
                  </a:lnTo>
                  <a:cubicBezTo>
                    <a:pt x="4668157" y="2319562"/>
                    <a:pt x="4656426" y="2331293"/>
                    <a:pt x="4641954" y="2331293"/>
                  </a:cubicBezTo>
                  <a:lnTo>
                    <a:pt x="26203" y="2331293"/>
                  </a:lnTo>
                  <a:cubicBezTo>
                    <a:pt x="19254" y="2331293"/>
                    <a:pt x="12589" y="2328532"/>
                    <a:pt x="7675" y="2323618"/>
                  </a:cubicBezTo>
                  <a:cubicBezTo>
                    <a:pt x="2761" y="2318704"/>
                    <a:pt x="0" y="2312039"/>
                    <a:pt x="0" y="2305090"/>
                  </a:cubicBezTo>
                  <a:lnTo>
                    <a:pt x="0" y="26203"/>
                  </a:lnTo>
                  <a:cubicBezTo>
                    <a:pt x="0" y="19254"/>
                    <a:pt x="2761" y="12589"/>
                    <a:pt x="7675" y="7675"/>
                  </a:cubicBezTo>
                  <a:cubicBezTo>
                    <a:pt x="12589" y="2761"/>
                    <a:pt x="19254" y="0"/>
                    <a:pt x="26203" y="0"/>
                  </a:cubicBezTo>
                  <a:lnTo>
                    <a:pt x="4641954" y="0"/>
                  </a:lnTo>
                  <a:cubicBezTo>
                    <a:pt x="4656426" y="0"/>
                    <a:pt x="4668157" y="11732"/>
                    <a:pt x="4668157" y="26203"/>
                  </a:cubicBezTo>
                  <a:close/>
                </a:path>
              </a:pathLst>
            </a:custGeom>
            <a:solidFill>
              <a:srgbClr val="F2F1F1">
                <a:alpha val="80000"/>
              </a:srgbClr>
            </a:solidFill>
          </p:spPr>
        </p:sp>
        <p:sp>
          <p:nvSpPr>
            <p:cNvPr name="TextBox 5" id="5"/>
            <p:cNvSpPr txBox="true"/>
            <p:nvPr/>
          </p:nvSpPr>
          <p:spPr>
            <a:xfrm>
              <a:off x="0" y="-47625"/>
              <a:ext cx="4668157" cy="2378918"/>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7056788" y="7962132"/>
            <a:ext cx="4742247" cy="852668"/>
            <a:chOff x="0" y="0"/>
            <a:chExt cx="1248987" cy="224571"/>
          </a:xfrm>
        </p:grpSpPr>
        <p:sp>
          <p:nvSpPr>
            <p:cNvPr name="Freeform 7" id="7"/>
            <p:cNvSpPr/>
            <p:nvPr/>
          </p:nvSpPr>
          <p:spPr>
            <a:xfrm flipH="false" flipV="false" rot="0">
              <a:off x="0" y="0"/>
              <a:ext cx="1248987" cy="224571"/>
            </a:xfrm>
            <a:custGeom>
              <a:avLst/>
              <a:gdLst/>
              <a:ahLst/>
              <a:cxnLst/>
              <a:rect r="r" b="b" t="t" l="l"/>
              <a:pathLst>
                <a:path h="224571" w="1248987">
                  <a:moveTo>
                    <a:pt x="27753" y="0"/>
                  </a:moveTo>
                  <a:lnTo>
                    <a:pt x="1221233" y="0"/>
                  </a:lnTo>
                  <a:cubicBezTo>
                    <a:pt x="1228594" y="0"/>
                    <a:pt x="1235653" y="2924"/>
                    <a:pt x="1240858" y="8129"/>
                  </a:cubicBezTo>
                  <a:cubicBezTo>
                    <a:pt x="1246063" y="13333"/>
                    <a:pt x="1248987" y="20393"/>
                    <a:pt x="1248987" y="27753"/>
                  </a:cubicBezTo>
                  <a:lnTo>
                    <a:pt x="1248987" y="196818"/>
                  </a:lnTo>
                  <a:cubicBezTo>
                    <a:pt x="1248987" y="212145"/>
                    <a:pt x="1236561" y="224571"/>
                    <a:pt x="1221233" y="224571"/>
                  </a:cubicBezTo>
                  <a:lnTo>
                    <a:pt x="27753" y="224571"/>
                  </a:lnTo>
                  <a:cubicBezTo>
                    <a:pt x="12426" y="224571"/>
                    <a:pt x="0" y="212145"/>
                    <a:pt x="0" y="196818"/>
                  </a:cubicBezTo>
                  <a:lnTo>
                    <a:pt x="0" y="27753"/>
                  </a:lnTo>
                  <a:cubicBezTo>
                    <a:pt x="0" y="12426"/>
                    <a:pt x="12426" y="0"/>
                    <a:pt x="27753" y="0"/>
                  </a:cubicBezTo>
                  <a:close/>
                </a:path>
              </a:pathLst>
            </a:custGeom>
            <a:solidFill>
              <a:srgbClr val="006D77"/>
            </a:solidFill>
          </p:spPr>
        </p:sp>
        <p:sp>
          <p:nvSpPr>
            <p:cNvPr name="TextBox 8" id="8"/>
            <p:cNvSpPr txBox="true"/>
            <p:nvPr/>
          </p:nvSpPr>
          <p:spPr>
            <a:xfrm>
              <a:off x="0" y="0"/>
              <a:ext cx="1248987" cy="224571"/>
            </a:xfrm>
            <a:prstGeom prst="rect">
              <a:avLst/>
            </a:prstGeom>
          </p:spPr>
          <p:txBody>
            <a:bodyPr anchor="ctr" rtlCol="false" tIns="50800" lIns="50800" bIns="50800" rIns="50800"/>
            <a:lstStyle/>
            <a:p>
              <a:pPr algn="ctr">
                <a:lnSpc>
                  <a:spcPts val="1800"/>
                </a:lnSpc>
              </a:pPr>
            </a:p>
          </p:txBody>
        </p:sp>
      </p:grpSp>
      <p:sp>
        <p:nvSpPr>
          <p:cNvPr name="TextBox 9" id="9"/>
          <p:cNvSpPr txBox="true"/>
          <p:nvPr/>
        </p:nvSpPr>
        <p:spPr>
          <a:xfrm rot="0">
            <a:off x="2737753" y="2626207"/>
            <a:ext cx="12812493" cy="5061204"/>
          </a:xfrm>
          <a:prstGeom prst="rect">
            <a:avLst/>
          </a:prstGeom>
        </p:spPr>
        <p:txBody>
          <a:bodyPr anchor="t" rtlCol="false" tIns="0" lIns="0" bIns="0" rIns="0">
            <a:spAutoFit/>
          </a:bodyPr>
          <a:lstStyle/>
          <a:p>
            <a:pPr algn="l">
              <a:lnSpc>
                <a:spcPts val="4116"/>
              </a:lnSpc>
            </a:pPr>
            <a:r>
              <a:rPr lang="en-US" sz="2100" b="true">
                <a:solidFill>
                  <a:srgbClr val="006D77"/>
                </a:solidFill>
                <a:latin typeface="Open Sauce Bold"/>
                <a:ea typeface="Open Sauce Bold"/>
                <a:cs typeface="Open Sauce Bold"/>
                <a:sym typeface="Open Sauce Bold"/>
              </a:rPr>
              <a:t>Sprint Name:</a:t>
            </a:r>
            <a:r>
              <a:rPr lang="en-US" sz="2100" b="true">
                <a:solidFill>
                  <a:srgbClr val="000000"/>
                </a:solidFill>
                <a:latin typeface="Open Sauce Bold"/>
                <a:ea typeface="Open Sauce Bold"/>
                <a:cs typeface="Open Sauce Bold"/>
                <a:sym typeface="Open Sauce Bold"/>
              </a:rPr>
              <a:t> </a:t>
            </a:r>
            <a:r>
              <a:rPr lang="en-US" sz="2100">
                <a:solidFill>
                  <a:srgbClr val="000000"/>
                </a:solidFill>
                <a:latin typeface="Open Sauce"/>
                <a:ea typeface="Open Sauce"/>
                <a:cs typeface="Open Sauce"/>
                <a:sym typeface="Open Sauce"/>
              </a:rPr>
              <a:t>Sprint 2</a:t>
            </a:r>
          </a:p>
          <a:p>
            <a:pPr algn="l">
              <a:lnSpc>
                <a:spcPts val="4116"/>
              </a:lnSpc>
            </a:pPr>
            <a:r>
              <a:rPr lang="en-US" sz="2100" b="true">
                <a:solidFill>
                  <a:srgbClr val="006D77"/>
                </a:solidFill>
                <a:latin typeface="Open Sauce Bold"/>
                <a:ea typeface="Open Sauce Bold"/>
                <a:cs typeface="Open Sauce Bold"/>
                <a:sym typeface="Open Sauce Bold"/>
              </a:rPr>
              <a:t>Sprint Duration:</a:t>
            </a:r>
            <a:r>
              <a:rPr lang="en-US" sz="2100">
                <a:solidFill>
                  <a:srgbClr val="000000"/>
                </a:solidFill>
                <a:latin typeface="Open Sauce"/>
                <a:ea typeface="Open Sauce"/>
                <a:cs typeface="Open Sauce"/>
                <a:sym typeface="Open Sauce"/>
              </a:rPr>
              <a:t> April 3</a:t>
            </a:r>
            <a:r>
              <a:rPr lang="en-US" sz="2100">
                <a:solidFill>
                  <a:srgbClr val="000000"/>
                </a:solidFill>
                <a:latin typeface="Open Sauce"/>
                <a:ea typeface="Open Sauce"/>
                <a:cs typeface="Open Sauce"/>
                <a:sym typeface="Open Sauce"/>
              </a:rPr>
              <a:t>rd</a:t>
            </a:r>
            <a:r>
              <a:rPr lang="en-US" sz="2100">
                <a:solidFill>
                  <a:srgbClr val="000000"/>
                </a:solidFill>
                <a:latin typeface="Open Sauce"/>
                <a:ea typeface="Open Sauce"/>
                <a:cs typeface="Open Sauce"/>
                <a:sym typeface="Open Sauce"/>
              </a:rPr>
              <a:t> - April 16</a:t>
            </a:r>
            <a:r>
              <a:rPr lang="en-US" sz="2100">
                <a:solidFill>
                  <a:srgbClr val="000000"/>
                </a:solidFill>
                <a:latin typeface="Open Sauce"/>
                <a:ea typeface="Open Sauce"/>
                <a:cs typeface="Open Sauce"/>
                <a:sym typeface="Open Sauce"/>
              </a:rPr>
              <a:t>th</a:t>
            </a:r>
            <a:r>
              <a:rPr lang="en-US" sz="2100">
                <a:solidFill>
                  <a:srgbClr val="000000"/>
                </a:solidFill>
                <a:latin typeface="Open Sauce"/>
                <a:ea typeface="Open Sauce"/>
                <a:cs typeface="Open Sauce"/>
                <a:sym typeface="Open Sauce"/>
              </a:rPr>
              <a:t>  </a:t>
            </a:r>
          </a:p>
          <a:p>
            <a:pPr algn="l">
              <a:lnSpc>
                <a:spcPts val="4116"/>
              </a:lnSpc>
            </a:pPr>
            <a:r>
              <a:rPr lang="en-US" sz="2100" b="true">
                <a:solidFill>
                  <a:srgbClr val="006D77"/>
                </a:solidFill>
                <a:latin typeface="Open Sauce Bold"/>
                <a:ea typeface="Open Sauce Bold"/>
                <a:cs typeface="Open Sauce Bold"/>
                <a:sym typeface="Open Sauce Bold"/>
              </a:rPr>
              <a:t>S</a:t>
            </a:r>
            <a:r>
              <a:rPr lang="en-US" sz="2100" b="true">
                <a:solidFill>
                  <a:srgbClr val="006D77"/>
                </a:solidFill>
                <a:latin typeface="Open Sauce Bold"/>
                <a:ea typeface="Open Sauce Bold"/>
                <a:cs typeface="Open Sauce Bold"/>
                <a:sym typeface="Open Sauce Bold"/>
              </a:rPr>
              <a:t>print Length:</a:t>
            </a:r>
            <a:r>
              <a:rPr lang="en-US" sz="2100" b="true">
                <a:solidFill>
                  <a:srgbClr val="000000"/>
                </a:solidFill>
                <a:latin typeface="Open Sauce Bold"/>
                <a:ea typeface="Open Sauce Bold"/>
                <a:cs typeface="Open Sauce Bold"/>
                <a:sym typeface="Open Sauce Bold"/>
              </a:rPr>
              <a:t> </a:t>
            </a:r>
            <a:r>
              <a:rPr lang="en-US" sz="2100">
                <a:solidFill>
                  <a:srgbClr val="000000"/>
                </a:solidFill>
                <a:latin typeface="Open Sauce"/>
                <a:ea typeface="Open Sauce"/>
                <a:cs typeface="Open Sauce"/>
                <a:sym typeface="Open Sauce"/>
              </a:rPr>
              <a:t>2 weeks</a:t>
            </a:r>
          </a:p>
          <a:p>
            <a:pPr algn="l">
              <a:lnSpc>
                <a:spcPts val="2520"/>
              </a:lnSpc>
            </a:pPr>
          </a:p>
          <a:p>
            <a:pPr algn="l">
              <a:lnSpc>
                <a:spcPts val="2520"/>
              </a:lnSpc>
            </a:pPr>
          </a:p>
          <a:p>
            <a:pPr algn="l">
              <a:lnSpc>
                <a:spcPts val="2520"/>
              </a:lnSpc>
            </a:pPr>
            <a:r>
              <a:rPr lang="en-US" sz="2100" b="true">
                <a:solidFill>
                  <a:srgbClr val="006D77"/>
                </a:solidFill>
                <a:latin typeface="Open Sauce Bold"/>
                <a:ea typeface="Open Sauce Bold"/>
                <a:cs typeface="Open Sauce Bold"/>
                <a:sym typeface="Open Sauce Bold"/>
              </a:rPr>
              <a:t>S</a:t>
            </a:r>
            <a:r>
              <a:rPr lang="en-US" sz="2100" b="true">
                <a:solidFill>
                  <a:srgbClr val="006D77"/>
                </a:solidFill>
                <a:latin typeface="Open Sauce Bold"/>
                <a:ea typeface="Open Sauce Bold"/>
                <a:cs typeface="Open Sauce Bold"/>
                <a:sym typeface="Open Sauce Bold"/>
              </a:rPr>
              <a:t>print Goal: </a:t>
            </a:r>
            <a:r>
              <a:rPr lang="en-US" sz="2100">
                <a:solidFill>
                  <a:srgbClr val="000000"/>
                </a:solidFill>
                <a:latin typeface="Open Sauce"/>
                <a:ea typeface="Open Sauce"/>
                <a:cs typeface="Open Sauce"/>
                <a:sym typeface="Open Sauce"/>
              </a:rPr>
              <a:t>This sprint focused on incorporating users into the system by implementing secure registration, login, and authenticated access to journal features.</a:t>
            </a:r>
          </a:p>
          <a:p>
            <a:pPr algn="l">
              <a:lnSpc>
                <a:spcPts val="2520"/>
              </a:lnSpc>
            </a:pPr>
          </a:p>
          <a:p>
            <a:pPr algn="l">
              <a:lnSpc>
                <a:spcPts val="2520"/>
              </a:lnSpc>
            </a:pPr>
          </a:p>
          <a:p>
            <a:pPr algn="l">
              <a:lnSpc>
                <a:spcPts val="2520"/>
              </a:lnSpc>
            </a:pPr>
            <a:r>
              <a:rPr lang="en-US" sz="2100" b="true">
                <a:solidFill>
                  <a:srgbClr val="006D77"/>
                </a:solidFill>
                <a:latin typeface="Open Sauce Bold"/>
                <a:ea typeface="Open Sauce Bold"/>
                <a:cs typeface="Open Sauce Bold"/>
                <a:sym typeface="Open Sauce Bold"/>
              </a:rPr>
              <a:t>S</a:t>
            </a:r>
            <a:r>
              <a:rPr lang="en-US" sz="2100" b="true">
                <a:solidFill>
                  <a:srgbClr val="006D77"/>
                </a:solidFill>
                <a:latin typeface="Open Sauce Bold"/>
                <a:ea typeface="Open Sauce Bold"/>
                <a:cs typeface="Open Sauce Bold"/>
                <a:sym typeface="Open Sauce Bold"/>
              </a:rPr>
              <a:t>tories </a:t>
            </a:r>
            <a:r>
              <a:rPr lang="en-US" sz="2100" b="true">
                <a:solidFill>
                  <a:srgbClr val="006D77"/>
                </a:solidFill>
                <a:latin typeface="Open Sauce Bold"/>
                <a:ea typeface="Open Sauce Bold"/>
                <a:cs typeface="Open Sauce Bold"/>
                <a:sym typeface="Open Sauce Bold"/>
              </a:rPr>
              <a:t>Co</a:t>
            </a:r>
            <a:r>
              <a:rPr lang="en-US" sz="2100" b="true">
                <a:solidFill>
                  <a:srgbClr val="006D77"/>
                </a:solidFill>
                <a:latin typeface="Open Sauce Bold"/>
                <a:ea typeface="Open Sauce Bold"/>
                <a:cs typeface="Open Sauce Bold"/>
                <a:sym typeface="Open Sauce Bold"/>
              </a:rPr>
              <a:t>mmitted: </a:t>
            </a:r>
            <a:r>
              <a:rPr lang="en-US" sz="2100">
                <a:solidFill>
                  <a:srgbClr val="000000"/>
                </a:solidFill>
                <a:latin typeface="Open Sauce"/>
                <a:ea typeface="Open Sauce"/>
                <a:cs typeface="Open Sauce"/>
                <a:sym typeface="Open Sauce"/>
              </a:rPr>
              <a:t>US6, US11, US12, US13, US15, US16, US17, US18, US19.</a:t>
            </a:r>
          </a:p>
          <a:p>
            <a:pPr algn="l">
              <a:lnSpc>
                <a:spcPts val="2520"/>
              </a:lnSpc>
            </a:pPr>
          </a:p>
          <a:p>
            <a:pPr algn="l">
              <a:lnSpc>
                <a:spcPts val="2520"/>
              </a:lnSpc>
            </a:pPr>
          </a:p>
          <a:p>
            <a:pPr algn="ctr">
              <a:lnSpc>
                <a:spcPts val="2520"/>
              </a:lnSpc>
            </a:pPr>
          </a:p>
          <a:p>
            <a:pPr algn="l">
              <a:lnSpc>
                <a:spcPts val="2520"/>
              </a:lnSpc>
              <a:spcBef>
                <a:spcPct val="0"/>
              </a:spcBef>
            </a:pPr>
          </a:p>
        </p:txBody>
      </p:sp>
      <p:sp>
        <p:nvSpPr>
          <p:cNvPr name="TextBox 10" id="10"/>
          <p:cNvSpPr txBox="true"/>
          <p:nvPr/>
        </p:nvSpPr>
        <p:spPr>
          <a:xfrm rot="0">
            <a:off x="7145067" y="8191299"/>
            <a:ext cx="4565687" cy="356235"/>
          </a:xfrm>
          <a:prstGeom prst="rect">
            <a:avLst/>
          </a:prstGeom>
        </p:spPr>
        <p:txBody>
          <a:bodyPr anchor="t" rtlCol="false" tIns="0" lIns="0" bIns="0" rIns="0">
            <a:spAutoFit/>
          </a:bodyPr>
          <a:lstStyle/>
          <a:p>
            <a:pPr algn="ctr">
              <a:lnSpc>
                <a:spcPts val="2940"/>
              </a:lnSpc>
            </a:pPr>
            <a:r>
              <a:rPr lang="en-US" sz="2100" b="true">
                <a:solidFill>
                  <a:srgbClr val="F2F1F1"/>
                </a:solidFill>
                <a:latin typeface="Canva Sans Bold"/>
                <a:ea typeface="Canva Sans Bold"/>
                <a:cs typeface="Canva Sans Bold"/>
                <a:sym typeface="Canva Sans Bold"/>
              </a:rPr>
              <a:t>Tot</a:t>
            </a:r>
            <a:r>
              <a:rPr lang="en-US" b="true" sz="2100">
                <a:solidFill>
                  <a:srgbClr val="F2F1F1"/>
                </a:solidFill>
                <a:latin typeface="Canva Sans Bold"/>
                <a:ea typeface="Canva Sans Bold"/>
                <a:cs typeface="Canva Sans Bold"/>
                <a:sym typeface="Canva Sans Bold"/>
              </a:rPr>
              <a:t>al Story Points Committed: 40 </a:t>
            </a:r>
          </a:p>
        </p:txBody>
      </p:sp>
      <p:grpSp>
        <p:nvGrpSpPr>
          <p:cNvPr name="Group 11" id="11"/>
          <p:cNvGrpSpPr/>
          <p:nvPr/>
        </p:nvGrpSpPr>
        <p:grpSpPr>
          <a:xfrm rot="0">
            <a:off x="143691" y="9683062"/>
            <a:ext cx="2003497" cy="422688"/>
            <a:chOff x="0" y="0"/>
            <a:chExt cx="2671330" cy="563585"/>
          </a:xfrm>
        </p:grpSpPr>
        <p:sp>
          <p:nvSpPr>
            <p:cNvPr name="Freeform 12" id="12"/>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TextBox 14" id="14"/>
          <p:cNvSpPr txBox="true"/>
          <p:nvPr/>
        </p:nvSpPr>
        <p:spPr>
          <a:xfrm rot="0">
            <a:off x="13362297" y="9604216"/>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4" tooltip="https://1drv.ms/x/c/c30f4680ccc79b8c/IQC9fztrzBx4Rrh7wy889blgAWKdZ5Khnt9L0mDcJNT6C-c"/>
              </a:rPr>
              <a:t>Detailed spreadsheet here</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62118" y="1715779"/>
            <a:ext cx="15363763" cy="7672635"/>
            <a:chOff x="0" y="0"/>
            <a:chExt cx="4668157" cy="2331293"/>
          </a:xfrm>
        </p:grpSpPr>
        <p:sp>
          <p:nvSpPr>
            <p:cNvPr name="Freeform 3" id="3"/>
            <p:cNvSpPr/>
            <p:nvPr/>
          </p:nvSpPr>
          <p:spPr>
            <a:xfrm flipH="false" flipV="false" rot="0">
              <a:off x="0" y="0"/>
              <a:ext cx="4668157" cy="2331293"/>
            </a:xfrm>
            <a:custGeom>
              <a:avLst/>
              <a:gdLst/>
              <a:ahLst/>
              <a:cxnLst/>
              <a:rect r="r" b="b" t="t" l="l"/>
              <a:pathLst>
                <a:path h="2331293" w="4668157">
                  <a:moveTo>
                    <a:pt x="4668157" y="26203"/>
                  </a:moveTo>
                  <a:lnTo>
                    <a:pt x="4668157" y="2305090"/>
                  </a:lnTo>
                  <a:cubicBezTo>
                    <a:pt x="4668157" y="2319562"/>
                    <a:pt x="4656426" y="2331293"/>
                    <a:pt x="4641954" y="2331293"/>
                  </a:cubicBezTo>
                  <a:lnTo>
                    <a:pt x="26203" y="2331293"/>
                  </a:lnTo>
                  <a:cubicBezTo>
                    <a:pt x="19254" y="2331293"/>
                    <a:pt x="12589" y="2328532"/>
                    <a:pt x="7675" y="2323618"/>
                  </a:cubicBezTo>
                  <a:cubicBezTo>
                    <a:pt x="2761" y="2318704"/>
                    <a:pt x="0" y="2312039"/>
                    <a:pt x="0" y="2305090"/>
                  </a:cubicBezTo>
                  <a:lnTo>
                    <a:pt x="0" y="26203"/>
                  </a:lnTo>
                  <a:cubicBezTo>
                    <a:pt x="0" y="19254"/>
                    <a:pt x="2761" y="12589"/>
                    <a:pt x="7675" y="7675"/>
                  </a:cubicBezTo>
                  <a:cubicBezTo>
                    <a:pt x="12589" y="2761"/>
                    <a:pt x="19254" y="0"/>
                    <a:pt x="26203" y="0"/>
                  </a:cubicBezTo>
                  <a:lnTo>
                    <a:pt x="4641954" y="0"/>
                  </a:lnTo>
                  <a:cubicBezTo>
                    <a:pt x="4656426" y="0"/>
                    <a:pt x="4668157" y="11732"/>
                    <a:pt x="4668157" y="26203"/>
                  </a:cubicBezTo>
                  <a:close/>
                </a:path>
              </a:pathLst>
            </a:custGeom>
            <a:solidFill>
              <a:srgbClr val="F2F1F1">
                <a:alpha val="80000"/>
              </a:srgbClr>
            </a:solidFill>
          </p:spPr>
        </p:sp>
        <p:sp>
          <p:nvSpPr>
            <p:cNvPr name="TextBox 4" id="4"/>
            <p:cNvSpPr txBox="true"/>
            <p:nvPr/>
          </p:nvSpPr>
          <p:spPr>
            <a:xfrm>
              <a:off x="0" y="-47625"/>
              <a:ext cx="4668157" cy="237891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056788" y="7962132"/>
            <a:ext cx="4742247" cy="852668"/>
            <a:chOff x="0" y="0"/>
            <a:chExt cx="1248987" cy="224571"/>
          </a:xfrm>
        </p:grpSpPr>
        <p:sp>
          <p:nvSpPr>
            <p:cNvPr name="Freeform 6" id="6"/>
            <p:cNvSpPr/>
            <p:nvPr/>
          </p:nvSpPr>
          <p:spPr>
            <a:xfrm flipH="false" flipV="false" rot="0">
              <a:off x="0" y="0"/>
              <a:ext cx="1248987" cy="224571"/>
            </a:xfrm>
            <a:custGeom>
              <a:avLst/>
              <a:gdLst/>
              <a:ahLst/>
              <a:cxnLst/>
              <a:rect r="r" b="b" t="t" l="l"/>
              <a:pathLst>
                <a:path h="224571" w="1248987">
                  <a:moveTo>
                    <a:pt x="27753" y="0"/>
                  </a:moveTo>
                  <a:lnTo>
                    <a:pt x="1221233" y="0"/>
                  </a:lnTo>
                  <a:cubicBezTo>
                    <a:pt x="1228594" y="0"/>
                    <a:pt x="1235653" y="2924"/>
                    <a:pt x="1240858" y="8129"/>
                  </a:cubicBezTo>
                  <a:cubicBezTo>
                    <a:pt x="1246063" y="13333"/>
                    <a:pt x="1248987" y="20393"/>
                    <a:pt x="1248987" y="27753"/>
                  </a:cubicBezTo>
                  <a:lnTo>
                    <a:pt x="1248987" y="196818"/>
                  </a:lnTo>
                  <a:cubicBezTo>
                    <a:pt x="1248987" y="212145"/>
                    <a:pt x="1236561" y="224571"/>
                    <a:pt x="1221233" y="224571"/>
                  </a:cubicBezTo>
                  <a:lnTo>
                    <a:pt x="27753" y="224571"/>
                  </a:lnTo>
                  <a:cubicBezTo>
                    <a:pt x="12426" y="224571"/>
                    <a:pt x="0" y="212145"/>
                    <a:pt x="0" y="196818"/>
                  </a:cubicBezTo>
                  <a:lnTo>
                    <a:pt x="0" y="27753"/>
                  </a:lnTo>
                  <a:cubicBezTo>
                    <a:pt x="0" y="12426"/>
                    <a:pt x="12426" y="0"/>
                    <a:pt x="27753" y="0"/>
                  </a:cubicBezTo>
                  <a:close/>
                </a:path>
              </a:pathLst>
            </a:custGeom>
            <a:solidFill>
              <a:srgbClr val="006D77"/>
            </a:solidFill>
          </p:spPr>
        </p:sp>
        <p:sp>
          <p:nvSpPr>
            <p:cNvPr name="TextBox 7" id="7"/>
            <p:cNvSpPr txBox="true"/>
            <p:nvPr/>
          </p:nvSpPr>
          <p:spPr>
            <a:xfrm>
              <a:off x="0" y="0"/>
              <a:ext cx="1248987" cy="224571"/>
            </a:xfrm>
            <a:prstGeom prst="rect">
              <a:avLst/>
            </a:prstGeom>
          </p:spPr>
          <p:txBody>
            <a:bodyPr anchor="ctr" rtlCol="false" tIns="50800" lIns="50800" bIns="50800" rIns="50800"/>
            <a:lstStyle/>
            <a:p>
              <a:pPr algn="ctr">
                <a:lnSpc>
                  <a:spcPts val="1800"/>
                </a:lnSpc>
              </a:pPr>
            </a:p>
          </p:txBody>
        </p:sp>
      </p:grpSp>
      <p:sp>
        <p:nvSpPr>
          <p:cNvPr name="TextBox 8" id="8"/>
          <p:cNvSpPr txBox="true"/>
          <p:nvPr/>
        </p:nvSpPr>
        <p:spPr>
          <a:xfrm rot="0">
            <a:off x="2737753" y="2626207"/>
            <a:ext cx="12812493" cy="5375529"/>
          </a:xfrm>
          <a:prstGeom prst="rect">
            <a:avLst/>
          </a:prstGeom>
        </p:spPr>
        <p:txBody>
          <a:bodyPr anchor="t" rtlCol="false" tIns="0" lIns="0" bIns="0" rIns="0">
            <a:spAutoFit/>
          </a:bodyPr>
          <a:lstStyle/>
          <a:p>
            <a:pPr algn="l">
              <a:lnSpc>
                <a:spcPts val="4116"/>
              </a:lnSpc>
            </a:pPr>
            <a:r>
              <a:rPr lang="en-US" sz="2100" b="true">
                <a:solidFill>
                  <a:srgbClr val="006D77"/>
                </a:solidFill>
                <a:latin typeface="Open Sauce Bold"/>
                <a:ea typeface="Open Sauce Bold"/>
                <a:cs typeface="Open Sauce Bold"/>
                <a:sym typeface="Open Sauce Bold"/>
              </a:rPr>
              <a:t>Sprint Name:</a:t>
            </a:r>
            <a:r>
              <a:rPr lang="en-US" sz="2100" b="true">
                <a:solidFill>
                  <a:srgbClr val="000000"/>
                </a:solidFill>
                <a:latin typeface="Open Sauce Bold"/>
                <a:ea typeface="Open Sauce Bold"/>
                <a:cs typeface="Open Sauce Bold"/>
                <a:sym typeface="Open Sauce Bold"/>
              </a:rPr>
              <a:t> </a:t>
            </a:r>
            <a:r>
              <a:rPr lang="en-US" sz="2100">
                <a:solidFill>
                  <a:srgbClr val="000000"/>
                </a:solidFill>
                <a:latin typeface="Open Sauce"/>
                <a:ea typeface="Open Sauce"/>
                <a:cs typeface="Open Sauce"/>
                <a:sym typeface="Open Sauce"/>
              </a:rPr>
              <a:t>Sprint 3</a:t>
            </a:r>
          </a:p>
          <a:p>
            <a:pPr algn="l">
              <a:lnSpc>
                <a:spcPts val="4116"/>
              </a:lnSpc>
            </a:pPr>
            <a:r>
              <a:rPr lang="en-US" sz="2100" b="true">
                <a:solidFill>
                  <a:srgbClr val="006D77"/>
                </a:solidFill>
                <a:latin typeface="Open Sauce Bold"/>
                <a:ea typeface="Open Sauce Bold"/>
                <a:cs typeface="Open Sauce Bold"/>
                <a:sym typeface="Open Sauce Bold"/>
              </a:rPr>
              <a:t>Sprint Duration:</a:t>
            </a:r>
            <a:r>
              <a:rPr lang="en-US" sz="2100">
                <a:solidFill>
                  <a:srgbClr val="000000"/>
                </a:solidFill>
                <a:latin typeface="Open Sauce"/>
                <a:ea typeface="Open Sauce"/>
                <a:cs typeface="Open Sauce"/>
                <a:sym typeface="Open Sauce"/>
              </a:rPr>
              <a:t> April 17</a:t>
            </a:r>
            <a:r>
              <a:rPr lang="en-US" sz="2100">
                <a:solidFill>
                  <a:srgbClr val="000000"/>
                </a:solidFill>
                <a:latin typeface="Open Sauce"/>
                <a:ea typeface="Open Sauce"/>
                <a:cs typeface="Open Sauce"/>
                <a:sym typeface="Open Sauce"/>
              </a:rPr>
              <a:t>th</a:t>
            </a:r>
            <a:r>
              <a:rPr lang="en-US" sz="2100">
                <a:solidFill>
                  <a:srgbClr val="000000"/>
                </a:solidFill>
                <a:latin typeface="Open Sauce"/>
                <a:ea typeface="Open Sauce"/>
                <a:cs typeface="Open Sauce"/>
                <a:sym typeface="Open Sauce"/>
              </a:rPr>
              <a:t> - May 15</a:t>
            </a:r>
            <a:r>
              <a:rPr lang="en-US" sz="2100">
                <a:solidFill>
                  <a:srgbClr val="000000"/>
                </a:solidFill>
                <a:latin typeface="Open Sauce"/>
                <a:ea typeface="Open Sauce"/>
                <a:cs typeface="Open Sauce"/>
                <a:sym typeface="Open Sauce"/>
              </a:rPr>
              <a:t>th</a:t>
            </a:r>
            <a:r>
              <a:rPr lang="en-US" sz="2100">
                <a:solidFill>
                  <a:srgbClr val="000000"/>
                </a:solidFill>
                <a:latin typeface="Open Sauce"/>
                <a:ea typeface="Open Sauce"/>
                <a:cs typeface="Open Sauce"/>
                <a:sym typeface="Open Sauce"/>
              </a:rPr>
              <a:t> </a:t>
            </a:r>
          </a:p>
          <a:p>
            <a:pPr algn="l">
              <a:lnSpc>
                <a:spcPts val="4116"/>
              </a:lnSpc>
            </a:pPr>
            <a:r>
              <a:rPr lang="en-US" sz="2100" b="true">
                <a:solidFill>
                  <a:srgbClr val="006D77"/>
                </a:solidFill>
                <a:latin typeface="Open Sauce Bold"/>
                <a:ea typeface="Open Sauce Bold"/>
                <a:cs typeface="Open Sauce Bold"/>
                <a:sym typeface="Open Sauce Bold"/>
              </a:rPr>
              <a:t>S</a:t>
            </a:r>
            <a:r>
              <a:rPr lang="en-US" sz="2100" b="true">
                <a:solidFill>
                  <a:srgbClr val="006D77"/>
                </a:solidFill>
                <a:latin typeface="Open Sauce Bold"/>
                <a:ea typeface="Open Sauce Bold"/>
                <a:cs typeface="Open Sauce Bold"/>
                <a:sym typeface="Open Sauce Bold"/>
              </a:rPr>
              <a:t>print Length:</a:t>
            </a:r>
            <a:r>
              <a:rPr lang="en-US" sz="2100" b="true">
                <a:solidFill>
                  <a:srgbClr val="000000"/>
                </a:solidFill>
                <a:latin typeface="Open Sauce Bold"/>
                <a:ea typeface="Open Sauce Bold"/>
                <a:cs typeface="Open Sauce Bold"/>
                <a:sym typeface="Open Sauce Bold"/>
              </a:rPr>
              <a:t> </a:t>
            </a:r>
            <a:r>
              <a:rPr lang="en-US" sz="2100">
                <a:solidFill>
                  <a:srgbClr val="000000"/>
                </a:solidFill>
                <a:latin typeface="Open Sauce"/>
                <a:ea typeface="Open Sauce"/>
                <a:cs typeface="Open Sauce"/>
                <a:sym typeface="Open Sauce"/>
              </a:rPr>
              <a:t>3 weeks</a:t>
            </a:r>
          </a:p>
          <a:p>
            <a:pPr algn="l">
              <a:lnSpc>
                <a:spcPts val="2520"/>
              </a:lnSpc>
            </a:pPr>
          </a:p>
          <a:p>
            <a:pPr algn="l">
              <a:lnSpc>
                <a:spcPts val="2520"/>
              </a:lnSpc>
            </a:pPr>
          </a:p>
          <a:p>
            <a:pPr algn="l">
              <a:lnSpc>
                <a:spcPts val="2520"/>
              </a:lnSpc>
            </a:pPr>
            <a:r>
              <a:rPr lang="en-US" sz="2100" b="true">
                <a:solidFill>
                  <a:srgbClr val="006D77"/>
                </a:solidFill>
                <a:latin typeface="Open Sauce Bold"/>
                <a:ea typeface="Open Sauce Bold"/>
                <a:cs typeface="Open Sauce Bold"/>
                <a:sym typeface="Open Sauce Bold"/>
              </a:rPr>
              <a:t>S</a:t>
            </a:r>
            <a:r>
              <a:rPr lang="en-US" sz="2100" b="true">
                <a:solidFill>
                  <a:srgbClr val="006D77"/>
                </a:solidFill>
                <a:latin typeface="Open Sauce Bold"/>
                <a:ea typeface="Open Sauce Bold"/>
                <a:cs typeface="Open Sauce Bold"/>
                <a:sym typeface="Open Sauce Bold"/>
              </a:rPr>
              <a:t>print Goal: </a:t>
            </a:r>
            <a:r>
              <a:rPr lang="en-US" sz="2100">
                <a:solidFill>
                  <a:srgbClr val="000000"/>
                </a:solidFill>
                <a:latin typeface="Open Sauce"/>
                <a:ea typeface="Open Sauce"/>
                <a:cs typeface="Open Sauce"/>
                <a:sym typeface="Open Sauce"/>
              </a:rPr>
              <a:t>This sprint focuses on enabling secure, user-controlled sharing of journal and mood data between users and their therapists, including the ability to grant and revoke access at any time. </a:t>
            </a:r>
          </a:p>
          <a:p>
            <a:pPr algn="l">
              <a:lnSpc>
                <a:spcPts val="2520"/>
              </a:lnSpc>
            </a:pPr>
          </a:p>
          <a:p>
            <a:pPr algn="l">
              <a:lnSpc>
                <a:spcPts val="2520"/>
              </a:lnSpc>
            </a:pPr>
          </a:p>
          <a:p>
            <a:pPr algn="l">
              <a:lnSpc>
                <a:spcPts val="2520"/>
              </a:lnSpc>
            </a:pPr>
            <a:r>
              <a:rPr lang="en-US" sz="2100" b="true">
                <a:solidFill>
                  <a:srgbClr val="006D77"/>
                </a:solidFill>
                <a:latin typeface="Open Sauce Bold"/>
                <a:ea typeface="Open Sauce Bold"/>
                <a:cs typeface="Open Sauce Bold"/>
                <a:sym typeface="Open Sauce Bold"/>
              </a:rPr>
              <a:t>S</a:t>
            </a:r>
            <a:r>
              <a:rPr lang="en-US" sz="2100" b="true">
                <a:solidFill>
                  <a:srgbClr val="006D77"/>
                </a:solidFill>
                <a:latin typeface="Open Sauce Bold"/>
                <a:ea typeface="Open Sauce Bold"/>
                <a:cs typeface="Open Sauce Bold"/>
                <a:sym typeface="Open Sauce Bold"/>
              </a:rPr>
              <a:t>tories </a:t>
            </a:r>
            <a:r>
              <a:rPr lang="en-US" sz="2100" b="true">
                <a:solidFill>
                  <a:srgbClr val="006D77"/>
                </a:solidFill>
                <a:latin typeface="Open Sauce Bold"/>
                <a:ea typeface="Open Sauce Bold"/>
                <a:cs typeface="Open Sauce Bold"/>
                <a:sym typeface="Open Sauce Bold"/>
              </a:rPr>
              <a:t>Co</a:t>
            </a:r>
            <a:r>
              <a:rPr lang="en-US" sz="2100" b="true">
                <a:solidFill>
                  <a:srgbClr val="006D77"/>
                </a:solidFill>
                <a:latin typeface="Open Sauce Bold"/>
                <a:ea typeface="Open Sauce Bold"/>
                <a:cs typeface="Open Sauce Bold"/>
                <a:sym typeface="Open Sauce Bold"/>
              </a:rPr>
              <a:t>mmitted: </a:t>
            </a:r>
            <a:r>
              <a:rPr lang="en-US" sz="2100">
                <a:solidFill>
                  <a:srgbClr val="000000"/>
                </a:solidFill>
                <a:latin typeface="Open Sauce"/>
                <a:ea typeface="Open Sauce"/>
                <a:cs typeface="Open Sauce"/>
                <a:sym typeface="Open Sauce"/>
              </a:rPr>
              <a:t>US20, US21, US22, US23, US24</a:t>
            </a:r>
          </a:p>
          <a:p>
            <a:pPr algn="l">
              <a:lnSpc>
                <a:spcPts val="2520"/>
              </a:lnSpc>
            </a:pPr>
          </a:p>
          <a:p>
            <a:pPr algn="l">
              <a:lnSpc>
                <a:spcPts val="2520"/>
              </a:lnSpc>
            </a:pPr>
          </a:p>
          <a:p>
            <a:pPr algn="ctr">
              <a:lnSpc>
                <a:spcPts val="2520"/>
              </a:lnSpc>
            </a:pPr>
          </a:p>
          <a:p>
            <a:pPr algn="l">
              <a:lnSpc>
                <a:spcPts val="2520"/>
              </a:lnSpc>
              <a:spcBef>
                <a:spcPct val="0"/>
              </a:spcBef>
            </a:pPr>
          </a:p>
        </p:txBody>
      </p:sp>
      <p:grpSp>
        <p:nvGrpSpPr>
          <p:cNvPr name="Group 9" id="9"/>
          <p:cNvGrpSpPr/>
          <p:nvPr/>
        </p:nvGrpSpPr>
        <p:grpSpPr>
          <a:xfrm rot="0">
            <a:off x="143691" y="9683062"/>
            <a:ext cx="2003497" cy="422688"/>
            <a:chOff x="0" y="0"/>
            <a:chExt cx="2671330" cy="563585"/>
          </a:xfrm>
        </p:grpSpPr>
        <p:sp>
          <p:nvSpPr>
            <p:cNvPr name="Freeform 10" id="10"/>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TextBox 12" id="12"/>
          <p:cNvSpPr txBox="true"/>
          <p:nvPr/>
        </p:nvSpPr>
        <p:spPr>
          <a:xfrm rot="0">
            <a:off x="13362297" y="9604216"/>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4" tooltip="https://1drv.ms/x/c/c30f4680ccc79b8c/IQC9fztrzBx4Rrh7wy889blgAWKdZ5Khnt9L0mDcJNT6C-c"/>
              </a:rPr>
              <a:t>Detailed spreadsheet here</a:t>
            </a:r>
          </a:p>
        </p:txBody>
      </p:sp>
      <p:sp>
        <p:nvSpPr>
          <p:cNvPr name="TextBox 13" id="13"/>
          <p:cNvSpPr txBox="true"/>
          <p:nvPr/>
        </p:nvSpPr>
        <p:spPr>
          <a:xfrm rot="0">
            <a:off x="5934075" y="680085"/>
            <a:ext cx="7242444"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SPRINT 3 BACKLOG</a:t>
            </a:r>
          </a:p>
        </p:txBody>
      </p:sp>
      <p:sp>
        <p:nvSpPr>
          <p:cNvPr name="TextBox 14" id="14"/>
          <p:cNvSpPr txBox="true"/>
          <p:nvPr/>
        </p:nvSpPr>
        <p:spPr>
          <a:xfrm rot="0">
            <a:off x="7145067" y="8191299"/>
            <a:ext cx="4565687" cy="356235"/>
          </a:xfrm>
          <a:prstGeom prst="rect">
            <a:avLst/>
          </a:prstGeom>
        </p:spPr>
        <p:txBody>
          <a:bodyPr anchor="t" rtlCol="false" tIns="0" lIns="0" bIns="0" rIns="0">
            <a:spAutoFit/>
          </a:bodyPr>
          <a:lstStyle/>
          <a:p>
            <a:pPr algn="ctr">
              <a:lnSpc>
                <a:spcPts val="2940"/>
              </a:lnSpc>
            </a:pPr>
            <a:r>
              <a:rPr lang="en-US" sz="2100" b="true">
                <a:solidFill>
                  <a:srgbClr val="F2F1F1"/>
                </a:solidFill>
                <a:latin typeface="Canva Sans Bold"/>
                <a:ea typeface="Canva Sans Bold"/>
                <a:cs typeface="Canva Sans Bold"/>
                <a:sym typeface="Canva Sans Bold"/>
              </a:rPr>
              <a:t>Tot</a:t>
            </a:r>
            <a:r>
              <a:rPr lang="en-US" b="true" sz="2100">
                <a:solidFill>
                  <a:srgbClr val="F2F1F1"/>
                </a:solidFill>
                <a:latin typeface="Canva Sans Bold"/>
                <a:ea typeface="Canva Sans Bold"/>
                <a:cs typeface="Canva Sans Bold"/>
                <a:sym typeface="Canva Sans Bold"/>
              </a:rPr>
              <a:t>al Story Points Committed: 28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362297" y="9604216"/>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2" tooltip="https://1drv.ms/x/c/c30f4680ccc79b8c/IQC9fztrzBx4Rrh7wy889blgAWKdZ5Khnt9L0mDcJNT6C-c"/>
              </a:rPr>
              <a:t>Detailed spreadsheet here</a:t>
            </a:r>
          </a:p>
        </p:txBody>
      </p:sp>
      <p:sp>
        <p:nvSpPr>
          <p:cNvPr name="TextBox 3" id="3"/>
          <p:cNvSpPr txBox="true"/>
          <p:nvPr/>
        </p:nvSpPr>
        <p:spPr>
          <a:xfrm rot="0">
            <a:off x="4041710" y="680085"/>
            <a:ext cx="10204580"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SPRINT 3 TASK BREAKDOWN</a:t>
            </a:r>
          </a:p>
        </p:txBody>
      </p:sp>
      <p:grpSp>
        <p:nvGrpSpPr>
          <p:cNvPr name="Group 4" id="4"/>
          <p:cNvGrpSpPr/>
          <p:nvPr/>
        </p:nvGrpSpPr>
        <p:grpSpPr>
          <a:xfrm rot="0">
            <a:off x="143691" y="9683062"/>
            <a:ext cx="2003497" cy="422688"/>
            <a:chOff x="0" y="0"/>
            <a:chExt cx="2671330" cy="563585"/>
          </a:xfrm>
        </p:grpSpPr>
        <p:sp>
          <p:nvSpPr>
            <p:cNvPr name="Freeform 5" id="5"/>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TextBox 7" id="7"/>
          <p:cNvSpPr txBox="true"/>
          <p:nvPr/>
        </p:nvSpPr>
        <p:spPr>
          <a:xfrm rot="0">
            <a:off x="1277932" y="2498715"/>
            <a:ext cx="15015721" cy="1670050"/>
          </a:xfrm>
          <a:prstGeom prst="rect">
            <a:avLst/>
          </a:prstGeom>
        </p:spPr>
        <p:txBody>
          <a:bodyPr anchor="t" rtlCol="false" tIns="0" lIns="0" bIns="0" rIns="0">
            <a:spAutoFit/>
          </a:bodyPr>
          <a:lstStyle/>
          <a:p>
            <a:pPr algn="just" marL="0" indent="0" lvl="0">
              <a:lnSpc>
                <a:spcPts val="3350"/>
              </a:lnSpc>
              <a:spcBef>
                <a:spcPct val="0"/>
              </a:spcBef>
            </a:pPr>
            <a:r>
              <a:rPr lang="en-US" sz="2500" spc="142" strike="noStrike" u="none">
                <a:solidFill>
                  <a:srgbClr val="000000"/>
                </a:solidFill>
                <a:latin typeface="Lato"/>
                <a:ea typeface="Lato"/>
                <a:cs typeface="Lato"/>
                <a:sym typeface="Lato"/>
              </a:rPr>
              <a:t>Sprint 3 focused on therapist sharing workflows. User stories were broken into smaller technical tasks so ownership, implementation effort, and dependencies could be tracked clearly across backend, frontend, and integration work.</a:t>
            </a:r>
          </a:p>
          <a:p>
            <a:pPr algn="just" marL="0" indent="0" lvl="0">
              <a:lnSpc>
                <a:spcPts val="3350"/>
              </a:lnSpc>
              <a:spcBef>
                <a:spcPct val="0"/>
              </a:spcBef>
            </a:pPr>
          </a:p>
        </p:txBody>
      </p:sp>
      <p:sp>
        <p:nvSpPr>
          <p:cNvPr name="TextBox 8" id="8"/>
          <p:cNvSpPr txBox="true"/>
          <p:nvPr/>
        </p:nvSpPr>
        <p:spPr>
          <a:xfrm rot="0">
            <a:off x="6184226" y="4911715"/>
            <a:ext cx="6036288" cy="499110"/>
          </a:xfrm>
          <a:prstGeom prst="rect">
            <a:avLst/>
          </a:prstGeom>
        </p:spPr>
        <p:txBody>
          <a:bodyPr anchor="t" rtlCol="false" tIns="0" lIns="0" bIns="0" rIns="0">
            <a:spAutoFit/>
          </a:bodyPr>
          <a:lstStyle/>
          <a:p>
            <a:pPr algn="ctr">
              <a:lnSpc>
                <a:spcPts val="4020"/>
              </a:lnSpc>
            </a:pPr>
            <a:r>
              <a:rPr lang="en-US" b="true" sz="3000" spc="171">
                <a:solidFill>
                  <a:srgbClr val="006D77"/>
                </a:solidFill>
                <a:latin typeface="Lato Bold"/>
                <a:ea typeface="Lato Bold"/>
                <a:cs typeface="Lato Bold"/>
                <a:sym typeface="Lato Bold"/>
              </a:rPr>
              <a:t>Why Task Breakdown Mattered</a:t>
            </a:r>
          </a:p>
        </p:txBody>
      </p:sp>
      <p:sp>
        <p:nvSpPr>
          <p:cNvPr name="AutoShape 9" id="9"/>
          <p:cNvSpPr/>
          <p:nvPr/>
        </p:nvSpPr>
        <p:spPr>
          <a:xfrm>
            <a:off x="5532396" y="5639425"/>
            <a:ext cx="7339948" cy="0"/>
          </a:xfrm>
          <a:prstGeom prst="line">
            <a:avLst/>
          </a:prstGeom>
          <a:ln cap="flat" w="19050">
            <a:solidFill>
              <a:srgbClr val="000000"/>
            </a:solidFill>
            <a:prstDash val="solid"/>
            <a:headEnd type="none" len="sm" w="sm"/>
            <a:tailEnd type="none" len="sm" w="sm"/>
          </a:ln>
        </p:spPr>
      </p:sp>
      <p:sp>
        <p:nvSpPr>
          <p:cNvPr name="TextBox 10" id="10"/>
          <p:cNvSpPr txBox="true"/>
          <p:nvPr/>
        </p:nvSpPr>
        <p:spPr>
          <a:xfrm rot="0">
            <a:off x="1087070" y="6279714"/>
            <a:ext cx="15132461" cy="42227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Clarified</a:t>
            </a:r>
            <a:r>
              <a:rPr lang="en-US" sz="2499">
                <a:solidFill>
                  <a:srgbClr val="000000"/>
                </a:solidFill>
                <a:latin typeface="Open Sauce"/>
                <a:ea typeface="Open Sauce"/>
                <a:cs typeface="Open Sauce"/>
                <a:sym typeface="Open Sauce"/>
              </a:rPr>
              <a:t> who owned each part of therapist linking, sharing, and read-only data access.</a:t>
            </a:r>
          </a:p>
        </p:txBody>
      </p:sp>
      <p:sp>
        <p:nvSpPr>
          <p:cNvPr name="TextBox 11" id="11"/>
          <p:cNvSpPr txBox="true"/>
          <p:nvPr/>
        </p:nvSpPr>
        <p:spPr>
          <a:xfrm rot="0">
            <a:off x="1087070" y="6873439"/>
            <a:ext cx="15132461" cy="42227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Separated backend API</a:t>
            </a:r>
            <a:r>
              <a:rPr lang="en-US" sz="2499">
                <a:solidFill>
                  <a:srgbClr val="000000"/>
                </a:solidFill>
                <a:latin typeface="Open Sauce"/>
                <a:ea typeface="Open Sauce"/>
                <a:cs typeface="Open Sauce"/>
                <a:sym typeface="Open Sauce"/>
              </a:rPr>
              <a:t> work from frontend workflow and UI tasks.</a:t>
            </a:r>
          </a:p>
        </p:txBody>
      </p:sp>
      <p:sp>
        <p:nvSpPr>
          <p:cNvPr name="TextBox 12" id="12"/>
          <p:cNvSpPr txBox="true"/>
          <p:nvPr/>
        </p:nvSpPr>
        <p:spPr>
          <a:xfrm rot="0">
            <a:off x="1087070" y="7467165"/>
            <a:ext cx="15132461" cy="42227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Made it easier to track which therapist-sharing stories were complete versus still in progress.</a:t>
            </a:r>
          </a:p>
        </p:txBody>
      </p:sp>
      <p:sp>
        <p:nvSpPr>
          <p:cNvPr name="TextBox 13" id="13"/>
          <p:cNvSpPr txBox="true"/>
          <p:nvPr/>
        </p:nvSpPr>
        <p:spPr>
          <a:xfrm rot="0">
            <a:off x="1087070" y="8060890"/>
            <a:ext cx="15132461" cy="860425"/>
          </a:xfrm>
          <a:prstGeom prst="rect">
            <a:avLst/>
          </a:prstGeom>
        </p:spPr>
        <p:txBody>
          <a:bodyPr anchor="t" rtlCol="false" tIns="0" lIns="0" bIns="0" rIns="0">
            <a:spAutoFit/>
          </a:bodyPr>
          <a:lstStyle/>
          <a:p>
            <a:pPr algn="l" marL="539748" indent="-269874" lvl="1">
              <a:lnSpc>
                <a:spcPts val="3499"/>
              </a:lnSpc>
              <a:buFont typeface="Arial"/>
              <a:buChar char="•"/>
            </a:pPr>
            <a:r>
              <a:rPr lang="en-US" sz="2499">
                <a:solidFill>
                  <a:srgbClr val="000000"/>
                </a:solidFill>
                <a:latin typeface="Open Sauce"/>
                <a:ea typeface="Open Sauce"/>
                <a:cs typeface="Open Sauce"/>
                <a:sym typeface="Open Sauce"/>
              </a:rPr>
              <a:t>Supported parallel work on access control, dashboard views, sharing toggles, and patient detail flows.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3 TEST CASE</a:t>
            </a:r>
          </a:p>
        </p:txBody>
      </p:sp>
      <p:sp>
        <p:nvSpPr>
          <p:cNvPr name="TextBox 3" id="3"/>
          <p:cNvSpPr txBox="true"/>
          <p:nvPr/>
        </p:nvSpPr>
        <p:spPr>
          <a:xfrm rot="0">
            <a:off x="12689011" y="9441130"/>
            <a:ext cx="4759077"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2" tooltip="https://1drv.ms/x/c/1b594b77649a33af/IQCfs7pzZLtGQYZFI8LnU_ZEAQQf9Dzxi0fF82KzdsxIdMg?e=AglZhR"/>
              </a:rPr>
              <a:t>Detailed spreadsheet here</a:t>
            </a:r>
          </a:p>
        </p:txBody>
      </p:sp>
      <p:sp>
        <p:nvSpPr>
          <p:cNvPr name="Freeform 4" id="4"/>
          <p:cNvSpPr/>
          <p:nvPr/>
        </p:nvSpPr>
        <p:spPr>
          <a:xfrm flipH="false" flipV="false" rot="0">
            <a:off x="23250" y="2361671"/>
            <a:ext cx="18241500" cy="5563658"/>
          </a:xfrm>
          <a:custGeom>
            <a:avLst/>
            <a:gdLst/>
            <a:ahLst/>
            <a:cxnLst/>
            <a:rect r="r" b="b" t="t" l="l"/>
            <a:pathLst>
              <a:path h="5563658" w="18241500">
                <a:moveTo>
                  <a:pt x="0" y="0"/>
                </a:moveTo>
                <a:lnTo>
                  <a:pt x="18241500" y="0"/>
                </a:lnTo>
                <a:lnTo>
                  <a:pt x="18241500" y="5563658"/>
                </a:lnTo>
                <a:lnTo>
                  <a:pt x="0" y="5563658"/>
                </a:lnTo>
                <a:lnTo>
                  <a:pt x="0" y="0"/>
                </a:lnTo>
                <a:close/>
              </a:path>
            </a:pathLst>
          </a:custGeom>
          <a:blipFill>
            <a:blip r:embed="rId3"/>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525" y="2753427"/>
            <a:ext cx="18376760" cy="5165637"/>
          </a:xfrm>
          <a:custGeom>
            <a:avLst/>
            <a:gdLst/>
            <a:ahLst/>
            <a:cxnLst/>
            <a:rect r="r" b="b" t="t" l="l"/>
            <a:pathLst>
              <a:path h="5165637" w="18376760">
                <a:moveTo>
                  <a:pt x="0" y="0"/>
                </a:moveTo>
                <a:lnTo>
                  <a:pt x="18376760" y="0"/>
                </a:lnTo>
                <a:lnTo>
                  <a:pt x="18376760" y="5165637"/>
                </a:lnTo>
                <a:lnTo>
                  <a:pt x="0" y="5165637"/>
                </a:lnTo>
                <a:lnTo>
                  <a:pt x="0" y="0"/>
                </a:lnTo>
                <a:close/>
              </a:path>
            </a:pathLst>
          </a:custGeom>
          <a:blipFill>
            <a:blip r:embed="rId2"/>
            <a:stretch>
              <a:fillRect l="0" t="-6725" r="0" b="0"/>
            </a:stretch>
          </a:blipFill>
        </p:spPr>
      </p:sp>
      <p:sp>
        <p:nvSpPr>
          <p:cNvPr name="TextBox 3" id="3"/>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3 TEST CASE</a:t>
            </a:r>
          </a:p>
        </p:txBody>
      </p:sp>
      <p:sp>
        <p:nvSpPr>
          <p:cNvPr name="TextBox 4" id="4"/>
          <p:cNvSpPr txBox="true"/>
          <p:nvPr/>
        </p:nvSpPr>
        <p:spPr>
          <a:xfrm rot="0">
            <a:off x="12689011" y="9441130"/>
            <a:ext cx="4759077"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3" tooltip="https://1drv.ms/x/c/1b594b77649a33af/IQCfs7pzZLtGQYZFI8LnU_ZEAQQf9Dzxi0fF82KzdsxIdMg?e=AglZhR"/>
              </a:rPr>
              <a:t>Detailed spreadsheet here</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4010" y="2040322"/>
            <a:ext cx="18253990" cy="6206357"/>
          </a:xfrm>
          <a:custGeom>
            <a:avLst/>
            <a:gdLst/>
            <a:ahLst/>
            <a:cxnLst/>
            <a:rect r="r" b="b" t="t" l="l"/>
            <a:pathLst>
              <a:path h="6206357" w="18253990">
                <a:moveTo>
                  <a:pt x="0" y="0"/>
                </a:moveTo>
                <a:lnTo>
                  <a:pt x="18253990" y="0"/>
                </a:lnTo>
                <a:lnTo>
                  <a:pt x="18253990" y="6206356"/>
                </a:lnTo>
                <a:lnTo>
                  <a:pt x="0" y="6206356"/>
                </a:lnTo>
                <a:lnTo>
                  <a:pt x="0" y="0"/>
                </a:lnTo>
                <a:close/>
              </a:path>
            </a:pathLst>
          </a:custGeom>
          <a:blipFill>
            <a:blip r:embed="rId2"/>
            <a:stretch>
              <a:fillRect l="0" t="0" r="0" b="0"/>
            </a:stretch>
          </a:blipFill>
        </p:spPr>
      </p:sp>
      <p:sp>
        <p:nvSpPr>
          <p:cNvPr name="TextBox 3" id="3"/>
          <p:cNvSpPr txBox="true"/>
          <p:nvPr/>
        </p:nvSpPr>
        <p:spPr>
          <a:xfrm rot="0">
            <a:off x="4775007" y="487680"/>
            <a:ext cx="9423582" cy="948690"/>
          </a:xfrm>
          <a:prstGeom prst="rect">
            <a:avLst/>
          </a:prstGeom>
        </p:spPr>
        <p:txBody>
          <a:bodyPr anchor="t" rtlCol="false" tIns="0" lIns="0" bIns="0" rIns="0">
            <a:spAutoFit/>
          </a:bodyPr>
          <a:lstStyle/>
          <a:p>
            <a:pPr algn="l"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3 TEST CASE</a:t>
            </a:r>
          </a:p>
        </p:txBody>
      </p:sp>
      <p:sp>
        <p:nvSpPr>
          <p:cNvPr name="TextBox 4" id="4"/>
          <p:cNvSpPr txBox="true"/>
          <p:nvPr/>
        </p:nvSpPr>
        <p:spPr>
          <a:xfrm rot="0">
            <a:off x="12689011" y="9441130"/>
            <a:ext cx="4759077"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3" tooltip="https://1drv.ms/x/c/1b594b77649a33af/IQCfs7pzZLtGQYZFI8LnU_ZEAQQf9Dzxi0fF82KzdsxIdMg?e=AglZhR"/>
              </a:rPr>
              <a:t>Detailed spreadsheet here</a:t>
            </a: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775007" y="487680"/>
            <a:ext cx="9423582" cy="1901190"/>
          </a:xfrm>
          <a:prstGeom prst="rect">
            <a:avLst/>
          </a:prstGeom>
        </p:spPr>
        <p:txBody>
          <a:bodyPr anchor="t" rtlCol="false" tIns="0" lIns="0" bIns="0" rIns="0">
            <a:spAutoFit/>
          </a:bodyPr>
          <a:lstStyle/>
          <a:p>
            <a:pPr algn="ctr" marL="0" indent="0" lvl="0">
              <a:lnSpc>
                <a:spcPts val="7560"/>
              </a:lnSpc>
            </a:pPr>
            <a:r>
              <a:rPr lang="en-US" b="true" sz="5400" spc="270">
                <a:solidFill>
                  <a:srgbClr val="000000"/>
                </a:solidFill>
                <a:latin typeface="Helios Extended Bold"/>
                <a:ea typeface="Helios Extended Bold"/>
                <a:cs typeface="Helios Extended Bold"/>
                <a:sym typeface="Helios Extended Bold"/>
              </a:rPr>
              <a:t>SPRINT 3 TEST CASE SUMMARY</a:t>
            </a:r>
          </a:p>
        </p:txBody>
      </p:sp>
      <p:sp>
        <p:nvSpPr>
          <p:cNvPr name="TextBox 3" id="3"/>
          <p:cNvSpPr txBox="true"/>
          <p:nvPr/>
        </p:nvSpPr>
        <p:spPr>
          <a:xfrm rot="0">
            <a:off x="1647598" y="2839546"/>
            <a:ext cx="14992804" cy="831850"/>
          </a:xfrm>
          <a:prstGeom prst="rect">
            <a:avLst/>
          </a:prstGeom>
        </p:spPr>
        <p:txBody>
          <a:bodyPr anchor="t" rtlCol="false" tIns="0" lIns="0" bIns="0" rIns="0">
            <a:spAutoFit/>
          </a:bodyPr>
          <a:lstStyle/>
          <a:p>
            <a:pPr algn="just" marL="0" indent="0" lvl="0">
              <a:lnSpc>
                <a:spcPts val="3349"/>
              </a:lnSpc>
              <a:spcBef>
                <a:spcPct val="0"/>
              </a:spcBef>
            </a:pPr>
            <a:r>
              <a:rPr lang="en-US" sz="2499" spc="142" strike="noStrike" u="none">
                <a:solidFill>
                  <a:srgbClr val="000000"/>
                </a:solidFill>
                <a:latin typeface="Lato"/>
                <a:ea typeface="Lato"/>
                <a:cs typeface="Lato"/>
                <a:sym typeface="Lato"/>
              </a:rPr>
              <a:t>Sprint 3 c</a:t>
            </a:r>
            <a:r>
              <a:rPr lang="en-US" sz="2499" spc="142" strike="noStrike" u="none">
                <a:solidFill>
                  <a:srgbClr val="000000"/>
                </a:solidFill>
                <a:latin typeface="Lato"/>
                <a:ea typeface="Lato"/>
                <a:cs typeface="Lato"/>
                <a:sym typeface="Lato"/>
              </a:rPr>
              <a:t>enter</a:t>
            </a:r>
            <a:r>
              <a:rPr lang="en-US" sz="2499" spc="142" strike="noStrike" u="none">
                <a:solidFill>
                  <a:srgbClr val="000000"/>
                </a:solidFill>
                <a:latin typeface="Lato"/>
                <a:ea typeface="Lato"/>
                <a:cs typeface="Lato"/>
                <a:sym typeface="Lato"/>
              </a:rPr>
              <a:t>ed on therapist</a:t>
            </a:r>
            <a:r>
              <a:rPr lang="en-US" sz="2499" spc="142" strike="noStrike" u="none">
                <a:solidFill>
                  <a:srgbClr val="000000"/>
                </a:solidFill>
                <a:latin typeface="Lato"/>
                <a:ea typeface="Lato"/>
                <a:cs typeface="Lato"/>
                <a:sym typeface="Lato"/>
              </a:rPr>
              <a:t>-</a:t>
            </a:r>
            <a:r>
              <a:rPr lang="en-US" sz="2499" spc="142" strike="noStrike" u="none">
                <a:solidFill>
                  <a:srgbClr val="000000"/>
                </a:solidFill>
                <a:latin typeface="Lato"/>
                <a:ea typeface="Lato"/>
                <a:cs typeface="Lato"/>
                <a:sym typeface="Lato"/>
              </a:rPr>
              <a:t>sharing workflows</a:t>
            </a:r>
            <a:r>
              <a:rPr lang="en-US" sz="2499" spc="142" strike="noStrike" u="none">
                <a:solidFill>
                  <a:srgbClr val="000000"/>
                </a:solidFill>
                <a:latin typeface="Lato"/>
                <a:ea typeface="Lato"/>
                <a:cs typeface="Lato"/>
                <a:sym typeface="Lato"/>
              </a:rPr>
              <a:t>,</a:t>
            </a:r>
            <a:r>
              <a:rPr lang="en-US" sz="2499" spc="142" strike="noStrike" u="none">
                <a:solidFill>
                  <a:srgbClr val="000000"/>
                </a:solidFill>
                <a:latin typeface="Lato"/>
                <a:ea typeface="Lato"/>
                <a:cs typeface="Lato"/>
                <a:sym typeface="Lato"/>
              </a:rPr>
              <a:t> re</a:t>
            </a:r>
            <a:r>
              <a:rPr lang="en-US" sz="2499" spc="142" strike="noStrike" u="none">
                <a:solidFill>
                  <a:srgbClr val="000000"/>
                </a:solidFill>
                <a:latin typeface="Lato"/>
                <a:ea typeface="Lato"/>
                <a:cs typeface="Lato"/>
                <a:sym typeface="Lato"/>
              </a:rPr>
              <a:t>v</a:t>
            </a:r>
            <a:r>
              <a:rPr lang="en-US" sz="2499" spc="142" strike="noStrike" u="none">
                <a:solidFill>
                  <a:srgbClr val="000000"/>
                </a:solidFill>
                <a:latin typeface="Lato"/>
                <a:ea typeface="Lato"/>
                <a:cs typeface="Lato"/>
                <a:sym typeface="Lato"/>
              </a:rPr>
              <a:t>okin</a:t>
            </a:r>
            <a:r>
              <a:rPr lang="en-US" sz="2499" spc="142" strike="noStrike" u="none">
                <a:solidFill>
                  <a:srgbClr val="000000"/>
                </a:solidFill>
                <a:latin typeface="Lato"/>
                <a:ea typeface="Lato"/>
                <a:cs typeface="Lato"/>
                <a:sym typeface="Lato"/>
              </a:rPr>
              <a:t>g</a:t>
            </a:r>
            <a:r>
              <a:rPr lang="en-US" sz="2499" spc="142" strike="noStrike" u="none">
                <a:solidFill>
                  <a:srgbClr val="000000"/>
                </a:solidFill>
                <a:latin typeface="Lato"/>
                <a:ea typeface="Lato"/>
                <a:cs typeface="Lato"/>
                <a:sym typeface="Lato"/>
              </a:rPr>
              <a:t> acc</a:t>
            </a:r>
            <a:r>
              <a:rPr lang="en-US" sz="2499" spc="142" strike="noStrike" u="none">
                <a:solidFill>
                  <a:srgbClr val="000000"/>
                </a:solidFill>
                <a:latin typeface="Lato"/>
                <a:ea typeface="Lato"/>
                <a:cs typeface="Lato"/>
                <a:sym typeface="Lato"/>
              </a:rPr>
              <a:t>e</a:t>
            </a:r>
            <a:r>
              <a:rPr lang="en-US" sz="2499" spc="142" strike="noStrike" u="none">
                <a:solidFill>
                  <a:srgbClr val="000000"/>
                </a:solidFill>
                <a:latin typeface="Lato"/>
                <a:ea typeface="Lato"/>
                <a:cs typeface="Lato"/>
                <a:sym typeface="Lato"/>
              </a:rPr>
              <a:t>ss, an</a:t>
            </a:r>
            <a:r>
              <a:rPr lang="en-US" sz="2499" spc="142" strike="noStrike" u="none">
                <a:solidFill>
                  <a:srgbClr val="000000"/>
                </a:solidFill>
                <a:latin typeface="Lato"/>
                <a:ea typeface="Lato"/>
                <a:cs typeface="Lato"/>
                <a:sym typeface="Lato"/>
              </a:rPr>
              <a:t>d</a:t>
            </a:r>
            <a:r>
              <a:rPr lang="en-US" sz="2499" spc="142" strike="noStrike" u="none">
                <a:solidFill>
                  <a:srgbClr val="000000"/>
                </a:solidFill>
                <a:latin typeface="Lato"/>
                <a:ea typeface="Lato"/>
                <a:cs typeface="Lato"/>
                <a:sym typeface="Lato"/>
              </a:rPr>
              <a:t> </a:t>
            </a:r>
            <a:r>
              <a:rPr lang="en-US" sz="2499" spc="142" strike="noStrike" u="none">
                <a:solidFill>
                  <a:srgbClr val="000000"/>
                </a:solidFill>
                <a:latin typeface="Lato"/>
                <a:ea typeface="Lato"/>
                <a:cs typeface="Lato"/>
                <a:sym typeface="Lato"/>
              </a:rPr>
              <a:t>th</a:t>
            </a:r>
            <a:r>
              <a:rPr lang="en-US" sz="2499" spc="142" strike="noStrike" u="none">
                <a:solidFill>
                  <a:srgbClr val="000000"/>
                </a:solidFill>
                <a:latin typeface="Lato"/>
                <a:ea typeface="Lato"/>
                <a:cs typeface="Lato"/>
                <a:sym typeface="Lato"/>
              </a:rPr>
              <a:t>erap</a:t>
            </a:r>
            <a:r>
              <a:rPr lang="en-US" sz="2499" spc="142" strike="noStrike" u="none">
                <a:solidFill>
                  <a:srgbClr val="000000"/>
                </a:solidFill>
                <a:latin typeface="Lato"/>
                <a:ea typeface="Lato"/>
                <a:cs typeface="Lato"/>
                <a:sym typeface="Lato"/>
              </a:rPr>
              <a:t>ist-si</a:t>
            </a:r>
            <a:r>
              <a:rPr lang="en-US" sz="2499" spc="142" strike="noStrike" u="none">
                <a:solidFill>
                  <a:srgbClr val="000000"/>
                </a:solidFill>
                <a:latin typeface="Lato"/>
                <a:ea typeface="Lato"/>
                <a:cs typeface="Lato"/>
                <a:sym typeface="Lato"/>
              </a:rPr>
              <a:t>de</a:t>
            </a:r>
            <a:r>
              <a:rPr lang="en-US" sz="2499" spc="142" strike="noStrike" u="none">
                <a:solidFill>
                  <a:srgbClr val="000000"/>
                </a:solidFill>
                <a:latin typeface="Lato"/>
                <a:ea typeface="Lato"/>
                <a:cs typeface="Lato"/>
                <a:sym typeface="Lato"/>
              </a:rPr>
              <a:t> v</a:t>
            </a:r>
            <a:r>
              <a:rPr lang="en-US" sz="2499" spc="142" strike="noStrike" u="none">
                <a:solidFill>
                  <a:srgbClr val="000000"/>
                </a:solidFill>
                <a:latin typeface="Lato"/>
                <a:ea typeface="Lato"/>
                <a:cs typeface="Lato"/>
                <a:sym typeface="Lato"/>
              </a:rPr>
              <a:t>is</a:t>
            </a:r>
            <a:r>
              <a:rPr lang="en-US" sz="2499" spc="142" strike="noStrike" u="none">
                <a:solidFill>
                  <a:srgbClr val="000000"/>
                </a:solidFill>
                <a:latin typeface="Lato"/>
                <a:ea typeface="Lato"/>
                <a:cs typeface="Lato"/>
                <a:sym typeface="Lato"/>
              </a:rPr>
              <a:t>ibi</a:t>
            </a:r>
            <a:r>
              <a:rPr lang="en-US" sz="2499" spc="142" strike="noStrike" u="none">
                <a:solidFill>
                  <a:srgbClr val="000000"/>
                </a:solidFill>
                <a:latin typeface="Lato"/>
                <a:ea typeface="Lato"/>
                <a:cs typeface="Lato"/>
                <a:sym typeface="Lato"/>
              </a:rPr>
              <a:t>l</a:t>
            </a:r>
            <a:r>
              <a:rPr lang="en-US" sz="2499" spc="142" strike="noStrike" u="none">
                <a:solidFill>
                  <a:srgbClr val="000000"/>
                </a:solidFill>
                <a:latin typeface="Lato"/>
                <a:ea typeface="Lato"/>
                <a:cs typeface="Lato"/>
                <a:sym typeface="Lato"/>
              </a:rPr>
              <a:t>i</a:t>
            </a:r>
            <a:r>
              <a:rPr lang="en-US" sz="2499" spc="142" strike="noStrike" u="none">
                <a:solidFill>
                  <a:srgbClr val="000000"/>
                </a:solidFill>
                <a:latin typeface="Lato"/>
                <a:ea typeface="Lato"/>
                <a:cs typeface="Lato"/>
                <a:sym typeface="Lato"/>
              </a:rPr>
              <a:t>ty </a:t>
            </a:r>
            <a:r>
              <a:rPr lang="en-US" sz="2499" spc="142" strike="noStrike" u="none">
                <a:solidFill>
                  <a:srgbClr val="000000"/>
                </a:solidFill>
                <a:latin typeface="Lato"/>
                <a:ea typeface="Lato"/>
                <a:cs typeface="Lato"/>
                <a:sym typeface="Lato"/>
              </a:rPr>
              <a:t>int</a:t>
            </a:r>
            <a:r>
              <a:rPr lang="en-US" sz="2499" spc="142" strike="noStrike" u="none">
                <a:solidFill>
                  <a:srgbClr val="000000"/>
                </a:solidFill>
                <a:latin typeface="Lato"/>
                <a:ea typeface="Lato"/>
                <a:cs typeface="Lato"/>
                <a:sym typeface="Lato"/>
              </a:rPr>
              <a:t>o </a:t>
            </a:r>
            <a:r>
              <a:rPr lang="en-US" sz="2499" spc="142" strike="noStrike" u="none">
                <a:solidFill>
                  <a:srgbClr val="000000"/>
                </a:solidFill>
                <a:latin typeface="Lato"/>
                <a:ea typeface="Lato"/>
                <a:cs typeface="Lato"/>
                <a:sym typeface="Lato"/>
              </a:rPr>
              <a:t>sh</a:t>
            </a:r>
            <a:r>
              <a:rPr lang="en-US" sz="2499" spc="142" strike="noStrike" u="none">
                <a:solidFill>
                  <a:srgbClr val="000000"/>
                </a:solidFill>
                <a:latin typeface="Lato"/>
                <a:ea typeface="Lato"/>
                <a:cs typeface="Lato"/>
                <a:sym typeface="Lato"/>
              </a:rPr>
              <a:t>a</a:t>
            </a:r>
            <a:r>
              <a:rPr lang="en-US" sz="2499" spc="142" strike="noStrike" u="none">
                <a:solidFill>
                  <a:srgbClr val="000000"/>
                </a:solidFill>
                <a:latin typeface="Lato"/>
                <a:ea typeface="Lato"/>
                <a:cs typeface="Lato"/>
                <a:sym typeface="Lato"/>
              </a:rPr>
              <a:t>r</a:t>
            </a:r>
            <a:r>
              <a:rPr lang="en-US" sz="2499" spc="142" strike="noStrike" u="none">
                <a:solidFill>
                  <a:srgbClr val="000000"/>
                </a:solidFill>
                <a:latin typeface="Lato"/>
                <a:ea typeface="Lato"/>
                <a:cs typeface="Lato"/>
                <a:sym typeface="Lato"/>
              </a:rPr>
              <a:t>ed </a:t>
            </a:r>
            <a:r>
              <a:rPr lang="en-US" sz="2499" spc="142" strike="noStrike" u="none">
                <a:solidFill>
                  <a:srgbClr val="000000"/>
                </a:solidFill>
                <a:latin typeface="Lato"/>
                <a:ea typeface="Lato"/>
                <a:cs typeface="Lato"/>
                <a:sym typeface="Lato"/>
              </a:rPr>
              <a:t>pa</a:t>
            </a:r>
            <a:r>
              <a:rPr lang="en-US" sz="2499" spc="142" strike="noStrike" u="none">
                <a:solidFill>
                  <a:srgbClr val="000000"/>
                </a:solidFill>
                <a:latin typeface="Lato"/>
                <a:ea typeface="Lato"/>
                <a:cs typeface="Lato"/>
                <a:sym typeface="Lato"/>
              </a:rPr>
              <a:t>t</a:t>
            </a:r>
            <a:r>
              <a:rPr lang="en-US" sz="2499" spc="142" strike="noStrike" u="none">
                <a:solidFill>
                  <a:srgbClr val="000000"/>
                </a:solidFill>
                <a:latin typeface="Lato"/>
                <a:ea typeface="Lato"/>
                <a:cs typeface="Lato"/>
                <a:sym typeface="Lato"/>
              </a:rPr>
              <a:t>i</a:t>
            </a:r>
            <a:r>
              <a:rPr lang="en-US" sz="2499" spc="142" strike="noStrike" u="none">
                <a:solidFill>
                  <a:srgbClr val="000000"/>
                </a:solidFill>
                <a:latin typeface="Lato"/>
                <a:ea typeface="Lato"/>
                <a:cs typeface="Lato"/>
                <a:sym typeface="Lato"/>
              </a:rPr>
              <a:t>en</a:t>
            </a:r>
            <a:r>
              <a:rPr lang="en-US" sz="2499" spc="142" strike="noStrike" u="none">
                <a:solidFill>
                  <a:srgbClr val="000000"/>
                </a:solidFill>
                <a:latin typeface="Lato"/>
                <a:ea typeface="Lato"/>
                <a:cs typeface="Lato"/>
                <a:sym typeface="Lato"/>
              </a:rPr>
              <a:t>t</a:t>
            </a:r>
            <a:r>
              <a:rPr lang="en-US" sz="2499" spc="142" strike="noStrike" u="none">
                <a:solidFill>
                  <a:srgbClr val="000000"/>
                </a:solidFill>
                <a:latin typeface="Lato"/>
                <a:ea typeface="Lato"/>
                <a:cs typeface="Lato"/>
                <a:sym typeface="Lato"/>
              </a:rPr>
              <a:t> dat</a:t>
            </a:r>
            <a:r>
              <a:rPr lang="en-US" sz="2499" spc="142" strike="noStrike" u="none">
                <a:solidFill>
                  <a:srgbClr val="000000"/>
                </a:solidFill>
                <a:latin typeface="Lato"/>
                <a:ea typeface="Lato"/>
                <a:cs typeface="Lato"/>
                <a:sym typeface="Lato"/>
              </a:rPr>
              <a:t>a</a:t>
            </a:r>
            <a:r>
              <a:rPr lang="en-US" sz="2499" spc="142" strike="noStrike" u="none">
                <a:solidFill>
                  <a:srgbClr val="000000"/>
                </a:solidFill>
                <a:latin typeface="Lato"/>
                <a:ea typeface="Lato"/>
                <a:cs typeface="Lato"/>
                <a:sym typeface="Lato"/>
              </a:rPr>
              <a:t>.</a:t>
            </a:r>
          </a:p>
        </p:txBody>
      </p:sp>
      <p:sp>
        <p:nvSpPr>
          <p:cNvPr name="TextBox 4" id="4"/>
          <p:cNvSpPr txBox="true"/>
          <p:nvPr/>
        </p:nvSpPr>
        <p:spPr>
          <a:xfrm rot="0">
            <a:off x="6125856" y="3957146"/>
            <a:ext cx="6036288" cy="499110"/>
          </a:xfrm>
          <a:prstGeom prst="rect">
            <a:avLst/>
          </a:prstGeom>
        </p:spPr>
        <p:txBody>
          <a:bodyPr anchor="t" rtlCol="false" tIns="0" lIns="0" bIns="0" rIns="0">
            <a:spAutoFit/>
          </a:bodyPr>
          <a:lstStyle/>
          <a:p>
            <a:pPr algn="ctr">
              <a:lnSpc>
                <a:spcPts val="4020"/>
              </a:lnSpc>
            </a:pPr>
            <a:r>
              <a:rPr lang="en-US" b="true" sz="3000" spc="171">
                <a:solidFill>
                  <a:srgbClr val="006D77"/>
                </a:solidFill>
                <a:latin typeface="Lato Bold"/>
                <a:ea typeface="Lato Bold"/>
                <a:cs typeface="Lato Bold"/>
                <a:sym typeface="Lato Bold"/>
              </a:rPr>
              <a:t>Sp</a:t>
            </a:r>
            <a:r>
              <a:rPr lang="en-US" b="true" sz="3000" spc="171">
                <a:solidFill>
                  <a:srgbClr val="006D77"/>
                </a:solidFill>
                <a:latin typeface="Lato Bold"/>
                <a:ea typeface="Lato Bold"/>
                <a:cs typeface="Lato Bold"/>
                <a:sym typeface="Lato Bold"/>
              </a:rPr>
              <a:t>rint Focus</a:t>
            </a:r>
          </a:p>
        </p:txBody>
      </p:sp>
      <p:sp>
        <p:nvSpPr>
          <p:cNvPr name="AutoShape 5" id="5"/>
          <p:cNvSpPr/>
          <p:nvPr/>
        </p:nvSpPr>
        <p:spPr>
          <a:xfrm>
            <a:off x="5474026" y="4799684"/>
            <a:ext cx="7339948" cy="0"/>
          </a:xfrm>
          <a:prstGeom prst="line">
            <a:avLst/>
          </a:prstGeom>
          <a:ln cap="flat" w="19050">
            <a:solidFill>
              <a:srgbClr val="000000"/>
            </a:solidFill>
            <a:prstDash val="solid"/>
            <a:headEnd type="none" len="sm" w="sm"/>
            <a:tailEnd type="none" len="sm" w="sm"/>
          </a:ln>
        </p:spPr>
      </p:sp>
      <p:sp>
        <p:nvSpPr>
          <p:cNvPr name="TextBox 6" id="6"/>
          <p:cNvSpPr txBox="true"/>
          <p:nvPr/>
        </p:nvSpPr>
        <p:spPr>
          <a:xfrm rot="0">
            <a:off x="1071383" y="5094959"/>
            <a:ext cx="15569019" cy="3927475"/>
          </a:xfrm>
          <a:prstGeom prst="rect">
            <a:avLst/>
          </a:prstGeom>
        </p:spPr>
        <p:txBody>
          <a:bodyPr anchor="t" rtlCol="false" tIns="0" lIns="0" bIns="0" rIns="0">
            <a:spAutoFit/>
          </a:bodyPr>
          <a:lstStyle/>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Expand</a:t>
            </a:r>
            <a:r>
              <a:rPr lang="en-US" sz="2499">
                <a:solidFill>
                  <a:srgbClr val="000000"/>
                </a:solidFill>
                <a:latin typeface="Open Sauce"/>
                <a:ea typeface="Open Sauce"/>
                <a:cs typeface="Open Sauce"/>
                <a:sym typeface="Open Sauce"/>
              </a:rPr>
              <a:t> the product beyond individual patient use into therapist-linked access and controlled data sharing.</a:t>
            </a:r>
          </a:p>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Support secure enable/disable sharing flows so patients control when therapists can access their data.</a:t>
            </a:r>
          </a:p>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Add therapist-facing views for assigned users, journal history, and mood trends while keeping the experience read-only.</a:t>
            </a:r>
          </a:p>
          <a:p>
            <a:pPr algn="just" marL="539748" indent="-269874" lvl="1">
              <a:lnSpc>
                <a:spcPts val="3499"/>
              </a:lnSpc>
              <a:buFont typeface="Arial"/>
              <a:buChar char="•"/>
            </a:pPr>
            <a:r>
              <a:rPr lang="en-US" sz="2499">
                <a:solidFill>
                  <a:srgbClr val="000000"/>
                </a:solidFill>
                <a:latin typeface="Open Sauce"/>
                <a:ea typeface="Open Sauce"/>
                <a:cs typeface="Open Sauce"/>
                <a:sym typeface="Open Sauce"/>
              </a:rPr>
              <a:t>Prepare process deliverables alongside implementation work, including retrospective, planning, technical paper, and user manual.</a:t>
            </a:r>
          </a:p>
          <a:p>
            <a:pPr algn="just">
              <a:lnSpc>
                <a:spcPts val="3499"/>
              </a:lnSpc>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71643" y="1825715"/>
            <a:ext cx="15363763" cy="7672635"/>
            <a:chOff x="0" y="0"/>
            <a:chExt cx="4668157" cy="2331293"/>
          </a:xfrm>
        </p:grpSpPr>
        <p:sp>
          <p:nvSpPr>
            <p:cNvPr name="Freeform 3" id="3"/>
            <p:cNvSpPr/>
            <p:nvPr/>
          </p:nvSpPr>
          <p:spPr>
            <a:xfrm flipH="false" flipV="false" rot="0">
              <a:off x="0" y="0"/>
              <a:ext cx="4668157" cy="2331293"/>
            </a:xfrm>
            <a:custGeom>
              <a:avLst/>
              <a:gdLst/>
              <a:ahLst/>
              <a:cxnLst/>
              <a:rect r="r" b="b" t="t" l="l"/>
              <a:pathLst>
                <a:path h="2331293" w="4668157">
                  <a:moveTo>
                    <a:pt x="4668157" y="26203"/>
                  </a:moveTo>
                  <a:lnTo>
                    <a:pt x="4668157" y="2305090"/>
                  </a:lnTo>
                  <a:cubicBezTo>
                    <a:pt x="4668157" y="2319562"/>
                    <a:pt x="4656426" y="2331293"/>
                    <a:pt x="4641954" y="2331293"/>
                  </a:cubicBezTo>
                  <a:lnTo>
                    <a:pt x="26203" y="2331293"/>
                  </a:lnTo>
                  <a:cubicBezTo>
                    <a:pt x="19254" y="2331293"/>
                    <a:pt x="12589" y="2328532"/>
                    <a:pt x="7675" y="2323618"/>
                  </a:cubicBezTo>
                  <a:cubicBezTo>
                    <a:pt x="2761" y="2318704"/>
                    <a:pt x="0" y="2312039"/>
                    <a:pt x="0" y="2305090"/>
                  </a:cubicBezTo>
                  <a:lnTo>
                    <a:pt x="0" y="26203"/>
                  </a:lnTo>
                  <a:cubicBezTo>
                    <a:pt x="0" y="19254"/>
                    <a:pt x="2761" y="12589"/>
                    <a:pt x="7675" y="7675"/>
                  </a:cubicBezTo>
                  <a:cubicBezTo>
                    <a:pt x="12589" y="2761"/>
                    <a:pt x="19254" y="0"/>
                    <a:pt x="26203" y="0"/>
                  </a:cubicBezTo>
                  <a:lnTo>
                    <a:pt x="4641954" y="0"/>
                  </a:lnTo>
                  <a:cubicBezTo>
                    <a:pt x="4656426" y="0"/>
                    <a:pt x="4668157" y="11732"/>
                    <a:pt x="4668157" y="26203"/>
                  </a:cubicBezTo>
                  <a:close/>
                </a:path>
              </a:pathLst>
            </a:custGeom>
            <a:solidFill>
              <a:srgbClr val="F2F1F1">
                <a:alpha val="80000"/>
              </a:srgbClr>
            </a:solidFill>
          </p:spPr>
        </p:sp>
        <p:sp>
          <p:nvSpPr>
            <p:cNvPr name="TextBox 4" id="4"/>
            <p:cNvSpPr txBox="true"/>
            <p:nvPr/>
          </p:nvSpPr>
          <p:spPr>
            <a:xfrm>
              <a:off x="0" y="-47625"/>
              <a:ext cx="4668157" cy="2378918"/>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2362143" y="2610414"/>
            <a:ext cx="6041174" cy="6041174"/>
          </a:xfrm>
          <a:custGeom>
            <a:avLst/>
            <a:gdLst/>
            <a:ahLst/>
            <a:cxnLst/>
            <a:rect r="r" b="b" t="t" l="l"/>
            <a:pathLst>
              <a:path h="6041174" w="6041174">
                <a:moveTo>
                  <a:pt x="0" y="0"/>
                </a:moveTo>
                <a:lnTo>
                  <a:pt x="6041174" y="0"/>
                </a:lnTo>
                <a:lnTo>
                  <a:pt x="6041174" y="6041173"/>
                </a:lnTo>
                <a:lnTo>
                  <a:pt x="0" y="6041173"/>
                </a:lnTo>
                <a:lnTo>
                  <a:pt x="0" y="0"/>
                </a:lnTo>
                <a:close/>
              </a:path>
            </a:pathLst>
          </a:custGeom>
          <a:blipFill>
            <a:blip r:embed="rId2"/>
            <a:stretch>
              <a:fillRect l="0" t="0" r="0" b="0"/>
            </a:stretch>
          </a:blipFill>
        </p:spPr>
      </p:sp>
      <p:grpSp>
        <p:nvGrpSpPr>
          <p:cNvPr name="Group 6" id="6"/>
          <p:cNvGrpSpPr/>
          <p:nvPr/>
        </p:nvGrpSpPr>
        <p:grpSpPr>
          <a:xfrm rot="0">
            <a:off x="143691" y="9683062"/>
            <a:ext cx="2003497" cy="422688"/>
            <a:chOff x="0" y="0"/>
            <a:chExt cx="2671330" cy="563585"/>
          </a:xfrm>
        </p:grpSpPr>
        <p:sp>
          <p:nvSpPr>
            <p:cNvPr name="Freeform 7" id="7"/>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Freeform 9" id="9"/>
          <p:cNvSpPr/>
          <p:nvPr/>
        </p:nvSpPr>
        <p:spPr>
          <a:xfrm flipH="false" flipV="false" rot="0">
            <a:off x="9144000" y="3426187"/>
            <a:ext cx="800113" cy="800113"/>
          </a:xfrm>
          <a:custGeom>
            <a:avLst/>
            <a:gdLst/>
            <a:ahLst/>
            <a:cxnLst/>
            <a:rect r="r" b="b" t="t" l="l"/>
            <a:pathLst>
              <a:path h="800113" w="800113">
                <a:moveTo>
                  <a:pt x="0" y="0"/>
                </a:moveTo>
                <a:lnTo>
                  <a:pt x="800113" y="0"/>
                </a:lnTo>
                <a:lnTo>
                  <a:pt x="800113" y="800112"/>
                </a:lnTo>
                <a:lnTo>
                  <a:pt x="0" y="8001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9153525" y="5014129"/>
            <a:ext cx="800113" cy="800113"/>
          </a:xfrm>
          <a:custGeom>
            <a:avLst/>
            <a:gdLst/>
            <a:ahLst/>
            <a:cxnLst/>
            <a:rect r="r" b="b" t="t" l="l"/>
            <a:pathLst>
              <a:path h="800113" w="800113">
                <a:moveTo>
                  <a:pt x="0" y="0"/>
                </a:moveTo>
                <a:lnTo>
                  <a:pt x="800113" y="0"/>
                </a:lnTo>
                <a:lnTo>
                  <a:pt x="800113" y="800113"/>
                </a:lnTo>
                <a:lnTo>
                  <a:pt x="0" y="8001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9153525" y="6602072"/>
            <a:ext cx="800113" cy="800113"/>
          </a:xfrm>
          <a:custGeom>
            <a:avLst/>
            <a:gdLst/>
            <a:ahLst/>
            <a:cxnLst/>
            <a:rect r="r" b="b" t="t" l="l"/>
            <a:pathLst>
              <a:path h="800113" w="800113">
                <a:moveTo>
                  <a:pt x="0" y="0"/>
                </a:moveTo>
                <a:lnTo>
                  <a:pt x="800113" y="0"/>
                </a:lnTo>
                <a:lnTo>
                  <a:pt x="800113" y="800113"/>
                </a:lnTo>
                <a:lnTo>
                  <a:pt x="0" y="80011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3481388" y="774722"/>
            <a:ext cx="11325225"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SPRINT 3 STORIES COMPLETED</a:t>
            </a:r>
          </a:p>
        </p:txBody>
      </p:sp>
      <p:sp>
        <p:nvSpPr>
          <p:cNvPr name="TextBox 13" id="13"/>
          <p:cNvSpPr txBox="true"/>
          <p:nvPr/>
        </p:nvSpPr>
        <p:spPr>
          <a:xfrm rot="0">
            <a:off x="13362297" y="9604216"/>
            <a:ext cx="4759598" cy="511618"/>
          </a:xfrm>
          <a:prstGeom prst="rect">
            <a:avLst/>
          </a:prstGeom>
        </p:spPr>
        <p:txBody>
          <a:bodyPr anchor="t" rtlCol="false" tIns="0" lIns="0" bIns="0" rIns="0">
            <a:spAutoFit/>
          </a:bodyPr>
          <a:lstStyle/>
          <a:p>
            <a:pPr algn="ctr">
              <a:lnSpc>
                <a:spcPts val="4286"/>
              </a:lnSpc>
              <a:spcBef>
                <a:spcPct val="0"/>
              </a:spcBef>
            </a:pPr>
            <a:r>
              <a:rPr lang="en-US" sz="2678" spc="267" u="sng">
                <a:solidFill>
                  <a:srgbClr val="000000"/>
                </a:solidFill>
                <a:latin typeface="Lato"/>
                <a:ea typeface="Lato"/>
                <a:cs typeface="Lato"/>
                <a:sym typeface="Lato"/>
                <a:hlinkClick r:id="rId7" tooltip="https://1drv.ms/x/c/c30f4680ccc79b8c/IQC9fztrzBx4Rrh7wy889blgAWKdZ5Khnt9L0mDcJNT6C-c"/>
              </a:rPr>
              <a:t>Detailed spreadsheet here</a:t>
            </a:r>
          </a:p>
        </p:txBody>
      </p:sp>
      <p:sp>
        <p:nvSpPr>
          <p:cNvPr name="TextBox 14" id="14"/>
          <p:cNvSpPr txBox="true"/>
          <p:nvPr/>
        </p:nvSpPr>
        <p:spPr>
          <a:xfrm rot="0">
            <a:off x="10231568" y="3246584"/>
            <a:ext cx="6242407" cy="1054543"/>
          </a:xfrm>
          <a:prstGeom prst="rect">
            <a:avLst/>
          </a:prstGeom>
        </p:spPr>
        <p:txBody>
          <a:bodyPr anchor="t" rtlCol="false" tIns="0" lIns="0" bIns="0" rIns="0">
            <a:spAutoFit/>
          </a:bodyPr>
          <a:lstStyle/>
          <a:p>
            <a:pPr algn="just">
              <a:lnSpc>
                <a:spcPts val="4286"/>
              </a:lnSpc>
              <a:spcBef>
                <a:spcPct val="0"/>
              </a:spcBef>
            </a:pPr>
            <a:r>
              <a:rPr lang="en-US" sz="2678" spc="267">
                <a:solidFill>
                  <a:srgbClr val="000000"/>
                </a:solidFill>
                <a:latin typeface="Lato"/>
                <a:ea typeface="Lato"/>
                <a:cs typeface="Lato"/>
                <a:sym typeface="Lato"/>
              </a:rPr>
              <a:t>US20 Therapist access setup and therapist-linked workflow support</a:t>
            </a:r>
          </a:p>
        </p:txBody>
      </p:sp>
      <p:sp>
        <p:nvSpPr>
          <p:cNvPr name="TextBox 15" id="15"/>
          <p:cNvSpPr txBox="true"/>
          <p:nvPr/>
        </p:nvSpPr>
        <p:spPr>
          <a:xfrm rot="0">
            <a:off x="10241093" y="4834527"/>
            <a:ext cx="6242407" cy="1054543"/>
          </a:xfrm>
          <a:prstGeom prst="rect">
            <a:avLst/>
          </a:prstGeom>
        </p:spPr>
        <p:txBody>
          <a:bodyPr anchor="t" rtlCol="false" tIns="0" lIns="0" bIns="0" rIns="0">
            <a:spAutoFit/>
          </a:bodyPr>
          <a:lstStyle/>
          <a:p>
            <a:pPr algn="just">
              <a:lnSpc>
                <a:spcPts val="4286"/>
              </a:lnSpc>
              <a:spcBef>
                <a:spcPct val="0"/>
              </a:spcBef>
            </a:pPr>
            <a:r>
              <a:rPr lang="en-US" sz="2678" spc="267">
                <a:solidFill>
                  <a:srgbClr val="000000"/>
                </a:solidFill>
                <a:latin typeface="Lato"/>
                <a:ea typeface="Lato"/>
                <a:cs typeface="Lato"/>
                <a:sym typeface="Lato"/>
              </a:rPr>
              <a:t>US22 Disable sharing and revoke therapist access immediately</a:t>
            </a:r>
          </a:p>
        </p:txBody>
      </p:sp>
      <p:sp>
        <p:nvSpPr>
          <p:cNvPr name="TextBox 16" id="16"/>
          <p:cNvSpPr txBox="true"/>
          <p:nvPr/>
        </p:nvSpPr>
        <p:spPr>
          <a:xfrm rot="0">
            <a:off x="10241093" y="6422470"/>
            <a:ext cx="6242407" cy="1597468"/>
          </a:xfrm>
          <a:prstGeom prst="rect">
            <a:avLst/>
          </a:prstGeom>
        </p:spPr>
        <p:txBody>
          <a:bodyPr anchor="t" rtlCol="false" tIns="0" lIns="0" bIns="0" rIns="0">
            <a:spAutoFit/>
          </a:bodyPr>
          <a:lstStyle/>
          <a:p>
            <a:pPr algn="just">
              <a:lnSpc>
                <a:spcPts val="4286"/>
              </a:lnSpc>
              <a:spcBef>
                <a:spcPct val="0"/>
              </a:spcBef>
            </a:pPr>
            <a:r>
              <a:rPr lang="en-US" sz="2678" spc="267">
                <a:solidFill>
                  <a:srgbClr val="000000"/>
                </a:solidFill>
                <a:latin typeface="Lato"/>
                <a:ea typeface="Lato"/>
                <a:cs typeface="Lato"/>
                <a:sym typeface="Lato"/>
              </a:rPr>
              <a:t>Therapist journal and mood-trend viewing with sharing and read-only protection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9556427" y="1868296"/>
            <a:ext cx="8131472" cy="8067279"/>
          </a:xfrm>
          <a:prstGeom prst="rect">
            <a:avLst/>
          </a:prstGeom>
        </p:spPr>
      </p:pic>
      <p:graphicFrame>
        <p:nvGraphicFramePr>
          <p:cNvPr name="Table 3" id="3"/>
          <p:cNvGraphicFramePr>
            <a:graphicFrameLocks noGrp="true"/>
          </p:cNvGraphicFramePr>
          <p:nvPr/>
        </p:nvGraphicFramePr>
        <p:xfrm>
          <a:off x="1260531" y="3471672"/>
          <a:ext cx="7315200" cy="4314825"/>
        </p:xfrm>
        <a:graphic>
          <a:graphicData uri="http://schemas.openxmlformats.org/drawingml/2006/table">
            <a:tbl>
              <a:tblPr/>
              <a:tblGrid>
                <a:gridCol w="3657600"/>
                <a:gridCol w="3657600"/>
              </a:tblGrid>
              <a:tr h="1028255">
                <a:tc>
                  <a:txBody>
                    <a:bodyPr anchor="t" rtlCol="false"/>
                    <a:lstStyle/>
                    <a:p>
                      <a:pPr algn="ctr">
                        <a:lnSpc>
                          <a:spcPts val="3079"/>
                        </a:lnSpc>
                        <a:defRPr/>
                      </a:pPr>
                      <a:r>
                        <a:rPr lang="en-US" sz="2199">
                          <a:solidFill>
                            <a:srgbClr val="000000"/>
                          </a:solidFill>
                          <a:latin typeface="Open Sauce"/>
                          <a:ea typeface="Open Sauce"/>
                          <a:cs typeface="Open Sauce"/>
                          <a:sym typeface="Open Sauce"/>
                        </a:rPr>
                        <a:t>Team estimated points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Open Sauce Bold"/>
                          <a:ea typeface="Open Sauce Bold"/>
                          <a:cs typeface="Open Sauce Bold"/>
                          <a:sym typeface="Open Sauce Bold"/>
                        </a:rPr>
                        <a:t>28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255">
                <a:tc>
                  <a:txBody>
                    <a:bodyPr anchor="t" rtlCol="false"/>
                    <a:lstStyle/>
                    <a:p>
                      <a:pPr algn="ctr">
                        <a:lnSpc>
                          <a:spcPts val="3079"/>
                        </a:lnSpc>
                        <a:defRPr/>
                      </a:pPr>
                      <a:r>
                        <a:rPr lang="en-US" sz="2199">
                          <a:solidFill>
                            <a:srgbClr val="000000"/>
                          </a:solidFill>
                          <a:latin typeface="Open Sauce"/>
                          <a:ea typeface="Open Sauce"/>
                          <a:cs typeface="Open Sauce"/>
                          <a:sym typeface="Open Sauce"/>
                        </a:rPr>
                        <a:t>Team points delivered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Open Sauce Bold"/>
                          <a:ea typeface="Open Sauce Bold"/>
                          <a:cs typeface="Open Sauce Bold"/>
                          <a:sym typeface="Open Sauce Bold"/>
                        </a:rPr>
                        <a:t>28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30061">
                <a:tc>
                  <a:txBody>
                    <a:bodyPr anchor="t" rtlCol="false"/>
                    <a:lstStyle/>
                    <a:p>
                      <a:pPr algn="ctr">
                        <a:lnSpc>
                          <a:spcPts val="3079"/>
                        </a:lnSpc>
                        <a:defRPr/>
                      </a:pPr>
                      <a:r>
                        <a:rPr lang="en-US" sz="2199">
                          <a:solidFill>
                            <a:srgbClr val="000000"/>
                          </a:solidFill>
                          <a:latin typeface="Open Sauce"/>
                          <a:ea typeface="Open Sauce"/>
                          <a:cs typeface="Open Sauce"/>
                          <a:sym typeface="Open Sauce"/>
                        </a:rPr>
                        <a:t>Total points carried over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Open Sauce Bold"/>
                          <a:ea typeface="Open Sauce Bold"/>
                          <a:cs typeface="Open Sauce Bold"/>
                          <a:sym typeface="Open Sauce Bold"/>
                        </a:rPr>
                        <a:t>28</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8255">
                <a:tc>
                  <a:txBody>
                    <a:bodyPr anchor="t" rtlCol="false"/>
                    <a:lstStyle/>
                    <a:p>
                      <a:pPr algn="ctr">
                        <a:lnSpc>
                          <a:spcPts val="3079"/>
                        </a:lnSpc>
                        <a:defRPr/>
                      </a:pPr>
                      <a:r>
                        <a:rPr lang="en-US" sz="2199">
                          <a:solidFill>
                            <a:srgbClr val="4A7FF7"/>
                          </a:solidFill>
                          <a:latin typeface="Open Sauce"/>
                          <a:ea typeface="Open Sauce"/>
                          <a:cs typeface="Open Sauce"/>
                          <a:sym typeface="Open Sauce"/>
                        </a:rPr>
                        <a:t>Team Velocity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Open Sauce Bold"/>
                          <a:ea typeface="Open Sauce Bold"/>
                          <a:cs typeface="Open Sauce Bold"/>
                          <a:sym typeface="Open Sauce Bold"/>
                        </a:rPr>
                        <a:t>100%</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2367492" y="774383"/>
            <a:ext cx="13553015" cy="741045"/>
          </a:xfrm>
          <a:prstGeom prst="rect">
            <a:avLst/>
          </a:prstGeom>
        </p:spPr>
        <p:txBody>
          <a:bodyPr anchor="t" rtlCol="false" tIns="0" lIns="0" bIns="0" rIns="0">
            <a:spAutoFit/>
          </a:bodyPr>
          <a:lstStyle/>
          <a:p>
            <a:pPr algn="ctr" marL="0" indent="0" lvl="0">
              <a:lnSpc>
                <a:spcPts val="5880"/>
              </a:lnSpc>
            </a:pPr>
            <a:r>
              <a:rPr lang="en-US" b="true" sz="4200" spc="210">
                <a:solidFill>
                  <a:srgbClr val="000000"/>
                </a:solidFill>
                <a:latin typeface="Helios Extended Bold"/>
                <a:ea typeface="Helios Extended Bold"/>
                <a:cs typeface="Helios Extended Bold"/>
                <a:sym typeface="Helios Extended Bold"/>
              </a:rPr>
              <a:t> METRICS</a:t>
            </a:r>
          </a:p>
        </p:txBody>
      </p:sp>
      <p:sp>
        <p:nvSpPr>
          <p:cNvPr name="TextBox 5" id="5"/>
          <p:cNvSpPr txBox="true"/>
          <p:nvPr/>
        </p:nvSpPr>
        <p:spPr>
          <a:xfrm rot="0">
            <a:off x="2508513" y="2263414"/>
            <a:ext cx="4233168" cy="698500"/>
          </a:xfrm>
          <a:prstGeom prst="rect">
            <a:avLst/>
          </a:prstGeom>
        </p:spPr>
        <p:txBody>
          <a:bodyPr anchor="t" rtlCol="false" tIns="0" lIns="0" bIns="0" rIns="0">
            <a:spAutoFit/>
          </a:bodyPr>
          <a:lstStyle/>
          <a:p>
            <a:pPr algn="ctr">
              <a:lnSpc>
                <a:spcPts val="5599"/>
              </a:lnSpc>
            </a:pPr>
            <a:r>
              <a:rPr lang="en-US" sz="3999" b="true">
                <a:solidFill>
                  <a:srgbClr val="000000"/>
                </a:solidFill>
                <a:latin typeface="Helios Extended Bold"/>
                <a:ea typeface="Helios Extended Bold"/>
                <a:cs typeface="Helios Extended Bold"/>
                <a:sym typeface="Helios Extended Bold"/>
              </a:rPr>
              <a:t>Team Velocity</a:t>
            </a:r>
          </a:p>
        </p:txBody>
      </p:sp>
      <p:grpSp>
        <p:nvGrpSpPr>
          <p:cNvPr name="Group 6" id="6"/>
          <p:cNvGrpSpPr/>
          <p:nvPr/>
        </p:nvGrpSpPr>
        <p:grpSpPr>
          <a:xfrm rot="0">
            <a:off x="143691" y="9683062"/>
            <a:ext cx="2003497" cy="422688"/>
            <a:chOff x="0" y="0"/>
            <a:chExt cx="2671330" cy="563585"/>
          </a:xfrm>
        </p:grpSpPr>
        <p:sp>
          <p:nvSpPr>
            <p:cNvPr name="Freeform 7" id="7"/>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9643274" y="1681619"/>
            <a:ext cx="8131472" cy="8067742"/>
          </a:xfrm>
          <a:prstGeom prst="rect">
            <a:avLst/>
          </a:prstGeom>
        </p:spPr>
      </p:pic>
      <p:sp>
        <p:nvSpPr>
          <p:cNvPr name="TextBox 3" id="3"/>
          <p:cNvSpPr txBox="true"/>
          <p:nvPr/>
        </p:nvSpPr>
        <p:spPr>
          <a:xfrm rot="0">
            <a:off x="2367492" y="774383"/>
            <a:ext cx="13553015" cy="747395"/>
          </a:xfrm>
          <a:prstGeom prst="rect">
            <a:avLst/>
          </a:prstGeom>
        </p:spPr>
        <p:txBody>
          <a:bodyPr anchor="t" rtlCol="false" tIns="0" lIns="0" bIns="0" rIns="0">
            <a:spAutoFit/>
          </a:bodyPr>
          <a:lstStyle/>
          <a:p>
            <a:pPr algn="ctr" marL="0" indent="0" lvl="0">
              <a:lnSpc>
                <a:spcPts val="5880"/>
              </a:lnSpc>
            </a:pPr>
            <a:r>
              <a:rPr lang="en-US" b="true" sz="4200" spc="210">
                <a:solidFill>
                  <a:srgbClr val="000000"/>
                </a:solidFill>
                <a:latin typeface="Helios Extended Bold"/>
                <a:ea typeface="Helios Extended Bold"/>
                <a:cs typeface="Helios Extended Bold"/>
                <a:sym typeface="Helios Extended Bold"/>
              </a:rPr>
              <a:t> METRICS AVERAGE</a:t>
            </a:r>
          </a:p>
        </p:txBody>
      </p:sp>
      <p:sp>
        <p:nvSpPr>
          <p:cNvPr name="TextBox 4" id="4"/>
          <p:cNvSpPr txBox="true"/>
          <p:nvPr/>
        </p:nvSpPr>
        <p:spPr>
          <a:xfrm rot="0">
            <a:off x="2508513" y="2263414"/>
            <a:ext cx="4233168" cy="698500"/>
          </a:xfrm>
          <a:prstGeom prst="rect">
            <a:avLst/>
          </a:prstGeom>
        </p:spPr>
        <p:txBody>
          <a:bodyPr anchor="t" rtlCol="false" tIns="0" lIns="0" bIns="0" rIns="0">
            <a:spAutoFit/>
          </a:bodyPr>
          <a:lstStyle/>
          <a:p>
            <a:pPr algn="ctr">
              <a:lnSpc>
                <a:spcPts val="5599"/>
              </a:lnSpc>
            </a:pPr>
            <a:r>
              <a:rPr lang="en-US" sz="3999" b="true">
                <a:solidFill>
                  <a:srgbClr val="000000"/>
                </a:solidFill>
                <a:latin typeface="Helios Extended Bold"/>
                <a:ea typeface="Helios Extended Bold"/>
                <a:cs typeface="Helios Extended Bold"/>
                <a:sym typeface="Helios Extended Bold"/>
              </a:rPr>
              <a:t>Team Velocity</a:t>
            </a:r>
          </a:p>
        </p:txBody>
      </p:sp>
      <p:sp>
        <p:nvSpPr>
          <p:cNvPr name="TextBox 5" id="5"/>
          <p:cNvSpPr txBox="true"/>
          <p:nvPr/>
        </p:nvSpPr>
        <p:spPr>
          <a:xfrm rot="0">
            <a:off x="770583" y="3591386"/>
            <a:ext cx="6608957" cy="3580765"/>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Total velocity of sprint 1:  </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Total velocity of sprint 2: </a:t>
            </a:r>
          </a:p>
          <a:p>
            <a:pPr algn="ctr">
              <a:lnSpc>
                <a:spcPts val="4759"/>
              </a:lnSpc>
            </a:pPr>
          </a:p>
          <a:p>
            <a:pPr algn="ctr">
              <a:lnSpc>
                <a:spcPts val="4759"/>
              </a:lnSpc>
            </a:pPr>
            <a:r>
              <a:rPr lang="en-US" sz="3399">
                <a:solidFill>
                  <a:srgbClr val="000000"/>
                </a:solidFill>
                <a:latin typeface="Canva Sans"/>
                <a:ea typeface="Canva Sans"/>
                <a:cs typeface="Canva Sans"/>
                <a:sym typeface="Canva Sans"/>
              </a:rPr>
              <a:t>Total velocity of sprint 3: </a:t>
            </a:r>
          </a:p>
          <a:p>
            <a:pPr algn="ctr">
              <a:lnSpc>
                <a:spcPts val="4759"/>
              </a:lnSpc>
            </a:pPr>
          </a:p>
        </p:txBody>
      </p:sp>
      <p:sp>
        <p:nvSpPr>
          <p:cNvPr name="TextBox 6" id="6"/>
          <p:cNvSpPr txBox="true"/>
          <p:nvPr/>
        </p:nvSpPr>
        <p:spPr>
          <a:xfrm rot="0">
            <a:off x="3690201" y="7218506"/>
            <a:ext cx="3995748"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Average: </a:t>
            </a:r>
          </a:p>
        </p:txBody>
      </p:sp>
      <p:sp>
        <p:nvSpPr>
          <p:cNvPr name="TextBox 7" id="7"/>
          <p:cNvSpPr txBox="true"/>
          <p:nvPr/>
        </p:nvSpPr>
        <p:spPr>
          <a:xfrm rot="0">
            <a:off x="6362051" y="3591386"/>
            <a:ext cx="1687587"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28</a:t>
            </a:r>
          </a:p>
        </p:txBody>
      </p:sp>
      <p:sp>
        <p:nvSpPr>
          <p:cNvPr name="TextBox 8" id="8"/>
          <p:cNvSpPr txBox="true"/>
          <p:nvPr/>
        </p:nvSpPr>
        <p:spPr>
          <a:xfrm rot="0">
            <a:off x="6362051" y="4800426"/>
            <a:ext cx="1687587"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34</a:t>
            </a:r>
          </a:p>
        </p:txBody>
      </p:sp>
      <p:sp>
        <p:nvSpPr>
          <p:cNvPr name="TextBox 9" id="9"/>
          <p:cNvSpPr txBox="true"/>
          <p:nvPr/>
        </p:nvSpPr>
        <p:spPr>
          <a:xfrm rot="0">
            <a:off x="6362051" y="6009466"/>
            <a:ext cx="1687587"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15</a:t>
            </a:r>
          </a:p>
        </p:txBody>
      </p:sp>
      <p:sp>
        <p:nvSpPr>
          <p:cNvPr name="TextBox 10" id="10"/>
          <p:cNvSpPr txBox="true"/>
          <p:nvPr/>
        </p:nvSpPr>
        <p:spPr>
          <a:xfrm rot="0">
            <a:off x="6362051" y="7218506"/>
            <a:ext cx="1687587" cy="580390"/>
          </a:xfrm>
          <a:prstGeom prst="rect">
            <a:avLst/>
          </a:prstGeom>
        </p:spPr>
        <p:txBody>
          <a:bodyPr anchor="t" rtlCol="false" tIns="0" lIns="0" bIns="0" rIns="0">
            <a:spAutoFit/>
          </a:bodyPr>
          <a:lstStyle/>
          <a:p>
            <a:pPr algn="ctr">
              <a:lnSpc>
                <a:spcPts val="4759"/>
              </a:lnSpc>
            </a:pPr>
            <a:r>
              <a:rPr lang="en-US" sz="3399">
                <a:solidFill>
                  <a:srgbClr val="000000"/>
                </a:solidFill>
                <a:latin typeface="Canva Sans"/>
                <a:ea typeface="Canva Sans"/>
                <a:cs typeface="Canva Sans"/>
                <a:sym typeface="Canva Sans"/>
              </a:rPr>
              <a:t>25.7</a:t>
            </a:r>
          </a:p>
        </p:txBody>
      </p:sp>
      <p:grpSp>
        <p:nvGrpSpPr>
          <p:cNvPr name="Group 11" id="11"/>
          <p:cNvGrpSpPr/>
          <p:nvPr/>
        </p:nvGrpSpPr>
        <p:grpSpPr>
          <a:xfrm rot="0">
            <a:off x="143691" y="9683062"/>
            <a:ext cx="2003497" cy="422688"/>
            <a:chOff x="0" y="0"/>
            <a:chExt cx="2671330" cy="563585"/>
          </a:xfrm>
        </p:grpSpPr>
        <p:sp>
          <p:nvSpPr>
            <p:cNvPr name="Freeform 12" id="12"/>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3691" y="9683062"/>
            <a:ext cx="2003497" cy="422688"/>
            <a:chOff x="0" y="0"/>
            <a:chExt cx="2671330" cy="563585"/>
          </a:xfrm>
        </p:grpSpPr>
        <p:sp>
          <p:nvSpPr>
            <p:cNvPr name="Freeform 3" id="3"/>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pic>
        <p:nvPicPr>
          <p:cNvPr name="Picture 5" id="5"/>
          <p:cNvPicPr>
            <a:picLocks noChangeAspect="true"/>
          </p:cNvPicPr>
          <p:nvPr/>
        </p:nvPicPr>
        <p:blipFill>
          <a:blip r:embed="rId4"/>
          <a:stretch>
            <a:fillRect/>
          </a:stretch>
        </p:blipFill>
        <p:spPr>
          <a:xfrm rot="0">
            <a:off x="5269157" y="1189436"/>
            <a:ext cx="12043087" cy="8489391"/>
          </a:xfrm>
          <a:prstGeom prst="rect">
            <a:avLst/>
          </a:prstGeom>
        </p:spPr>
      </p:pic>
      <p:graphicFrame>
        <p:nvGraphicFramePr>
          <p:cNvPr name="Object 6" id="6"/>
          <p:cNvGraphicFramePr/>
          <p:nvPr/>
        </p:nvGraphicFramePr>
        <p:xfrm>
          <a:off x="1028700" y="3429000"/>
          <a:ext cx="4119944" cy="2571750"/>
        </p:xfrm>
        <a:graphic>
          <a:graphicData uri="http://schemas.openxmlformats.org/presentationml/2006/ole">
            <p:oleObj imgW="4940300" imgH="33909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7" id="7"/>
          <p:cNvSpPr txBox="true"/>
          <p:nvPr/>
        </p:nvSpPr>
        <p:spPr>
          <a:xfrm rot="0">
            <a:off x="1979346" y="774383"/>
            <a:ext cx="14329308" cy="741045"/>
          </a:xfrm>
          <a:prstGeom prst="rect">
            <a:avLst/>
          </a:prstGeom>
        </p:spPr>
        <p:txBody>
          <a:bodyPr anchor="t" rtlCol="false" tIns="0" lIns="0" bIns="0" rIns="0">
            <a:spAutoFit/>
          </a:bodyPr>
          <a:lstStyle/>
          <a:p>
            <a:pPr algn="ctr">
              <a:lnSpc>
                <a:spcPts val="5880"/>
              </a:lnSpc>
            </a:pPr>
            <a:r>
              <a:rPr lang="en-US" b="true" sz="4200" spc="210">
                <a:solidFill>
                  <a:srgbClr val="000000"/>
                </a:solidFill>
                <a:latin typeface="Helios Extended Bold"/>
                <a:ea typeface="Helios Extended Bold"/>
                <a:cs typeface="Helios Extended Bold"/>
                <a:sym typeface="Helios Extended Bold"/>
              </a:rPr>
              <a:t>BURNDOWN STATUS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3691" y="9683062"/>
            <a:ext cx="2003497" cy="422688"/>
            <a:chOff x="0" y="0"/>
            <a:chExt cx="2671330" cy="563585"/>
          </a:xfrm>
        </p:grpSpPr>
        <p:sp>
          <p:nvSpPr>
            <p:cNvPr name="Freeform 3" id="3"/>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AutoShape 5" id="5"/>
          <p:cNvSpPr/>
          <p:nvPr/>
        </p:nvSpPr>
        <p:spPr>
          <a:xfrm>
            <a:off x="832779" y="2244352"/>
            <a:ext cx="2349046" cy="0"/>
          </a:xfrm>
          <a:prstGeom prst="line">
            <a:avLst/>
          </a:prstGeom>
          <a:ln cap="flat" w="19050">
            <a:solidFill>
              <a:srgbClr val="000000"/>
            </a:solidFill>
            <a:prstDash val="solid"/>
            <a:headEnd type="none" len="sm" w="sm"/>
            <a:tailEnd type="none" len="sm" w="sm"/>
          </a:ln>
        </p:spPr>
      </p:sp>
      <p:sp>
        <p:nvSpPr>
          <p:cNvPr name="AutoShape 6" id="6"/>
          <p:cNvSpPr/>
          <p:nvPr/>
        </p:nvSpPr>
        <p:spPr>
          <a:xfrm>
            <a:off x="832779" y="4935663"/>
            <a:ext cx="2349046" cy="0"/>
          </a:xfrm>
          <a:prstGeom prst="line">
            <a:avLst/>
          </a:prstGeom>
          <a:ln cap="flat" w="19050">
            <a:solidFill>
              <a:srgbClr val="000000"/>
            </a:solidFill>
            <a:prstDash val="solid"/>
            <a:headEnd type="none" len="sm" w="sm"/>
            <a:tailEnd type="none" len="sm" w="sm"/>
          </a:ln>
        </p:spPr>
      </p:sp>
      <p:sp>
        <p:nvSpPr>
          <p:cNvPr name="AutoShape 7" id="7"/>
          <p:cNvSpPr/>
          <p:nvPr/>
        </p:nvSpPr>
        <p:spPr>
          <a:xfrm>
            <a:off x="693372" y="7498902"/>
            <a:ext cx="2488453" cy="0"/>
          </a:xfrm>
          <a:prstGeom prst="line">
            <a:avLst/>
          </a:prstGeom>
          <a:ln cap="flat" w="19050">
            <a:solidFill>
              <a:srgbClr val="000000"/>
            </a:solidFill>
            <a:prstDash val="solid"/>
            <a:headEnd type="none" len="sm" w="sm"/>
            <a:tailEnd type="none" len="sm" w="sm"/>
          </a:ln>
        </p:spPr>
      </p:sp>
      <p:sp>
        <p:nvSpPr>
          <p:cNvPr name="Freeform 8" id="8"/>
          <p:cNvSpPr/>
          <p:nvPr/>
        </p:nvSpPr>
        <p:spPr>
          <a:xfrm flipH="false" flipV="false" rot="0">
            <a:off x="5182774" y="1675579"/>
            <a:ext cx="11596678" cy="7900237"/>
          </a:xfrm>
          <a:custGeom>
            <a:avLst/>
            <a:gdLst/>
            <a:ahLst/>
            <a:cxnLst/>
            <a:rect r="r" b="b" t="t" l="l"/>
            <a:pathLst>
              <a:path h="7900237" w="11596678">
                <a:moveTo>
                  <a:pt x="0" y="0"/>
                </a:moveTo>
                <a:lnTo>
                  <a:pt x="11596678" y="0"/>
                </a:lnTo>
                <a:lnTo>
                  <a:pt x="11596678" y="7900237"/>
                </a:lnTo>
                <a:lnTo>
                  <a:pt x="0" y="7900237"/>
                </a:lnTo>
                <a:lnTo>
                  <a:pt x="0" y="0"/>
                </a:lnTo>
                <a:close/>
              </a:path>
            </a:pathLst>
          </a:custGeom>
          <a:blipFill>
            <a:blip r:embed="rId4"/>
            <a:stretch>
              <a:fillRect l="0" t="0" r="0" b="0"/>
            </a:stretch>
          </a:blipFill>
        </p:spPr>
      </p:sp>
      <p:sp>
        <p:nvSpPr>
          <p:cNvPr name="TextBox 9" id="9"/>
          <p:cNvSpPr txBox="true"/>
          <p:nvPr/>
        </p:nvSpPr>
        <p:spPr>
          <a:xfrm rot="0">
            <a:off x="4196953" y="774383"/>
            <a:ext cx="9894094" cy="741045"/>
          </a:xfrm>
          <a:prstGeom prst="rect">
            <a:avLst/>
          </a:prstGeom>
        </p:spPr>
        <p:txBody>
          <a:bodyPr anchor="t" rtlCol="false" tIns="0" lIns="0" bIns="0" rIns="0">
            <a:spAutoFit/>
          </a:bodyPr>
          <a:lstStyle/>
          <a:p>
            <a:pPr algn="ctr" marL="0" indent="0" lvl="0">
              <a:lnSpc>
                <a:spcPts val="5880"/>
              </a:lnSpc>
              <a:spcBef>
                <a:spcPct val="0"/>
              </a:spcBef>
            </a:pPr>
            <a:r>
              <a:rPr lang="en-US" b="true" sz="4200" spc="210" strike="noStrike" u="none">
                <a:solidFill>
                  <a:srgbClr val="000000"/>
                </a:solidFill>
                <a:latin typeface="Helios Extended Bold"/>
                <a:ea typeface="Helios Extended Bold"/>
                <a:cs typeface="Helios Extended Bold"/>
                <a:sym typeface="Helios Extended Bold"/>
              </a:rPr>
              <a:t>COMPLETED VS COMMITTED</a:t>
            </a:r>
          </a:p>
        </p:txBody>
      </p:sp>
      <p:sp>
        <p:nvSpPr>
          <p:cNvPr name="TextBox 10" id="10"/>
          <p:cNvSpPr txBox="true"/>
          <p:nvPr/>
        </p:nvSpPr>
        <p:spPr>
          <a:xfrm rot="0">
            <a:off x="1131508" y="1618429"/>
            <a:ext cx="1631603" cy="514350"/>
          </a:xfrm>
          <a:prstGeom prst="rect">
            <a:avLst/>
          </a:prstGeom>
        </p:spPr>
        <p:txBody>
          <a:bodyPr anchor="t" rtlCol="false" tIns="0" lIns="0" bIns="0" rIns="0">
            <a:spAutoFit/>
          </a:bodyPr>
          <a:lstStyle/>
          <a:p>
            <a:pPr algn="l">
              <a:lnSpc>
                <a:spcPts val="4200"/>
              </a:lnSpc>
              <a:spcBef>
                <a:spcPct val="0"/>
              </a:spcBef>
            </a:pPr>
            <a:r>
              <a:rPr lang="en-US" b="true" sz="3000">
                <a:solidFill>
                  <a:srgbClr val="000000"/>
                </a:solidFill>
                <a:latin typeface="Canva Sans Bold"/>
                <a:ea typeface="Canva Sans Bold"/>
                <a:cs typeface="Canva Sans Bold"/>
                <a:sym typeface="Canva Sans Bold"/>
              </a:rPr>
              <a:t>Spr</a:t>
            </a:r>
            <a:r>
              <a:rPr lang="en-US" b="true" sz="3000">
                <a:solidFill>
                  <a:srgbClr val="000000"/>
                </a:solidFill>
                <a:latin typeface="Canva Sans Bold"/>
                <a:ea typeface="Canva Sans Bold"/>
                <a:cs typeface="Canva Sans Bold"/>
                <a:sym typeface="Canva Sans Bold"/>
              </a:rPr>
              <a:t>int 1</a:t>
            </a:r>
          </a:p>
        </p:txBody>
      </p:sp>
      <p:sp>
        <p:nvSpPr>
          <p:cNvPr name="TextBox 11" id="11"/>
          <p:cNvSpPr txBox="true"/>
          <p:nvPr/>
        </p:nvSpPr>
        <p:spPr>
          <a:xfrm rot="0">
            <a:off x="832779" y="2392041"/>
            <a:ext cx="2349046" cy="1308100"/>
          </a:xfrm>
          <a:prstGeom prst="rect">
            <a:avLst/>
          </a:prstGeom>
        </p:spPr>
        <p:txBody>
          <a:bodyPr anchor="t" rtlCol="false" tIns="0" lIns="0" bIns="0" rIns="0">
            <a:spAutoFit/>
          </a:bodyPr>
          <a:lstStyle/>
          <a:p>
            <a:pPr algn="l">
              <a:lnSpc>
                <a:spcPts val="3500"/>
              </a:lnSpc>
              <a:spcBef>
                <a:spcPct val="0"/>
              </a:spcBef>
            </a:pPr>
            <a:r>
              <a:rPr lang="en-US" sz="2500">
                <a:solidFill>
                  <a:srgbClr val="000000"/>
                </a:solidFill>
                <a:latin typeface="Canva Sans"/>
                <a:ea typeface="Canva Sans"/>
                <a:cs typeface="Canva Sans"/>
                <a:sym typeface="Canva Sans"/>
              </a:rPr>
              <a:t>Committed: 41</a:t>
            </a:r>
          </a:p>
          <a:p>
            <a:pPr algn="l">
              <a:lnSpc>
                <a:spcPts val="3500"/>
              </a:lnSpc>
              <a:spcBef>
                <a:spcPct val="0"/>
              </a:spcBef>
            </a:pPr>
            <a:r>
              <a:rPr lang="en-US" sz="2500">
                <a:solidFill>
                  <a:srgbClr val="000000"/>
                </a:solidFill>
                <a:latin typeface="Canva Sans"/>
                <a:ea typeface="Canva Sans"/>
                <a:cs typeface="Canva Sans"/>
                <a:sym typeface="Canva Sans"/>
              </a:rPr>
              <a:t>Completed: 28</a:t>
            </a:r>
          </a:p>
          <a:p>
            <a:pPr algn="l">
              <a:lnSpc>
                <a:spcPts val="3500"/>
              </a:lnSpc>
              <a:spcBef>
                <a:spcPct val="0"/>
              </a:spcBef>
            </a:pPr>
            <a:r>
              <a:rPr lang="en-US" sz="2500">
                <a:solidFill>
                  <a:srgbClr val="000000"/>
                </a:solidFill>
                <a:latin typeface="Canva Sans"/>
                <a:ea typeface="Canva Sans"/>
                <a:cs typeface="Canva Sans"/>
                <a:sym typeface="Canva Sans"/>
              </a:rPr>
              <a:t>Ratio: 68%</a:t>
            </a:r>
          </a:p>
        </p:txBody>
      </p:sp>
      <p:sp>
        <p:nvSpPr>
          <p:cNvPr name="TextBox 12" id="12"/>
          <p:cNvSpPr txBox="true"/>
          <p:nvPr/>
        </p:nvSpPr>
        <p:spPr>
          <a:xfrm rot="0">
            <a:off x="864987" y="5088063"/>
            <a:ext cx="2316838" cy="1308100"/>
          </a:xfrm>
          <a:prstGeom prst="rect">
            <a:avLst/>
          </a:prstGeom>
        </p:spPr>
        <p:txBody>
          <a:bodyPr anchor="t" rtlCol="false" tIns="0" lIns="0" bIns="0" rIns="0">
            <a:spAutoFit/>
          </a:bodyPr>
          <a:lstStyle/>
          <a:p>
            <a:pPr algn="l" marL="0" indent="0" lvl="0">
              <a:lnSpc>
                <a:spcPts val="3500"/>
              </a:lnSpc>
              <a:spcBef>
                <a:spcPct val="0"/>
              </a:spcBef>
            </a:pPr>
            <a:r>
              <a:rPr lang="en-US" sz="2500" strike="noStrike" u="none">
                <a:solidFill>
                  <a:srgbClr val="000000"/>
                </a:solidFill>
                <a:latin typeface="Canva Sans"/>
                <a:ea typeface="Canva Sans"/>
                <a:cs typeface="Canva Sans"/>
                <a:sym typeface="Canva Sans"/>
              </a:rPr>
              <a:t>Committed: 40</a:t>
            </a:r>
          </a:p>
          <a:p>
            <a:pPr algn="l" marL="0" indent="0" lvl="0">
              <a:lnSpc>
                <a:spcPts val="3500"/>
              </a:lnSpc>
              <a:spcBef>
                <a:spcPct val="0"/>
              </a:spcBef>
            </a:pPr>
            <a:r>
              <a:rPr lang="en-US" sz="2500" strike="noStrike" u="none">
                <a:solidFill>
                  <a:srgbClr val="000000"/>
                </a:solidFill>
                <a:latin typeface="Canva Sans"/>
                <a:ea typeface="Canva Sans"/>
                <a:cs typeface="Canva Sans"/>
                <a:sym typeface="Canva Sans"/>
              </a:rPr>
              <a:t>Completed: 34</a:t>
            </a:r>
          </a:p>
          <a:p>
            <a:pPr algn="l" marL="0" indent="0" lvl="0">
              <a:lnSpc>
                <a:spcPts val="3500"/>
              </a:lnSpc>
              <a:spcBef>
                <a:spcPct val="0"/>
              </a:spcBef>
            </a:pPr>
            <a:r>
              <a:rPr lang="en-US" sz="2500" strike="noStrike" u="none">
                <a:solidFill>
                  <a:srgbClr val="000000"/>
                </a:solidFill>
                <a:latin typeface="Canva Sans"/>
                <a:ea typeface="Canva Sans"/>
                <a:cs typeface="Canva Sans"/>
                <a:sym typeface="Canva Sans"/>
              </a:rPr>
              <a:t>Ratio: 85%</a:t>
            </a:r>
          </a:p>
        </p:txBody>
      </p:sp>
      <p:sp>
        <p:nvSpPr>
          <p:cNvPr name="TextBox 13" id="13"/>
          <p:cNvSpPr txBox="true"/>
          <p:nvPr/>
        </p:nvSpPr>
        <p:spPr>
          <a:xfrm rot="0">
            <a:off x="1131508" y="4290691"/>
            <a:ext cx="1631603" cy="514350"/>
          </a:xfrm>
          <a:prstGeom prst="rect">
            <a:avLst/>
          </a:prstGeom>
        </p:spPr>
        <p:txBody>
          <a:bodyPr anchor="t" rtlCol="false" tIns="0" lIns="0" bIns="0" rIns="0">
            <a:spAutoFit/>
          </a:bodyPr>
          <a:lstStyle/>
          <a:p>
            <a:pPr algn="l" marL="0" indent="0" lvl="0">
              <a:lnSpc>
                <a:spcPts val="4200"/>
              </a:lnSpc>
              <a:spcBef>
                <a:spcPct val="0"/>
              </a:spcBef>
            </a:pPr>
            <a:r>
              <a:rPr lang="en-US" b="true" sz="3000" strike="noStrike" u="none">
                <a:solidFill>
                  <a:srgbClr val="000000"/>
                </a:solidFill>
                <a:latin typeface="Canva Sans Bold"/>
                <a:ea typeface="Canva Sans Bold"/>
                <a:cs typeface="Canva Sans Bold"/>
                <a:sym typeface="Canva Sans Bold"/>
              </a:rPr>
              <a:t>Sprint 2</a:t>
            </a:r>
          </a:p>
        </p:txBody>
      </p:sp>
      <p:sp>
        <p:nvSpPr>
          <p:cNvPr name="TextBox 14" id="14"/>
          <p:cNvSpPr txBox="true"/>
          <p:nvPr/>
        </p:nvSpPr>
        <p:spPr>
          <a:xfrm rot="0">
            <a:off x="693372" y="7651302"/>
            <a:ext cx="2488453" cy="1308100"/>
          </a:xfrm>
          <a:prstGeom prst="rect">
            <a:avLst/>
          </a:prstGeom>
        </p:spPr>
        <p:txBody>
          <a:bodyPr anchor="t" rtlCol="false" tIns="0" lIns="0" bIns="0" rIns="0">
            <a:spAutoFit/>
          </a:bodyPr>
          <a:lstStyle/>
          <a:p>
            <a:pPr algn="l" marL="0" indent="0" lvl="0">
              <a:lnSpc>
                <a:spcPts val="3500"/>
              </a:lnSpc>
              <a:spcBef>
                <a:spcPct val="0"/>
              </a:spcBef>
            </a:pPr>
            <a:r>
              <a:rPr lang="en-US" sz="2500" strike="noStrike" u="none">
                <a:solidFill>
                  <a:srgbClr val="000000"/>
                </a:solidFill>
                <a:latin typeface="Canva Sans"/>
                <a:ea typeface="Canva Sans"/>
                <a:cs typeface="Canva Sans"/>
                <a:sym typeface="Canva Sans"/>
              </a:rPr>
              <a:t>Committed: 28</a:t>
            </a:r>
          </a:p>
          <a:p>
            <a:pPr algn="l" marL="0" indent="0" lvl="0">
              <a:lnSpc>
                <a:spcPts val="3500"/>
              </a:lnSpc>
              <a:spcBef>
                <a:spcPct val="0"/>
              </a:spcBef>
            </a:pPr>
            <a:r>
              <a:rPr lang="en-US" sz="2500" strike="noStrike" u="none">
                <a:solidFill>
                  <a:srgbClr val="000000"/>
                </a:solidFill>
                <a:latin typeface="Canva Sans"/>
                <a:ea typeface="Canva Sans"/>
                <a:cs typeface="Canva Sans"/>
                <a:sym typeface="Canva Sans"/>
              </a:rPr>
              <a:t>Completed: 28</a:t>
            </a:r>
          </a:p>
          <a:p>
            <a:pPr algn="l" marL="0" indent="0" lvl="0">
              <a:lnSpc>
                <a:spcPts val="3500"/>
              </a:lnSpc>
              <a:spcBef>
                <a:spcPct val="0"/>
              </a:spcBef>
            </a:pPr>
            <a:r>
              <a:rPr lang="en-US" sz="2500" strike="noStrike" u="none">
                <a:solidFill>
                  <a:srgbClr val="000000"/>
                </a:solidFill>
                <a:latin typeface="Canva Sans"/>
                <a:ea typeface="Canva Sans"/>
                <a:cs typeface="Canva Sans"/>
                <a:sym typeface="Canva Sans"/>
              </a:rPr>
              <a:t>Ratio: 100%</a:t>
            </a:r>
          </a:p>
        </p:txBody>
      </p:sp>
      <p:sp>
        <p:nvSpPr>
          <p:cNvPr name="TextBox 15" id="15"/>
          <p:cNvSpPr txBox="true"/>
          <p:nvPr/>
        </p:nvSpPr>
        <p:spPr>
          <a:xfrm rot="0">
            <a:off x="992101" y="6870252"/>
            <a:ext cx="1631603" cy="514350"/>
          </a:xfrm>
          <a:prstGeom prst="rect">
            <a:avLst/>
          </a:prstGeom>
        </p:spPr>
        <p:txBody>
          <a:bodyPr anchor="t" rtlCol="false" tIns="0" lIns="0" bIns="0" rIns="0">
            <a:spAutoFit/>
          </a:bodyPr>
          <a:lstStyle/>
          <a:p>
            <a:pPr algn="l" marL="0" indent="0" lvl="0">
              <a:lnSpc>
                <a:spcPts val="4200"/>
              </a:lnSpc>
              <a:spcBef>
                <a:spcPct val="0"/>
              </a:spcBef>
            </a:pPr>
            <a:r>
              <a:rPr lang="en-US" b="true" sz="3000" strike="noStrike" u="none">
                <a:solidFill>
                  <a:srgbClr val="000000"/>
                </a:solidFill>
                <a:latin typeface="Canva Sans Bold"/>
                <a:ea typeface="Canva Sans Bold"/>
                <a:cs typeface="Canva Sans Bold"/>
                <a:sym typeface="Canva Sans Bold"/>
              </a:rPr>
              <a:t>Sprint 3</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61724" y="1782040"/>
            <a:ext cx="17288351" cy="7631716"/>
            <a:chOff x="0" y="0"/>
            <a:chExt cx="4553331" cy="2010029"/>
          </a:xfrm>
        </p:grpSpPr>
        <p:sp>
          <p:nvSpPr>
            <p:cNvPr name="Freeform 3" id="3"/>
            <p:cNvSpPr/>
            <p:nvPr/>
          </p:nvSpPr>
          <p:spPr>
            <a:xfrm flipH="false" flipV="false" rot="0">
              <a:off x="0" y="0"/>
              <a:ext cx="4553331" cy="2010029"/>
            </a:xfrm>
            <a:custGeom>
              <a:avLst/>
              <a:gdLst/>
              <a:ahLst/>
              <a:cxnLst/>
              <a:rect r="r" b="b" t="t" l="l"/>
              <a:pathLst>
                <a:path h="2010029" w="4553331">
                  <a:moveTo>
                    <a:pt x="4553331" y="23286"/>
                  </a:moveTo>
                  <a:lnTo>
                    <a:pt x="4553331" y="1986743"/>
                  </a:lnTo>
                  <a:cubicBezTo>
                    <a:pt x="4553331" y="1999604"/>
                    <a:pt x="4542905" y="2010029"/>
                    <a:pt x="4530045" y="2010029"/>
                  </a:cubicBezTo>
                  <a:lnTo>
                    <a:pt x="23286" y="2010029"/>
                  </a:lnTo>
                  <a:cubicBezTo>
                    <a:pt x="10426" y="2010029"/>
                    <a:pt x="0" y="1999604"/>
                    <a:pt x="0" y="1986743"/>
                  </a:cubicBezTo>
                  <a:lnTo>
                    <a:pt x="0" y="23286"/>
                  </a:lnTo>
                  <a:cubicBezTo>
                    <a:pt x="0" y="10426"/>
                    <a:pt x="10426" y="0"/>
                    <a:pt x="23286" y="0"/>
                  </a:cubicBezTo>
                  <a:lnTo>
                    <a:pt x="4530045" y="0"/>
                  </a:lnTo>
                  <a:cubicBezTo>
                    <a:pt x="4542905" y="0"/>
                    <a:pt x="4553331" y="10426"/>
                    <a:pt x="4553331" y="23286"/>
                  </a:cubicBezTo>
                  <a:close/>
                </a:path>
              </a:pathLst>
            </a:custGeom>
            <a:solidFill>
              <a:srgbClr val="F2F1F1">
                <a:alpha val="80000"/>
              </a:srgbClr>
            </a:solidFill>
          </p:spPr>
        </p:sp>
        <p:sp>
          <p:nvSpPr>
            <p:cNvPr name="TextBox 4" id="4"/>
            <p:cNvSpPr txBox="true"/>
            <p:nvPr/>
          </p:nvSpPr>
          <p:spPr>
            <a:xfrm>
              <a:off x="0" y="-47625"/>
              <a:ext cx="4553331" cy="2057654"/>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6416346" y="774383"/>
            <a:ext cx="5756562" cy="741045"/>
          </a:xfrm>
          <a:prstGeom prst="rect">
            <a:avLst/>
          </a:prstGeom>
        </p:spPr>
        <p:txBody>
          <a:bodyPr anchor="t" rtlCol="false" tIns="0" lIns="0" bIns="0" rIns="0">
            <a:spAutoFit/>
          </a:bodyPr>
          <a:lstStyle/>
          <a:p>
            <a:pPr algn="l" marL="0" indent="0" lvl="0">
              <a:lnSpc>
                <a:spcPts val="5880"/>
              </a:lnSpc>
            </a:pPr>
            <a:r>
              <a:rPr lang="en-US" b="true" sz="4200" spc="210">
                <a:solidFill>
                  <a:srgbClr val="000000"/>
                </a:solidFill>
                <a:latin typeface="Helios Extended Bold"/>
                <a:ea typeface="Helios Extended Bold"/>
                <a:cs typeface="Helios Extended Bold"/>
                <a:sym typeface="Helios Extended Bold"/>
              </a:rPr>
              <a:t>RETROSPECTIVE</a:t>
            </a:r>
          </a:p>
        </p:txBody>
      </p:sp>
      <p:grpSp>
        <p:nvGrpSpPr>
          <p:cNvPr name="Group 6" id="6"/>
          <p:cNvGrpSpPr/>
          <p:nvPr/>
        </p:nvGrpSpPr>
        <p:grpSpPr>
          <a:xfrm rot="0">
            <a:off x="4008070" y="2227543"/>
            <a:ext cx="4796382" cy="6740711"/>
            <a:chOff x="0" y="0"/>
            <a:chExt cx="6395176" cy="8987614"/>
          </a:xfrm>
        </p:grpSpPr>
        <p:grpSp>
          <p:nvGrpSpPr>
            <p:cNvPr name="Group 7" id="7"/>
            <p:cNvGrpSpPr/>
            <p:nvPr/>
          </p:nvGrpSpPr>
          <p:grpSpPr>
            <a:xfrm rot="0">
              <a:off x="0" y="685610"/>
              <a:ext cx="6395176" cy="8302004"/>
              <a:chOff x="0" y="0"/>
              <a:chExt cx="1263245" cy="1639902"/>
            </a:xfrm>
          </p:grpSpPr>
          <p:sp>
            <p:nvSpPr>
              <p:cNvPr name="Freeform 8" id="8"/>
              <p:cNvSpPr/>
              <p:nvPr/>
            </p:nvSpPr>
            <p:spPr>
              <a:xfrm flipH="false" flipV="false" rot="0">
                <a:off x="0" y="0"/>
                <a:ext cx="1263245" cy="1639902"/>
              </a:xfrm>
              <a:custGeom>
                <a:avLst/>
                <a:gdLst/>
                <a:ahLst/>
                <a:cxnLst/>
                <a:rect r="r" b="b" t="t" l="l"/>
                <a:pathLst>
                  <a:path h="1639902" w="1263245">
                    <a:moveTo>
                      <a:pt x="38739" y="0"/>
                    </a:moveTo>
                    <a:lnTo>
                      <a:pt x="1224506" y="0"/>
                    </a:lnTo>
                    <a:cubicBezTo>
                      <a:pt x="1245901" y="0"/>
                      <a:pt x="1263245" y="17344"/>
                      <a:pt x="1263245" y="38739"/>
                    </a:cubicBezTo>
                    <a:lnTo>
                      <a:pt x="1263245" y="1601163"/>
                    </a:lnTo>
                    <a:cubicBezTo>
                      <a:pt x="1263245" y="1611437"/>
                      <a:pt x="1259163" y="1621291"/>
                      <a:pt x="1251898" y="1628556"/>
                    </a:cubicBezTo>
                    <a:cubicBezTo>
                      <a:pt x="1244633" y="1635821"/>
                      <a:pt x="1234780" y="1639902"/>
                      <a:pt x="1224506" y="1639902"/>
                    </a:cubicBezTo>
                    <a:lnTo>
                      <a:pt x="38739" y="1639902"/>
                    </a:lnTo>
                    <a:cubicBezTo>
                      <a:pt x="17344" y="1639902"/>
                      <a:pt x="0" y="1622558"/>
                      <a:pt x="0" y="1601163"/>
                    </a:cubicBezTo>
                    <a:lnTo>
                      <a:pt x="0" y="38739"/>
                    </a:lnTo>
                    <a:cubicBezTo>
                      <a:pt x="0" y="17344"/>
                      <a:pt x="17344" y="0"/>
                      <a:pt x="38739" y="0"/>
                    </a:cubicBezTo>
                    <a:close/>
                  </a:path>
                </a:pathLst>
              </a:custGeom>
              <a:solidFill>
                <a:srgbClr val="FFFFFF"/>
              </a:solidFill>
              <a:ln w="57150" cap="rnd">
                <a:solidFill>
                  <a:srgbClr val="0EA2A8"/>
                </a:solidFill>
                <a:prstDash val="solid"/>
                <a:round/>
              </a:ln>
            </p:spPr>
          </p:sp>
          <p:sp>
            <p:nvSpPr>
              <p:cNvPr name="TextBox 9" id="9"/>
              <p:cNvSpPr txBox="true"/>
              <p:nvPr/>
            </p:nvSpPr>
            <p:spPr>
              <a:xfrm>
                <a:off x="0" y="0"/>
                <a:ext cx="1263245" cy="1639902"/>
              </a:xfrm>
              <a:prstGeom prst="rect">
                <a:avLst/>
              </a:prstGeom>
            </p:spPr>
            <p:txBody>
              <a:bodyPr anchor="ctr" rtlCol="false" tIns="50800" lIns="50800" bIns="50800" rIns="50800"/>
              <a:lstStyle/>
              <a:p>
                <a:pPr algn="ctr">
                  <a:lnSpc>
                    <a:spcPts val="2160"/>
                  </a:lnSpc>
                </a:pPr>
              </a:p>
              <a:p>
                <a:pPr algn="ctr">
                  <a:lnSpc>
                    <a:spcPts val="2160"/>
                  </a:lnSpc>
                </a:pPr>
              </a:p>
            </p:txBody>
          </p:sp>
        </p:grpSp>
        <p:grpSp>
          <p:nvGrpSpPr>
            <p:cNvPr name="Group 10" id="10"/>
            <p:cNvGrpSpPr/>
            <p:nvPr/>
          </p:nvGrpSpPr>
          <p:grpSpPr>
            <a:xfrm rot="0">
              <a:off x="673976" y="0"/>
              <a:ext cx="5047224" cy="1371220"/>
              <a:chOff x="0" y="0"/>
              <a:chExt cx="2571057" cy="698500"/>
            </a:xfrm>
          </p:grpSpPr>
          <p:sp>
            <p:nvSpPr>
              <p:cNvPr name="Freeform 11" id="11"/>
              <p:cNvSpPr/>
              <p:nvPr/>
            </p:nvSpPr>
            <p:spPr>
              <a:xfrm flipH="false" flipV="false" rot="0">
                <a:off x="2207" y="0"/>
                <a:ext cx="2566644" cy="698500"/>
              </a:xfrm>
              <a:custGeom>
                <a:avLst/>
                <a:gdLst/>
                <a:ahLst/>
                <a:cxnLst/>
                <a:rect r="r" b="b" t="t" l="l"/>
                <a:pathLst>
                  <a:path h="698500" w="2566644">
                    <a:moveTo>
                      <a:pt x="2564736" y="356321"/>
                    </a:moveTo>
                    <a:lnTo>
                      <a:pt x="2369764" y="691429"/>
                    </a:lnTo>
                    <a:cubicBezTo>
                      <a:pt x="2367217" y="695807"/>
                      <a:pt x="2362534" y="698500"/>
                      <a:pt x="2357469" y="698500"/>
                    </a:cubicBezTo>
                    <a:lnTo>
                      <a:pt x="209174" y="698500"/>
                    </a:lnTo>
                    <a:cubicBezTo>
                      <a:pt x="204109" y="698500"/>
                      <a:pt x="199426" y="695807"/>
                      <a:pt x="196879" y="691429"/>
                    </a:cubicBezTo>
                    <a:lnTo>
                      <a:pt x="1907" y="356321"/>
                    </a:lnTo>
                    <a:cubicBezTo>
                      <a:pt x="-636" y="351950"/>
                      <a:pt x="-636" y="346550"/>
                      <a:pt x="1907" y="342179"/>
                    </a:cubicBezTo>
                    <a:lnTo>
                      <a:pt x="196879" y="7071"/>
                    </a:lnTo>
                    <a:cubicBezTo>
                      <a:pt x="199426" y="2693"/>
                      <a:pt x="204109" y="0"/>
                      <a:pt x="209174" y="0"/>
                    </a:cubicBezTo>
                    <a:lnTo>
                      <a:pt x="2357469" y="0"/>
                    </a:lnTo>
                    <a:cubicBezTo>
                      <a:pt x="2362534" y="0"/>
                      <a:pt x="2367217" y="2693"/>
                      <a:pt x="2369764" y="7071"/>
                    </a:cubicBezTo>
                    <a:lnTo>
                      <a:pt x="2564736" y="342179"/>
                    </a:lnTo>
                    <a:cubicBezTo>
                      <a:pt x="2567279" y="346550"/>
                      <a:pt x="2567279" y="351950"/>
                      <a:pt x="2564736" y="356321"/>
                    </a:cubicBezTo>
                    <a:close/>
                  </a:path>
                </a:pathLst>
              </a:custGeom>
              <a:solidFill>
                <a:srgbClr val="0EA2A8"/>
              </a:solidFill>
            </p:spPr>
          </p:sp>
          <p:sp>
            <p:nvSpPr>
              <p:cNvPr name="TextBox 12" id="12"/>
              <p:cNvSpPr txBox="true"/>
              <p:nvPr/>
            </p:nvSpPr>
            <p:spPr>
              <a:xfrm>
                <a:off x="114300" y="0"/>
                <a:ext cx="2342457" cy="698500"/>
              </a:xfrm>
              <a:prstGeom prst="rect">
                <a:avLst/>
              </a:prstGeom>
            </p:spPr>
            <p:txBody>
              <a:bodyPr anchor="ctr" rtlCol="false" tIns="50800" lIns="50800" bIns="50800" rIns="50800"/>
              <a:lstStyle/>
              <a:p>
                <a:pPr algn="ctr">
                  <a:lnSpc>
                    <a:spcPts val="2160"/>
                  </a:lnSpc>
                </a:pPr>
              </a:p>
            </p:txBody>
          </p:sp>
        </p:grpSp>
        <p:sp>
          <p:nvSpPr>
            <p:cNvPr name="AutoShape 13" id="13"/>
            <p:cNvSpPr/>
            <p:nvPr/>
          </p:nvSpPr>
          <p:spPr>
            <a:xfrm>
              <a:off x="673976" y="3739256"/>
              <a:ext cx="5042329" cy="0"/>
            </a:xfrm>
            <a:prstGeom prst="line">
              <a:avLst/>
            </a:prstGeom>
            <a:ln cap="flat" w="25400">
              <a:solidFill>
                <a:srgbClr val="000000"/>
              </a:solidFill>
              <a:prstDash val="solid"/>
              <a:headEnd type="none" len="sm" w="sm"/>
              <a:tailEnd type="none" len="sm" w="sm"/>
            </a:ln>
          </p:spPr>
        </p:sp>
        <p:sp>
          <p:nvSpPr>
            <p:cNvPr name="AutoShape 14" id="14"/>
            <p:cNvSpPr/>
            <p:nvPr/>
          </p:nvSpPr>
          <p:spPr>
            <a:xfrm>
              <a:off x="673976" y="6219989"/>
              <a:ext cx="5042329" cy="0"/>
            </a:xfrm>
            <a:prstGeom prst="line">
              <a:avLst/>
            </a:prstGeom>
            <a:ln cap="flat" w="25400">
              <a:solidFill>
                <a:srgbClr val="000000"/>
              </a:solidFill>
              <a:prstDash val="solid"/>
              <a:headEnd type="none" len="sm" w="sm"/>
              <a:tailEnd type="none" len="sm" w="sm"/>
            </a:ln>
          </p:spPr>
        </p:sp>
        <p:sp>
          <p:nvSpPr>
            <p:cNvPr name="TextBox 15" id="15"/>
            <p:cNvSpPr txBox="true"/>
            <p:nvPr/>
          </p:nvSpPr>
          <p:spPr>
            <a:xfrm rot="0">
              <a:off x="621800" y="391605"/>
              <a:ext cx="5099400" cy="502285"/>
            </a:xfrm>
            <a:prstGeom prst="rect">
              <a:avLst/>
            </a:prstGeom>
          </p:spPr>
          <p:txBody>
            <a:bodyPr anchor="t" rtlCol="false" tIns="0" lIns="0" bIns="0" rIns="0">
              <a:spAutoFit/>
            </a:bodyPr>
            <a:lstStyle/>
            <a:p>
              <a:pPr algn="ctr">
                <a:lnSpc>
                  <a:spcPts val="3360"/>
                </a:lnSpc>
              </a:pPr>
              <a:r>
                <a:rPr lang="en-US" sz="2100" spc="210">
                  <a:solidFill>
                    <a:srgbClr val="000000"/>
                  </a:solidFill>
                  <a:latin typeface="Lato"/>
                  <a:ea typeface="Lato"/>
                  <a:cs typeface="Lato"/>
                  <a:sym typeface="Lato"/>
                </a:rPr>
                <a:t>WHAT WENT WELL</a:t>
              </a:r>
            </a:p>
          </p:txBody>
        </p:sp>
      </p:grpSp>
      <p:grpSp>
        <p:nvGrpSpPr>
          <p:cNvPr name="Group 16" id="16"/>
          <p:cNvGrpSpPr/>
          <p:nvPr/>
        </p:nvGrpSpPr>
        <p:grpSpPr>
          <a:xfrm rot="0">
            <a:off x="9784801" y="2227543"/>
            <a:ext cx="4796382" cy="6740711"/>
            <a:chOff x="0" y="0"/>
            <a:chExt cx="6395176" cy="8987614"/>
          </a:xfrm>
        </p:grpSpPr>
        <p:grpSp>
          <p:nvGrpSpPr>
            <p:cNvPr name="Group 17" id="17"/>
            <p:cNvGrpSpPr/>
            <p:nvPr/>
          </p:nvGrpSpPr>
          <p:grpSpPr>
            <a:xfrm rot="0">
              <a:off x="0" y="685610"/>
              <a:ext cx="6395176" cy="8302004"/>
              <a:chOff x="0" y="0"/>
              <a:chExt cx="1263245" cy="1639902"/>
            </a:xfrm>
          </p:grpSpPr>
          <p:sp>
            <p:nvSpPr>
              <p:cNvPr name="Freeform 18" id="18"/>
              <p:cNvSpPr/>
              <p:nvPr/>
            </p:nvSpPr>
            <p:spPr>
              <a:xfrm flipH="false" flipV="false" rot="0">
                <a:off x="0" y="0"/>
                <a:ext cx="1263245" cy="1639902"/>
              </a:xfrm>
              <a:custGeom>
                <a:avLst/>
                <a:gdLst/>
                <a:ahLst/>
                <a:cxnLst/>
                <a:rect r="r" b="b" t="t" l="l"/>
                <a:pathLst>
                  <a:path h="1639902" w="1263245">
                    <a:moveTo>
                      <a:pt x="38739" y="0"/>
                    </a:moveTo>
                    <a:lnTo>
                      <a:pt x="1224506" y="0"/>
                    </a:lnTo>
                    <a:cubicBezTo>
                      <a:pt x="1245901" y="0"/>
                      <a:pt x="1263245" y="17344"/>
                      <a:pt x="1263245" y="38739"/>
                    </a:cubicBezTo>
                    <a:lnTo>
                      <a:pt x="1263245" y="1601163"/>
                    </a:lnTo>
                    <a:cubicBezTo>
                      <a:pt x="1263245" y="1611437"/>
                      <a:pt x="1259163" y="1621291"/>
                      <a:pt x="1251898" y="1628556"/>
                    </a:cubicBezTo>
                    <a:cubicBezTo>
                      <a:pt x="1244633" y="1635821"/>
                      <a:pt x="1234780" y="1639902"/>
                      <a:pt x="1224506" y="1639902"/>
                    </a:cubicBezTo>
                    <a:lnTo>
                      <a:pt x="38739" y="1639902"/>
                    </a:lnTo>
                    <a:cubicBezTo>
                      <a:pt x="17344" y="1639902"/>
                      <a:pt x="0" y="1622558"/>
                      <a:pt x="0" y="1601163"/>
                    </a:cubicBezTo>
                    <a:lnTo>
                      <a:pt x="0" y="38739"/>
                    </a:lnTo>
                    <a:cubicBezTo>
                      <a:pt x="0" y="17344"/>
                      <a:pt x="17344" y="0"/>
                      <a:pt x="38739" y="0"/>
                    </a:cubicBezTo>
                    <a:close/>
                  </a:path>
                </a:pathLst>
              </a:custGeom>
              <a:solidFill>
                <a:srgbClr val="FFFFFF"/>
              </a:solidFill>
              <a:ln w="57150" cap="rnd">
                <a:solidFill>
                  <a:srgbClr val="1F8286"/>
                </a:solidFill>
                <a:prstDash val="solid"/>
                <a:round/>
              </a:ln>
            </p:spPr>
          </p:sp>
          <p:sp>
            <p:nvSpPr>
              <p:cNvPr name="TextBox 19" id="19"/>
              <p:cNvSpPr txBox="true"/>
              <p:nvPr/>
            </p:nvSpPr>
            <p:spPr>
              <a:xfrm>
                <a:off x="0" y="0"/>
                <a:ext cx="1263245" cy="1639902"/>
              </a:xfrm>
              <a:prstGeom prst="rect">
                <a:avLst/>
              </a:prstGeom>
            </p:spPr>
            <p:txBody>
              <a:bodyPr anchor="ctr" rtlCol="false" tIns="50800" lIns="50800" bIns="50800" rIns="50800"/>
              <a:lstStyle/>
              <a:p>
                <a:pPr algn="ctr">
                  <a:lnSpc>
                    <a:spcPts val="2160"/>
                  </a:lnSpc>
                </a:pPr>
              </a:p>
            </p:txBody>
          </p:sp>
        </p:grpSp>
        <p:grpSp>
          <p:nvGrpSpPr>
            <p:cNvPr name="Group 20" id="20"/>
            <p:cNvGrpSpPr/>
            <p:nvPr/>
          </p:nvGrpSpPr>
          <p:grpSpPr>
            <a:xfrm rot="0">
              <a:off x="673976" y="0"/>
              <a:ext cx="5047224" cy="1371220"/>
              <a:chOff x="0" y="0"/>
              <a:chExt cx="2571057" cy="698500"/>
            </a:xfrm>
          </p:grpSpPr>
          <p:sp>
            <p:nvSpPr>
              <p:cNvPr name="Freeform 21" id="21"/>
              <p:cNvSpPr/>
              <p:nvPr/>
            </p:nvSpPr>
            <p:spPr>
              <a:xfrm flipH="false" flipV="false" rot="0">
                <a:off x="2207" y="0"/>
                <a:ext cx="2566644" cy="698500"/>
              </a:xfrm>
              <a:custGeom>
                <a:avLst/>
                <a:gdLst/>
                <a:ahLst/>
                <a:cxnLst/>
                <a:rect r="r" b="b" t="t" l="l"/>
                <a:pathLst>
                  <a:path h="698500" w="2566644">
                    <a:moveTo>
                      <a:pt x="2564736" y="356321"/>
                    </a:moveTo>
                    <a:lnTo>
                      <a:pt x="2369764" y="691429"/>
                    </a:lnTo>
                    <a:cubicBezTo>
                      <a:pt x="2367217" y="695807"/>
                      <a:pt x="2362534" y="698500"/>
                      <a:pt x="2357469" y="698500"/>
                    </a:cubicBezTo>
                    <a:lnTo>
                      <a:pt x="209174" y="698500"/>
                    </a:lnTo>
                    <a:cubicBezTo>
                      <a:pt x="204109" y="698500"/>
                      <a:pt x="199426" y="695807"/>
                      <a:pt x="196879" y="691429"/>
                    </a:cubicBezTo>
                    <a:lnTo>
                      <a:pt x="1907" y="356321"/>
                    </a:lnTo>
                    <a:cubicBezTo>
                      <a:pt x="-636" y="351950"/>
                      <a:pt x="-636" y="346550"/>
                      <a:pt x="1907" y="342179"/>
                    </a:cubicBezTo>
                    <a:lnTo>
                      <a:pt x="196879" y="7071"/>
                    </a:lnTo>
                    <a:cubicBezTo>
                      <a:pt x="199426" y="2693"/>
                      <a:pt x="204109" y="0"/>
                      <a:pt x="209174" y="0"/>
                    </a:cubicBezTo>
                    <a:lnTo>
                      <a:pt x="2357469" y="0"/>
                    </a:lnTo>
                    <a:cubicBezTo>
                      <a:pt x="2362534" y="0"/>
                      <a:pt x="2367217" y="2693"/>
                      <a:pt x="2369764" y="7071"/>
                    </a:cubicBezTo>
                    <a:lnTo>
                      <a:pt x="2564736" y="342179"/>
                    </a:lnTo>
                    <a:cubicBezTo>
                      <a:pt x="2567279" y="346550"/>
                      <a:pt x="2567279" y="351950"/>
                      <a:pt x="2564736" y="356321"/>
                    </a:cubicBezTo>
                    <a:close/>
                  </a:path>
                </a:pathLst>
              </a:custGeom>
              <a:solidFill>
                <a:srgbClr val="1F8286"/>
              </a:solidFill>
            </p:spPr>
          </p:sp>
          <p:sp>
            <p:nvSpPr>
              <p:cNvPr name="TextBox 22" id="22"/>
              <p:cNvSpPr txBox="true"/>
              <p:nvPr/>
            </p:nvSpPr>
            <p:spPr>
              <a:xfrm>
                <a:off x="114300" y="0"/>
                <a:ext cx="2342457" cy="698500"/>
              </a:xfrm>
              <a:prstGeom prst="rect">
                <a:avLst/>
              </a:prstGeom>
            </p:spPr>
            <p:txBody>
              <a:bodyPr anchor="ctr" rtlCol="false" tIns="50800" lIns="50800" bIns="50800" rIns="50800"/>
              <a:lstStyle/>
              <a:p>
                <a:pPr algn="ctr">
                  <a:lnSpc>
                    <a:spcPts val="2160"/>
                  </a:lnSpc>
                </a:pPr>
              </a:p>
            </p:txBody>
          </p:sp>
        </p:grpSp>
        <p:sp>
          <p:nvSpPr>
            <p:cNvPr name="AutoShape 23" id="23"/>
            <p:cNvSpPr/>
            <p:nvPr/>
          </p:nvSpPr>
          <p:spPr>
            <a:xfrm>
              <a:off x="731047" y="4823912"/>
              <a:ext cx="5042329" cy="0"/>
            </a:xfrm>
            <a:prstGeom prst="line">
              <a:avLst/>
            </a:prstGeom>
            <a:ln cap="flat" w="25400">
              <a:solidFill>
                <a:srgbClr val="000000"/>
              </a:solidFill>
              <a:prstDash val="solid"/>
              <a:headEnd type="none" len="sm" w="sm"/>
              <a:tailEnd type="none" len="sm" w="sm"/>
            </a:ln>
          </p:spPr>
        </p:sp>
        <p:sp>
          <p:nvSpPr>
            <p:cNvPr name="TextBox 24" id="24"/>
            <p:cNvSpPr txBox="true"/>
            <p:nvPr/>
          </p:nvSpPr>
          <p:spPr>
            <a:xfrm rot="0">
              <a:off x="673976" y="391605"/>
              <a:ext cx="5099400" cy="502285"/>
            </a:xfrm>
            <a:prstGeom prst="rect">
              <a:avLst/>
            </a:prstGeom>
          </p:spPr>
          <p:txBody>
            <a:bodyPr anchor="t" rtlCol="false" tIns="0" lIns="0" bIns="0" rIns="0">
              <a:spAutoFit/>
            </a:bodyPr>
            <a:lstStyle/>
            <a:p>
              <a:pPr algn="ctr">
                <a:lnSpc>
                  <a:spcPts val="3360"/>
                </a:lnSpc>
              </a:pPr>
              <a:r>
                <a:rPr lang="en-US" sz="2100" spc="210">
                  <a:solidFill>
                    <a:srgbClr val="000000"/>
                  </a:solidFill>
                  <a:latin typeface="Lato"/>
                  <a:ea typeface="Lato"/>
                  <a:cs typeface="Lato"/>
                  <a:sym typeface="Lato"/>
                </a:rPr>
                <a:t>CHALLENGES</a:t>
              </a:r>
            </a:p>
          </p:txBody>
        </p:sp>
      </p:grpSp>
      <p:grpSp>
        <p:nvGrpSpPr>
          <p:cNvPr name="Group 25" id="25"/>
          <p:cNvGrpSpPr/>
          <p:nvPr/>
        </p:nvGrpSpPr>
        <p:grpSpPr>
          <a:xfrm rot="0">
            <a:off x="143691" y="9683062"/>
            <a:ext cx="2003497" cy="422688"/>
            <a:chOff x="0" y="0"/>
            <a:chExt cx="2671330" cy="563585"/>
          </a:xfrm>
        </p:grpSpPr>
        <p:sp>
          <p:nvSpPr>
            <p:cNvPr name="Freeform 26" id="26"/>
            <p:cNvSpPr/>
            <p:nvPr/>
          </p:nvSpPr>
          <p:spPr>
            <a:xfrm flipH="false" flipV="false" rot="0">
              <a:off x="0" y="0"/>
              <a:ext cx="510364" cy="563442"/>
            </a:xfrm>
            <a:custGeom>
              <a:avLst/>
              <a:gdLst/>
              <a:ahLst/>
              <a:cxnLst/>
              <a:rect r="r" b="b" t="t" l="l"/>
              <a:pathLst>
                <a:path h="563442" w="510364">
                  <a:moveTo>
                    <a:pt x="0" y="0"/>
                  </a:moveTo>
                  <a:lnTo>
                    <a:pt x="510364" y="0"/>
                  </a:lnTo>
                  <a:lnTo>
                    <a:pt x="510364" y="563442"/>
                  </a:lnTo>
                  <a:lnTo>
                    <a:pt x="0" y="5634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7" id="27"/>
            <p:cNvSpPr txBox="true"/>
            <p:nvPr/>
          </p:nvSpPr>
          <p:spPr>
            <a:xfrm rot="0">
              <a:off x="706968" y="173573"/>
              <a:ext cx="1964362" cy="390012"/>
            </a:xfrm>
            <a:prstGeom prst="rect">
              <a:avLst/>
            </a:prstGeom>
          </p:spPr>
          <p:txBody>
            <a:bodyPr anchor="t" rtlCol="false" tIns="0" lIns="0" bIns="0" rIns="0">
              <a:spAutoFit/>
            </a:bodyPr>
            <a:lstStyle/>
            <a:p>
              <a:pPr algn="l" marL="0" indent="0" lvl="0">
                <a:lnSpc>
                  <a:spcPts val="2409"/>
                </a:lnSpc>
                <a:spcBef>
                  <a:spcPct val="0"/>
                </a:spcBef>
              </a:pPr>
              <a:r>
                <a:rPr lang="en-US" sz="1720" spc="172">
                  <a:solidFill>
                    <a:srgbClr val="006D77"/>
                  </a:solidFill>
                  <a:latin typeface="Lato"/>
                  <a:ea typeface="Lato"/>
                  <a:cs typeface="Lato"/>
                  <a:sym typeface="Lato"/>
                </a:rPr>
                <a:t>Team Nexus</a:t>
              </a:r>
            </a:p>
          </p:txBody>
        </p:sp>
      </p:grpSp>
      <p:sp>
        <p:nvSpPr>
          <p:cNvPr name="TextBox 28" id="28"/>
          <p:cNvSpPr txBox="true"/>
          <p:nvPr/>
        </p:nvSpPr>
        <p:spPr>
          <a:xfrm rot="0">
            <a:off x="4650724" y="3955295"/>
            <a:ext cx="3531245"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Earlier start on documentation and </a:t>
            </a:r>
          </a:p>
          <a:p>
            <a:pPr algn="ctr">
              <a:lnSpc>
                <a:spcPts val="2520"/>
              </a:lnSpc>
            </a:pPr>
            <a:r>
              <a:rPr lang="en-US" sz="1800">
                <a:solidFill>
                  <a:srgbClr val="000000"/>
                </a:solidFill>
                <a:latin typeface="Lato"/>
                <a:ea typeface="Lato"/>
                <a:cs typeface="Lato"/>
                <a:sym typeface="Lato"/>
              </a:rPr>
              <a:t>slides</a:t>
            </a:r>
          </a:p>
        </p:txBody>
      </p:sp>
      <p:sp>
        <p:nvSpPr>
          <p:cNvPr name="TextBox 29" id="29"/>
          <p:cNvSpPr txBox="true"/>
          <p:nvPr/>
        </p:nvSpPr>
        <p:spPr>
          <a:xfrm rot="0">
            <a:off x="4365495" y="5653544"/>
            <a:ext cx="4101703"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Better</a:t>
            </a:r>
            <a:r>
              <a:rPr lang="en-US" sz="1800">
                <a:solidFill>
                  <a:srgbClr val="000000"/>
                </a:solidFill>
                <a:latin typeface="Lato"/>
                <a:ea typeface="Lato"/>
                <a:cs typeface="Lato"/>
                <a:sym typeface="Lato"/>
              </a:rPr>
              <a:t> collaboration between co-owners </a:t>
            </a:r>
          </a:p>
          <a:p>
            <a:pPr algn="ctr">
              <a:lnSpc>
                <a:spcPts val="2520"/>
              </a:lnSpc>
            </a:pPr>
            <a:r>
              <a:rPr lang="en-US" sz="1800">
                <a:solidFill>
                  <a:srgbClr val="000000"/>
                </a:solidFill>
                <a:latin typeface="Lato"/>
                <a:ea typeface="Lato"/>
                <a:cs typeface="Lato"/>
                <a:sym typeface="Lato"/>
              </a:rPr>
              <a:t>on shared tasks</a:t>
            </a:r>
          </a:p>
        </p:txBody>
      </p:sp>
      <p:sp>
        <p:nvSpPr>
          <p:cNvPr name="TextBox 30" id="30"/>
          <p:cNvSpPr txBox="true"/>
          <p:nvPr/>
        </p:nvSpPr>
        <p:spPr>
          <a:xfrm rot="0">
            <a:off x="4515251" y="7575202"/>
            <a:ext cx="3782020"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Team</a:t>
            </a:r>
            <a:r>
              <a:rPr lang="en-US" sz="1800">
                <a:solidFill>
                  <a:srgbClr val="000000"/>
                </a:solidFill>
                <a:latin typeface="Lato"/>
                <a:ea typeface="Lato"/>
                <a:cs typeface="Lato"/>
                <a:sym typeface="Lato"/>
              </a:rPr>
              <a:t> members supported each other </a:t>
            </a:r>
          </a:p>
          <a:p>
            <a:pPr algn="ctr">
              <a:lnSpc>
                <a:spcPts val="2520"/>
              </a:lnSpc>
            </a:pPr>
            <a:r>
              <a:rPr lang="en-US" sz="1800">
                <a:solidFill>
                  <a:srgbClr val="000000"/>
                </a:solidFill>
                <a:latin typeface="Lato"/>
                <a:ea typeface="Lato"/>
                <a:cs typeface="Lato"/>
                <a:sym typeface="Lato"/>
              </a:rPr>
              <a:t>when blocked</a:t>
            </a:r>
          </a:p>
        </p:txBody>
      </p:sp>
      <p:sp>
        <p:nvSpPr>
          <p:cNvPr name="TextBox 31" id="31"/>
          <p:cNvSpPr txBox="true"/>
          <p:nvPr/>
        </p:nvSpPr>
        <p:spPr>
          <a:xfrm rot="0">
            <a:off x="10100663" y="4804410"/>
            <a:ext cx="4164657"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T</a:t>
            </a:r>
            <a:r>
              <a:rPr lang="en-US" sz="1800">
                <a:solidFill>
                  <a:srgbClr val="000000"/>
                </a:solidFill>
                <a:latin typeface="Lato"/>
                <a:ea typeface="Lato"/>
                <a:cs typeface="Lato"/>
                <a:sym typeface="Lato"/>
              </a:rPr>
              <a:t>icket statuses weren't always kept up to </a:t>
            </a:r>
          </a:p>
          <a:p>
            <a:pPr algn="ctr">
              <a:lnSpc>
                <a:spcPts val="2520"/>
              </a:lnSpc>
            </a:pPr>
            <a:r>
              <a:rPr lang="en-US" sz="1800">
                <a:solidFill>
                  <a:srgbClr val="000000"/>
                </a:solidFill>
                <a:latin typeface="Lato"/>
                <a:ea typeface="Lato"/>
                <a:cs typeface="Lato"/>
                <a:sym typeface="Lato"/>
              </a:rPr>
              <a:t>date on the board</a:t>
            </a:r>
          </a:p>
        </p:txBody>
      </p:sp>
      <p:sp>
        <p:nvSpPr>
          <p:cNvPr name="TextBox 32" id="32"/>
          <p:cNvSpPr txBox="true"/>
          <p:nvPr/>
        </p:nvSpPr>
        <p:spPr>
          <a:xfrm rot="0">
            <a:off x="10024538" y="6236474"/>
            <a:ext cx="4316909" cy="630555"/>
          </a:xfrm>
          <a:prstGeom prst="rect">
            <a:avLst/>
          </a:prstGeom>
        </p:spPr>
        <p:txBody>
          <a:bodyPr anchor="t" rtlCol="false" tIns="0" lIns="0" bIns="0" rIns="0">
            <a:spAutoFit/>
          </a:bodyPr>
          <a:lstStyle/>
          <a:p>
            <a:pPr algn="ctr">
              <a:lnSpc>
                <a:spcPts val="2520"/>
              </a:lnSpc>
            </a:pPr>
            <a:r>
              <a:rPr lang="en-US" sz="1800">
                <a:solidFill>
                  <a:srgbClr val="000000"/>
                </a:solidFill>
                <a:latin typeface="Lato"/>
                <a:ea typeface="Lato"/>
                <a:cs typeface="Lato"/>
                <a:sym typeface="Lato"/>
              </a:rPr>
              <a:t>Wor</a:t>
            </a:r>
            <a:r>
              <a:rPr lang="en-US" sz="1800">
                <a:solidFill>
                  <a:srgbClr val="000000"/>
                </a:solidFill>
                <a:latin typeface="Lato"/>
                <a:ea typeface="Lato"/>
                <a:cs typeface="Lato"/>
                <a:sym typeface="Lato"/>
              </a:rPr>
              <a:t>kload wasn't always evenly distributed </a:t>
            </a:r>
          </a:p>
          <a:p>
            <a:pPr algn="ctr">
              <a:lnSpc>
                <a:spcPts val="2520"/>
              </a:lnSpc>
            </a:pPr>
            <a:r>
              <a:rPr lang="en-US" sz="1800">
                <a:solidFill>
                  <a:srgbClr val="000000"/>
                </a:solidFill>
                <a:latin typeface="Lato"/>
                <a:ea typeface="Lato"/>
                <a:cs typeface="Lato"/>
                <a:sym typeface="Lato"/>
              </a:rPr>
              <a:t>across the team</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045869" y="4524375"/>
            <a:ext cx="8139113" cy="1076325"/>
          </a:xfrm>
          <a:prstGeom prst="rect">
            <a:avLst/>
          </a:prstGeom>
        </p:spPr>
        <p:txBody>
          <a:bodyPr anchor="t" rtlCol="false" tIns="0" lIns="0" bIns="0" rIns="0">
            <a:spAutoFit/>
          </a:bodyPr>
          <a:lstStyle/>
          <a:p>
            <a:pPr algn="l" marL="0" indent="0" lvl="0">
              <a:lnSpc>
                <a:spcPts val="8400"/>
              </a:lnSpc>
            </a:pPr>
            <a:r>
              <a:rPr lang="en-US" b="true" sz="6000" spc="300" u="sng">
                <a:solidFill>
                  <a:srgbClr val="000000"/>
                </a:solidFill>
                <a:latin typeface="Helios Extended Bold"/>
                <a:ea typeface="Helios Extended Bold"/>
                <a:cs typeface="Helios Extended Bold"/>
                <a:sym typeface="Helios Extended Bold"/>
                <a:hlinkClick r:id="rId2" tooltip="https://github.com/htmw/2026S-Nexus/wiki"/>
              </a:rPr>
              <a:t>WIKI PAGE LINK</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045869" y="4524375"/>
            <a:ext cx="8139113" cy="1076325"/>
          </a:xfrm>
          <a:prstGeom prst="rect">
            <a:avLst/>
          </a:prstGeom>
        </p:spPr>
        <p:txBody>
          <a:bodyPr anchor="t" rtlCol="false" tIns="0" lIns="0" bIns="0" rIns="0">
            <a:spAutoFit/>
          </a:bodyPr>
          <a:lstStyle/>
          <a:p>
            <a:pPr algn="ctr" marL="0" indent="0" lvl="0">
              <a:lnSpc>
                <a:spcPts val="8400"/>
              </a:lnSpc>
            </a:pPr>
            <a:r>
              <a:rPr lang="en-US" b="true" sz="6000" spc="300" u="sng">
                <a:solidFill>
                  <a:srgbClr val="000000"/>
                </a:solidFill>
                <a:latin typeface="Helios Extended Bold"/>
                <a:ea typeface="Helios Extended Bold"/>
                <a:cs typeface="Helios Extended Bold"/>
                <a:sym typeface="Helios Extended Bold"/>
                <a:hlinkClick r:id="rId2" tooltip="https://youtu.be/KfUrnQxYIyY?si=NbWz5MAF7ZNi5ot7"/>
              </a:rPr>
              <a:t> DEMO</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944078" y="1326430"/>
            <a:ext cx="21203378" cy="7634140"/>
            <a:chOff x="0" y="0"/>
            <a:chExt cx="1128752" cy="406400"/>
          </a:xfrm>
        </p:grpSpPr>
        <p:sp>
          <p:nvSpPr>
            <p:cNvPr name="Freeform 3" id="3"/>
            <p:cNvSpPr/>
            <p:nvPr/>
          </p:nvSpPr>
          <p:spPr>
            <a:xfrm flipH="false" flipV="false" rot="0">
              <a:off x="0" y="0"/>
              <a:ext cx="1128752" cy="406400"/>
            </a:xfrm>
            <a:custGeom>
              <a:avLst/>
              <a:gdLst/>
              <a:ahLst/>
              <a:cxnLst/>
              <a:rect r="r" b="b" t="t" l="l"/>
              <a:pathLst>
                <a:path h="406400" w="1128752">
                  <a:moveTo>
                    <a:pt x="925552" y="0"/>
                  </a:moveTo>
                  <a:cubicBezTo>
                    <a:pt x="1037776" y="0"/>
                    <a:pt x="1128752" y="90976"/>
                    <a:pt x="1128752" y="203200"/>
                  </a:cubicBezTo>
                  <a:cubicBezTo>
                    <a:pt x="1128752" y="315424"/>
                    <a:pt x="1037776" y="406400"/>
                    <a:pt x="925552" y="406400"/>
                  </a:cubicBezTo>
                  <a:lnTo>
                    <a:pt x="203200" y="406400"/>
                  </a:lnTo>
                  <a:cubicBezTo>
                    <a:pt x="90976" y="406400"/>
                    <a:pt x="0" y="315424"/>
                    <a:pt x="0" y="203200"/>
                  </a:cubicBezTo>
                  <a:cubicBezTo>
                    <a:pt x="0" y="90976"/>
                    <a:pt x="90976" y="0"/>
                    <a:pt x="203200" y="0"/>
                  </a:cubicBezTo>
                  <a:close/>
                </a:path>
              </a:pathLst>
            </a:custGeom>
            <a:solidFill>
              <a:srgbClr val="F2F1F1">
                <a:alpha val="80000"/>
              </a:srgbClr>
            </a:solidFill>
          </p:spPr>
        </p:sp>
        <p:sp>
          <p:nvSpPr>
            <p:cNvPr name="TextBox 4" id="4"/>
            <p:cNvSpPr txBox="true"/>
            <p:nvPr/>
          </p:nvSpPr>
          <p:spPr>
            <a:xfrm>
              <a:off x="0" y="-47625"/>
              <a:ext cx="1128752" cy="45402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7600950" y="6932479"/>
            <a:ext cx="3086100" cy="804358"/>
            <a:chOff x="0" y="0"/>
            <a:chExt cx="812800" cy="211847"/>
          </a:xfrm>
        </p:grpSpPr>
        <p:sp>
          <p:nvSpPr>
            <p:cNvPr name="Freeform 6" id="6"/>
            <p:cNvSpPr/>
            <p:nvPr/>
          </p:nvSpPr>
          <p:spPr>
            <a:xfrm flipH="false" flipV="false" rot="0">
              <a:off x="0" y="0"/>
              <a:ext cx="812800" cy="211847"/>
            </a:xfrm>
            <a:custGeom>
              <a:avLst/>
              <a:gdLst/>
              <a:ahLst/>
              <a:cxnLst/>
              <a:rect r="r" b="b" t="t" l="l"/>
              <a:pathLst>
                <a:path h="211847" w="812800">
                  <a:moveTo>
                    <a:pt x="50173" y="0"/>
                  </a:moveTo>
                  <a:lnTo>
                    <a:pt x="762627" y="0"/>
                  </a:lnTo>
                  <a:cubicBezTo>
                    <a:pt x="775934" y="0"/>
                    <a:pt x="788695" y="5286"/>
                    <a:pt x="798105" y="14695"/>
                  </a:cubicBezTo>
                  <a:cubicBezTo>
                    <a:pt x="807514" y="24105"/>
                    <a:pt x="812800" y="36866"/>
                    <a:pt x="812800" y="50173"/>
                  </a:cubicBezTo>
                  <a:lnTo>
                    <a:pt x="812800" y="161675"/>
                  </a:lnTo>
                  <a:cubicBezTo>
                    <a:pt x="812800" y="174981"/>
                    <a:pt x="807514" y="187743"/>
                    <a:pt x="798105" y="197152"/>
                  </a:cubicBezTo>
                  <a:cubicBezTo>
                    <a:pt x="788695" y="206561"/>
                    <a:pt x="775934" y="211847"/>
                    <a:pt x="762627" y="211847"/>
                  </a:cubicBezTo>
                  <a:lnTo>
                    <a:pt x="50173" y="211847"/>
                  </a:lnTo>
                  <a:cubicBezTo>
                    <a:pt x="36866" y="211847"/>
                    <a:pt x="24105" y="206561"/>
                    <a:pt x="14695" y="197152"/>
                  </a:cubicBezTo>
                  <a:cubicBezTo>
                    <a:pt x="5286" y="187743"/>
                    <a:pt x="0" y="174981"/>
                    <a:pt x="0" y="161675"/>
                  </a:cubicBezTo>
                  <a:lnTo>
                    <a:pt x="0" y="50173"/>
                  </a:lnTo>
                  <a:cubicBezTo>
                    <a:pt x="0" y="36866"/>
                    <a:pt x="5286" y="24105"/>
                    <a:pt x="14695" y="14695"/>
                  </a:cubicBezTo>
                  <a:cubicBezTo>
                    <a:pt x="24105" y="5286"/>
                    <a:pt x="36866" y="0"/>
                    <a:pt x="50173" y="0"/>
                  </a:cubicBezTo>
                  <a:close/>
                </a:path>
              </a:pathLst>
            </a:custGeom>
            <a:solidFill>
              <a:srgbClr val="006D77"/>
            </a:solidFill>
          </p:spPr>
        </p:sp>
        <p:sp>
          <p:nvSpPr>
            <p:cNvPr name="TextBox 7" id="7"/>
            <p:cNvSpPr txBox="true"/>
            <p:nvPr/>
          </p:nvSpPr>
          <p:spPr>
            <a:xfrm>
              <a:off x="0" y="-47625"/>
              <a:ext cx="812800" cy="259472"/>
            </a:xfrm>
            <a:prstGeom prst="rect">
              <a:avLst/>
            </a:prstGeom>
          </p:spPr>
          <p:txBody>
            <a:bodyPr anchor="ctr" rtlCol="false" tIns="50800" lIns="50800" bIns="50800" rIns="50800"/>
            <a:lstStyle/>
            <a:p>
              <a:pPr algn="ctr">
                <a:lnSpc>
                  <a:spcPts val="3079"/>
                </a:lnSpc>
              </a:pPr>
              <a:r>
                <a:rPr lang="en-US" sz="2199" spc="219">
                  <a:solidFill>
                    <a:srgbClr val="FFFFFF"/>
                  </a:solidFill>
                  <a:latin typeface="Lato"/>
                  <a:ea typeface="Lato"/>
                  <a:cs typeface="Lato"/>
                  <a:sym typeface="Lato"/>
                </a:rPr>
                <a:t>15 May, 2026</a:t>
              </a:r>
            </a:p>
          </p:txBody>
        </p:sp>
      </p:grpSp>
      <p:sp>
        <p:nvSpPr>
          <p:cNvPr name="Freeform 8" id="8"/>
          <p:cNvSpPr/>
          <p:nvPr/>
        </p:nvSpPr>
        <p:spPr>
          <a:xfrm flipH="false" flipV="false" rot="0">
            <a:off x="7591425" y="1188033"/>
            <a:ext cx="2889609" cy="2889609"/>
          </a:xfrm>
          <a:custGeom>
            <a:avLst/>
            <a:gdLst/>
            <a:ahLst/>
            <a:cxnLst/>
            <a:rect r="r" b="b" t="t" l="l"/>
            <a:pathLst>
              <a:path h="2889609" w="2889609">
                <a:moveTo>
                  <a:pt x="0" y="0"/>
                </a:moveTo>
                <a:lnTo>
                  <a:pt x="2889609" y="0"/>
                </a:lnTo>
                <a:lnTo>
                  <a:pt x="2889609" y="2889609"/>
                </a:lnTo>
                <a:lnTo>
                  <a:pt x="0" y="2889609"/>
                </a:lnTo>
                <a:lnTo>
                  <a:pt x="0" y="0"/>
                </a:lnTo>
                <a:close/>
              </a:path>
            </a:pathLst>
          </a:custGeom>
          <a:blipFill>
            <a:blip r:embed="rId2"/>
            <a:stretch>
              <a:fillRect l="0" t="0" r="0" b="0"/>
            </a:stretch>
          </a:blipFill>
        </p:spPr>
      </p:sp>
      <p:sp>
        <p:nvSpPr>
          <p:cNvPr name="TextBox 9" id="9"/>
          <p:cNvSpPr txBox="true"/>
          <p:nvPr/>
        </p:nvSpPr>
        <p:spPr>
          <a:xfrm rot="0">
            <a:off x="2958126" y="4454396"/>
            <a:ext cx="12371749"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DAHJXjExg2M</dc:identifier>
  <dcterms:modified xsi:type="dcterms:W3CDTF">2011-08-01T06:04:30Z</dcterms:modified>
  <cp:revision>1</cp:revision>
  <dc:title>Mind Mirror Sprint 3</dc:title>
</cp:coreProperties>
</file>